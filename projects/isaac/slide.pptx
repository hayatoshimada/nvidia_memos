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20.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7" name="" descr=""/>
          <p:cNvPicPr/>
          <p:nvPr/>
        </p:nvPicPr>
        <p:blipFill>
          <a:blip r:embed="rId1"/>
          <a:stretch/>
        </p:blipFill>
        <p:spPr>
          <a:xfrm>
            <a:off x="-2880" y="-2880"/>
            <a:ext cx="12197880" cy="6863760"/>
          </a:xfrm>
          <a:prstGeom prst="rect">
            <a:avLst/>
          </a:prstGeom>
          <a:ln w="0">
            <a:noFill/>
          </a:ln>
        </p:spPr>
      </p:pic>
      <p:sp>
        <p:nvSpPr>
          <p:cNvPr id="8" name=""/>
          <p:cNvSpPr txBox="1"/>
          <p:nvPr/>
        </p:nvSpPr>
        <p:spPr>
          <a:xfrm>
            <a:off x="747720" y="3061440"/>
            <a:ext cx="1267200" cy="602280"/>
          </a:xfrm>
          <a:prstGeom prst="rect">
            <a:avLst/>
          </a:prstGeom>
          <a:noFill/>
          <a:ln w="0">
            <a:noFill/>
          </a:ln>
        </p:spPr>
        <p:txBody>
          <a:bodyPr wrap="none" lIns="0" rIns="0" tIns="0" bIns="0" anchor="t">
            <a:noAutofit/>
          </a:bodyPr>
          <a:p>
            <a:r>
              <a:rPr b="1" lang="en-US" sz="3480" spc="-1" strike="noStrike">
                <a:solidFill>
                  <a:srgbClr val="ffffff"/>
                </a:solidFill>
                <a:latin typeface="NotoSans-Semi"/>
                <a:ea typeface="NotoSans-Semi"/>
              </a:rPr>
              <a:t>Isaac </a:t>
            </a:r>
            <a:endParaRPr b="0" lang="en-US" sz="3480" spc="-1" strike="noStrike">
              <a:solidFill>
                <a:srgbClr val="000000"/>
              </a:solidFill>
              <a:latin typeface="Times New Roman"/>
            </a:endParaRPr>
          </a:p>
        </p:txBody>
      </p:sp>
      <p:sp>
        <p:nvSpPr>
          <p:cNvPr id="9" name=""/>
          <p:cNvSpPr txBox="1"/>
          <p:nvPr/>
        </p:nvSpPr>
        <p:spPr>
          <a:xfrm>
            <a:off x="1983600" y="3072960"/>
            <a:ext cx="5746320" cy="577800"/>
          </a:xfrm>
          <a:prstGeom prst="rect">
            <a:avLst/>
          </a:prstGeom>
          <a:noFill/>
          <a:ln w="0">
            <a:noFill/>
          </a:ln>
        </p:spPr>
        <p:txBody>
          <a:bodyPr wrap="none" lIns="0" rIns="0" tIns="0" bIns="0" anchor="t">
            <a:noAutofit/>
          </a:bodyPr>
          <a:p>
            <a:r>
              <a:rPr b="0" lang="zh-CN" sz="3480" spc="-1" strike="noStrike">
                <a:solidFill>
                  <a:srgbClr val="ffffff"/>
                </a:solidFill>
                <a:latin typeface="DroidSansFallback"/>
                <a:ea typeface="DroidSansFallback"/>
              </a:rPr>
              <a:t>プラットフォーム全体の整理</a:t>
            </a:r>
            <a:endParaRPr b="0" lang="en-US" sz="3480" spc="-1" strike="noStrike">
              <a:solidFill>
                <a:srgbClr val="000000"/>
              </a:solidFill>
              <a:latin typeface="Times New Roman"/>
            </a:endParaRPr>
          </a:p>
        </p:txBody>
      </p:sp>
      <p:sp>
        <p:nvSpPr>
          <p:cNvPr id="10"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11"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12"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 name=""/>
          <p:cNvSpPr txBox="1"/>
          <p:nvPr/>
        </p:nvSpPr>
        <p:spPr>
          <a:xfrm>
            <a:off x="747720" y="2568600"/>
            <a:ext cx="7200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目的</a:t>
            </a:r>
            <a:endParaRPr b="0" lang="en-US" sz="2830" spc="-1" strike="noStrike">
              <a:solidFill>
                <a:srgbClr val="000000"/>
              </a:solidFill>
              <a:latin typeface="Times New Roman"/>
            </a:endParaRPr>
          </a:p>
        </p:txBody>
      </p:sp>
      <p:sp>
        <p:nvSpPr>
          <p:cNvPr id="17" name=""/>
          <p:cNvSpPr txBox="1"/>
          <p:nvPr/>
        </p:nvSpPr>
        <p:spPr>
          <a:xfrm>
            <a:off x="747720" y="3297600"/>
            <a:ext cx="753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NVIDIA</a:t>
            </a:r>
            <a:endParaRPr b="0" lang="en-US" sz="1740" spc="-1" strike="noStrike">
              <a:solidFill>
                <a:srgbClr val="000000"/>
              </a:solidFill>
              <a:latin typeface="Times New Roman"/>
            </a:endParaRPr>
          </a:p>
        </p:txBody>
      </p:sp>
      <p:sp>
        <p:nvSpPr>
          <p:cNvPr id="18" name=""/>
          <p:cNvSpPr txBox="1"/>
          <p:nvPr/>
        </p:nvSpPr>
        <p:spPr>
          <a:xfrm>
            <a:off x="1500120" y="330336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が展開するフィジカル</a:t>
            </a:r>
            <a:endParaRPr b="0" lang="en-US" sz="1740" spc="-1" strike="noStrike">
              <a:solidFill>
                <a:srgbClr val="000000"/>
              </a:solidFill>
              <a:latin typeface="Times New Roman"/>
            </a:endParaRPr>
          </a:p>
        </p:txBody>
      </p:sp>
      <p:sp>
        <p:nvSpPr>
          <p:cNvPr id="19" name=""/>
          <p:cNvSpPr txBox="1"/>
          <p:nvPr/>
        </p:nvSpPr>
        <p:spPr>
          <a:xfrm>
            <a:off x="3708720" y="329760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20" name=""/>
          <p:cNvSpPr txBox="1"/>
          <p:nvPr/>
        </p:nvSpPr>
        <p:spPr>
          <a:xfrm>
            <a:off x="3924720" y="3303360"/>
            <a:ext cx="68511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に関するサービスの全容と、開発にあたっての開発パスを整理する。</a:t>
            </a:r>
            <a:endParaRPr b="0" lang="en-US" sz="1740" spc="-1" strike="noStrike">
              <a:solidFill>
                <a:srgbClr val="000000"/>
              </a:solidFill>
              <a:latin typeface="Times New Roman"/>
            </a:endParaRPr>
          </a:p>
        </p:txBody>
      </p:sp>
      <p:sp>
        <p:nvSpPr>
          <p:cNvPr id="21" name=""/>
          <p:cNvSpPr txBox="1"/>
          <p:nvPr/>
        </p:nvSpPr>
        <p:spPr>
          <a:xfrm>
            <a:off x="747720" y="363672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開発キットのカタログを見ても</a:t>
            </a:r>
            <a:endParaRPr b="0" lang="en-US" sz="1740" spc="-1" strike="noStrike">
              <a:solidFill>
                <a:srgbClr val="000000"/>
              </a:solidFill>
              <a:latin typeface="Times New Roman"/>
            </a:endParaRPr>
          </a:p>
        </p:txBody>
      </p:sp>
      <p:sp>
        <p:nvSpPr>
          <p:cNvPr id="22" name=""/>
          <p:cNvSpPr txBox="1"/>
          <p:nvPr/>
        </p:nvSpPr>
        <p:spPr>
          <a:xfrm>
            <a:off x="3839760" y="3630960"/>
            <a:ext cx="3787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168</a:t>
            </a:r>
            <a:endParaRPr b="0" lang="en-US" sz="1740" spc="-1" strike="noStrike">
              <a:solidFill>
                <a:srgbClr val="000000"/>
              </a:solidFill>
              <a:latin typeface="Times New Roman"/>
            </a:endParaRPr>
          </a:p>
        </p:txBody>
      </p:sp>
      <p:sp>
        <p:nvSpPr>
          <p:cNvPr id="23" name=""/>
          <p:cNvSpPr txBox="1"/>
          <p:nvPr/>
        </p:nvSpPr>
        <p:spPr>
          <a:xfrm>
            <a:off x="4218840" y="3636720"/>
            <a:ext cx="70722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種類のツールが存在し、適切なサービスにアクセスするだけで骨が折れ</a:t>
            </a:r>
            <a:endParaRPr b="0" lang="en-US" sz="1740" spc="-1" strike="noStrike">
              <a:solidFill>
                <a:srgbClr val="000000"/>
              </a:solidFill>
              <a:latin typeface="Times New Roman"/>
            </a:endParaRPr>
          </a:p>
        </p:txBody>
      </p:sp>
      <p:sp>
        <p:nvSpPr>
          <p:cNvPr id="24" name=""/>
          <p:cNvSpPr txBox="1"/>
          <p:nvPr/>
        </p:nvSpPr>
        <p:spPr>
          <a:xfrm>
            <a:off x="747720" y="397008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る。</a:t>
            </a:r>
            <a:endParaRPr b="0" lang="en-US" sz="1740" spc="-1" strike="noStrike">
              <a:solidFill>
                <a:srgbClr val="000000"/>
              </a:solidFill>
              <a:latin typeface="Times New Roman"/>
            </a:endParaRPr>
          </a:p>
        </p:txBody>
      </p:sp>
      <p:sp>
        <p:nvSpPr>
          <p:cNvPr id="25"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26"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27"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1" name=""/>
          <p:cNvSpPr txBox="1"/>
          <p:nvPr/>
        </p:nvSpPr>
        <p:spPr>
          <a:xfrm>
            <a:off x="747720" y="3072960"/>
            <a:ext cx="4428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第</a:t>
            </a:r>
            <a:endParaRPr b="0" lang="en-US" sz="3480" spc="-1" strike="noStrike">
              <a:solidFill>
                <a:srgbClr val="000000"/>
              </a:solidFill>
              <a:latin typeface="Times New Roman"/>
            </a:endParaRPr>
          </a:p>
        </p:txBody>
      </p:sp>
      <p:sp>
        <p:nvSpPr>
          <p:cNvPr id="32" name=""/>
          <p:cNvSpPr txBox="1"/>
          <p:nvPr/>
        </p:nvSpPr>
        <p:spPr>
          <a:xfrm>
            <a:off x="1189440" y="3061440"/>
            <a:ext cx="44172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1</a:t>
            </a:r>
            <a:endParaRPr b="0" lang="en-US" sz="3480" spc="-1" strike="noStrike">
              <a:solidFill>
                <a:srgbClr val="000000"/>
              </a:solidFill>
              <a:latin typeface="Times New Roman"/>
            </a:endParaRPr>
          </a:p>
        </p:txBody>
      </p:sp>
      <p:sp>
        <p:nvSpPr>
          <p:cNvPr id="33" name=""/>
          <p:cNvSpPr txBox="1"/>
          <p:nvPr/>
        </p:nvSpPr>
        <p:spPr>
          <a:xfrm>
            <a:off x="1442160" y="3072960"/>
            <a:ext cx="4428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章</a:t>
            </a:r>
            <a:endParaRPr b="0" lang="en-US" sz="3480" spc="-1" strike="noStrike">
              <a:solidFill>
                <a:srgbClr val="000000"/>
              </a:solidFill>
              <a:latin typeface="Times New Roman"/>
            </a:endParaRPr>
          </a:p>
        </p:txBody>
      </p:sp>
      <p:sp>
        <p:nvSpPr>
          <p:cNvPr id="34" name=""/>
          <p:cNvSpPr txBox="1"/>
          <p:nvPr/>
        </p:nvSpPr>
        <p:spPr>
          <a:xfrm>
            <a:off x="1884240" y="3061440"/>
            <a:ext cx="197892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 NVIDIA </a:t>
            </a:r>
            <a:endParaRPr b="0" lang="en-US" sz="3480" spc="-1" strike="noStrike">
              <a:solidFill>
                <a:srgbClr val="000000"/>
              </a:solidFill>
              <a:latin typeface="Times New Roman"/>
            </a:endParaRPr>
          </a:p>
        </p:txBody>
      </p:sp>
      <p:sp>
        <p:nvSpPr>
          <p:cNvPr id="35" name=""/>
          <p:cNvSpPr txBox="1"/>
          <p:nvPr/>
        </p:nvSpPr>
        <p:spPr>
          <a:xfrm>
            <a:off x="3815280" y="3072960"/>
            <a:ext cx="530424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プラットフォームの全体像</a:t>
            </a:r>
            <a:endParaRPr b="0" lang="en-US" sz="3480" spc="-1" strike="noStrike">
              <a:solidFill>
                <a:srgbClr val="000000"/>
              </a:solidFill>
              <a:latin typeface="Times New Roman"/>
            </a:endParaRPr>
          </a:p>
        </p:txBody>
      </p:sp>
      <p:sp>
        <p:nvSpPr>
          <p:cNvPr id="36"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37"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38"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3</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2" name=""/>
          <p:cNvSpPr txBox="1"/>
          <p:nvPr/>
        </p:nvSpPr>
        <p:spPr>
          <a:xfrm>
            <a:off x="747720" y="1644840"/>
            <a:ext cx="419328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1-0. NVIDIA DEVELOPER</a:t>
            </a:r>
            <a:endParaRPr b="0" lang="en-US" sz="2830" spc="-1" strike="noStrike">
              <a:solidFill>
                <a:srgbClr val="000000"/>
              </a:solidFill>
              <a:latin typeface="Times New Roman"/>
            </a:endParaRPr>
          </a:p>
        </p:txBody>
      </p:sp>
      <p:sp>
        <p:nvSpPr>
          <p:cNvPr id="43" name=""/>
          <p:cNvSpPr/>
          <p:nvPr/>
        </p:nvSpPr>
        <p:spPr>
          <a:xfrm>
            <a:off x="1085760" y="2504880"/>
            <a:ext cx="76320" cy="76680"/>
          </a:xfrm>
          <a:custGeom>
            <a:avLst/>
            <a:gdLst/>
            <a:ahLst/>
            <a:rect l="0" t="0" r="r" b="b"/>
            <a:pathLst>
              <a:path w="212" h="213">
                <a:moveTo>
                  <a:pt x="212" y="106"/>
                </a:moveTo>
                <a:cubicBezTo>
                  <a:pt x="212" y="121"/>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1"/>
                  <a:pt x="0" y="106"/>
                </a:cubicBezTo>
                <a:cubicBezTo>
                  <a:pt x="0" y="92"/>
                  <a:pt x="2" y="78"/>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44" name=""/>
          <p:cNvSpPr txBox="1"/>
          <p:nvPr/>
        </p:nvSpPr>
        <p:spPr>
          <a:xfrm>
            <a:off x="4862160" y="1654200"/>
            <a:ext cx="107964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の分類</a:t>
            </a:r>
            <a:endParaRPr b="0" lang="en-US" sz="2830" spc="-1" strike="noStrike">
              <a:solidFill>
                <a:srgbClr val="000000"/>
              </a:solidFill>
              <a:latin typeface="Times New Roman"/>
            </a:endParaRPr>
          </a:p>
        </p:txBody>
      </p:sp>
      <p:sp>
        <p:nvSpPr>
          <p:cNvPr id="45" name=""/>
          <p:cNvSpPr txBox="1"/>
          <p:nvPr/>
        </p:nvSpPr>
        <p:spPr>
          <a:xfrm>
            <a:off x="1300320" y="2383200"/>
            <a:ext cx="31662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Accelerated Computing</a:t>
            </a:r>
            <a:r>
              <a:rPr b="0" lang="en-US" sz="1740" spc="-1" strike="noStrike">
                <a:solidFill>
                  <a:srgbClr val="1f2328"/>
                </a:solidFill>
                <a:latin typeface="NotoSans"/>
                <a:ea typeface="NotoSans"/>
              </a:rPr>
              <a:t>: GPU</a:t>
            </a:r>
            <a:endParaRPr b="0" lang="en-US" sz="1740" spc="-1" strike="noStrike">
              <a:solidFill>
                <a:srgbClr val="000000"/>
              </a:solidFill>
              <a:latin typeface="Times New Roman"/>
            </a:endParaRPr>
          </a:p>
        </p:txBody>
      </p:sp>
      <p:sp>
        <p:nvSpPr>
          <p:cNvPr id="46" name=""/>
          <p:cNvSpPr txBox="1"/>
          <p:nvPr/>
        </p:nvSpPr>
        <p:spPr>
          <a:xfrm>
            <a:off x="4400280" y="2388960"/>
            <a:ext cx="53042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の演算能力を最大限に引き出すための基盤ツール群（</a:t>
            </a:r>
            <a:endParaRPr b="0" lang="en-US" sz="1740" spc="-1" strike="noStrike">
              <a:solidFill>
                <a:srgbClr val="000000"/>
              </a:solidFill>
              <a:latin typeface="Times New Roman"/>
            </a:endParaRPr>
          </a:p>
        </p:txBody>
      </p:sp>
      <p:sp>
        <p:nvSpPr>
          <p:cNvPr id="47" name=""/>
          <p:cNvSpPr txBox="1"/>
          <p:nvPr/>
        </p:nvSpPr>
        <p:spPr>
          <a:xfrm>
            <a:off x="9700920" y="2383200"/>
            <a:ext cx="6040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CUDA</a:t>
            </a:r>
            <a:endParaRPr b="0" lang="en-US" sz="1740" spc="-1" strike="noStrike">
              <a:solidFill>
                <a:srgbClr val="000000"/>
              </a:solidFill>
              <a:latin typeface="Times New Roman"/>
            </a:endParaRPr>
          </a:p>
        </p:txBody>
      </p:sp>
      <p:sp>
        <p:nvSpPr>
          <p:cNvPr id="48" name=""/>
          <p:cNvSpPr txBox="1"/>
          <p:nvPr/>
        </p:nvSpPr>
        <p:spPr>
          <a:xfrm>
            <a:off x="10299960" y="238896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プラットフ</a:t>
            </a:r>
            <a:endParaRPr b="0" lang="en-US" sz="1740" spc="-1" strike="noStrike">
              <a:solidFill>
                <a:srgbClr val="000000"/>
              </a:solidFill>
              <a:latin typeface="Times New Roman"/>
            </a:endParaRPr>
          </a:p>
        </p:txBody>
      </p:sp>
      <p:sp>
        <p:nvSpPr>
          <p:cNvPr id="49" name=""/>
          <p:cNvSpPr/>
          <p:nvPr/>
        </p:nvSpPr>
        <p:spPr>
          <a:xfrm>
            <a:off x="1085760" y="3228840"/>
            <a:ext cx="76320" cy="76680"/>
          </a:xfrm>
          <a:custGeom>
            <a:avLst/>
            <a:gdLst/>
            <a:ahLst/>
            <a:rect l="0" t="0" r="r" b="b"/>
            <a:pathLst>
              <a:path w="212" h="213">
                <a:moveTo>
                  <a:pt x="212" y="106"/>
                </a:moveTo>
                <a:cubicBezTo>
                  <a:pt x="212" y="120"/>
                  <a:pt x="210" y="133"/>
                  <a:pt x="204" y="146"/>
                </a:cubicBezTo>
                <a:cubicBezTo>
                  <a:pt x="199" y="159"/>
                  <a:pt x="191" y="171"/>
                  <a:pt x="181" y="181"/>
                </a:cubicBezTo>
                <a:cubicBezTo>
                  <a:pt x="171" y="190"/>
                  <a:pt x="160" y="198"/>
                  <a:pt x="147" y="203"/>
                </a:cubicBezTo>
                <a:cubicBezTo>
                  <a:pt x="134" y="209"/>
                  <a:pt x="121" y="213"/>
                  <a:pt x="107" y="213"/>
                </a:cubicBezTo>
                <a:cubicBezTo>
                  <a:pt x="93" y="213"/>
                  <a:pt x="79" y="209"/>
                  <a:pt x="66" y="203"/>
                </a:cubicBezTo>
                <a:cubicBezTo>
                  <a:pt x="53" y="198"/>
                  <a:pt x="41" y="190"/>
                  <a:pt x="31" y="181"/>
                </a:cubicBezTo>
                <a:cubicBezTo>
                  <a:pt x="21" y="171"/>
                  <a:pt x="13" y="159"/>
                  <a:pt x="8" y="146"/>
                </a:cubicBezTo>
                <a:cubicBezTo>
                  <a:pt x="2" y="133"/>
                  <a:pt x="0" y="120"/>
                  <a:pt x="0" y="106"/>
                </a:cubicBezTo>
                <a:cubicBezTo>
                  <a:pt x="0" y="92"/>
                  <a:pt x="2" y="78"/>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0" name=""/>
          <p:cNvSpPr txBox="1"/>
          <p:nvPr/>
        </p:nvSpPr>
        <p:spPr>
          <a:xfrm>
            <a:off x="1300320" y="272232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ォームやライブラリ）</a:t>
            </a:r>
            <a:endParaRPr b="0" lang="en-US" sz="1740" spc="-1" strike="noStrike">
              <a:solidFill>
                <a:srgbClr val="000000"/>
              </a:solidFill>
              <a:latin typeface="Times New Roman"/>
            </a:endParaRPr>
          </a:p>
        </p:txBody>
      </p:sp>
      <p:sp>
        <p:nvSpPr>
          <p:cNvPr id="51" name=""/>
          <p:cNvSpPr txBox="1"/>
          <p:nvPr/>
        </p:nvSpPr>
        <p:spPr>
          <a:xfrm>
            <a:off x="1300320" y="3107160"/>
            <a:ext cx="29390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AI Training and Inference</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52" name=""/>
          <p:cNvSpPr txBox="1"/>
          <p:nvPr/>
        </p:nvSpPr>
        <p:spPr>
          <a:xfrm>
            <a:off x="4150080" y="311292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生成</a:t>
            </a:r>
            <a:endParaRPr b="0" lang="en-US" sz="1740" spc="-1" strike="noStrike">
              <a:solidFill>
                <a:srgbClr val="000000"/>
              </a:solidFill>
              <a:latin typeface="Times New Roman"/>
            </a:endParaRPr>
          </a:p>
        </p:txBody>
      </p:sp>
      <p:sp>
        <p:nvSpPr>
          <p:cNvPr id="53" name=""/>
          <p:cNvSpPr txBox="1"/>
          <p:nvPr/>
        </p:nvSpPr>
        <p:spPr>
          <a:xfrm>
            <a:off x="4591800" y="310716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54" name=""/>
          <p:cNvSpPr txBox="1"/>
          <p:nvPr/>
        </p:nvSpPr>
        <p:spPr>
          <a:xfrm>
            <a:off x="4807800" y="3112920"/>
            <a:ext cx="66301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やディープラーニングモデルの開発から、実環境への推論（デプロ</a:t>
            </a:r>
            <a:endParaRPr b="0" lang="en-US" sz="1740" spc="-1" strike="noStrike">
              <a:solidFill>
                <a:srgbClr val="000000"/>
              </a:solidFill>
              <a:latin typeface="Times New Roman"/>
            </a:endParaRPr>
          </a:p>
        </p:txBody>
      </p:sp>
      <p:sp>
        <p:nvSpPr>
          <p:cNvPr id="55" name=""/>
          <p:cNvSpPr/>
          <p:nvPr/>
        </p:nvSpPr>
        <p:spPr>
          <a:xfrm>
            <a:off x="1085760" y="3943080"/>
            <a:ext cx="76320" cy="76680"/>
          </a:xfrm>
          <a:custGeom>
            <a:avLst/>
            <a:gdLst/>
            <a:ahLst/>
            <a:rect l="0" t="0" r="r" b="b"/>
            <a:pathLst>
              <a:path w="212" h="213">
                <a:moveTo>
                  <a:pt x="212" y="106"/>
                </a:moveTo>
                <a:cubicBezTo>
                  <a:pt x="212" y="120"/>
                  <a:pt x="210" y="135"/>
                  <a:pt x="204" y="148"/>
                </a:cubicBezTo>
                <a:cubicBezTo>
                  <a:pt x="199" y="161"/>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1"/>
                  <a:pt x="8" y="148"/>
                </a:cubicBezTo>
                <a:cubicBezTo>
                  <a:pt x="2" y="135"/>
                  <a:pt x="0" y="120"/>
                  <a:pt x="0" y="106"/>
                </a:cubicBezTo>
                <a:cubicBezTo>
                  <a:pt x="0" y="92"/>
                  <a:pt x="2" y="79"/>
                  <a:pt x="8" y="66"/>
                </a:cubicBezTo>
                <a:cubicBezTo>
                  <a:pt x="13" y="53"/>
                  <a:pt x="21" y="41"/>
                  <a:pt x="31" y="31"/>
                </a:cubicBezTo>
                <a:cubicBezTo>
                  <a:pt x="41" y="21"/>
                  <a:pt x="53" y="14"/>
                  <a:pt x="66" y="8"/>
                </a:cubicBezTo>
                <a:cubicBezTo>
                  <a:pt x="79" y="3"/>
                  <a:pt x="93" y="0"/>
                  <a:pt x="107" y="0"/>
                </a:cubicBezTo>
                <a:cubicBezTo>
                  <a:pt x="121" y="0"/>
                  <a:pt x="134" y="3"/>
                  <a:pt x="147" y="8"/>
                </a:cubicBezTo>
                <a:cubicBezTo>
                  <a:pt x="160" y="14"/>
                  <a:pt x="171" y="21"/>
                  <a:pt x="181" y="31"/>
                </a:cubicBezTo>
                <a:cubicBezTo>
                  <a:pt x="191" y="41"/>
                  <a:pt x="199" y="53"/>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6" name=""/>
          <p:cNvSpPr txBox="1"/>
          <p:nvPr/>
        </p:nvSpPr>
        <p:spPr>
          <a:xfrm>
            <a:off x="1300320" y="344628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イ）までをカバーする環境</a:t>
            </a:r>
            <a:endParaRPr b="0" lang="en-US" sz="1740" spc="-1" strike="noStrike">
              <a:solidFill>
                <a:srgbClr val="000000"/>
              </a:solidFill>
              <a:latin typeface="Times New Roman"/>
            </a:endParaRPr>
          </a:p>
        </p:txBody>
      </p:sp>
      <p:sp>
        <p:nvSpPr>
          <p:cNvPr id="57" name=""/>
          <p:cNvSpPr txBox="1"/>
          <p:nvPr/>
        </p:nvSpPr>
        <p:spPr>
          <a:xfrm>
            <a:off x="1300320" y="3821400"/>
            <a:ext cx="25030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Cloud Development</a:t>
            </a:r>
            <a:r>
              <a:rPr b="0" lang="en-US" sz="1740" spc="-1" strike="noStrike">
                <a:solidFill>
                  <a:srgbClr val="1f2328"/>
                </a:solidFill>
                <a:latin typeface="NotoSans"/>
                <a:ea typeface="NotoSans"/>
              </a:rPr>
              <a:t>: AI</a:t>
            </a:r>
            <a:endParaRPr b="0" lang="en-US" sz="1740" spc="-1" strike="noStrike">
              <a:solidFill>
                <a:srgbClr val="000000"/>
              </a:solidFill>
              <a:latin typeface="Times New Roman"/>
            </a:endParaRPr>
          </a:p>
        </p:txBody>
      </p:sp>
      <p:sp>
        <p:nvSpPr>
          <p:cNvPr id="58" name=""/>
          <p:cNvSpPr txBox="1"/>
          <p:nvPr/>
        </p:nvSpPr>
        <p:spPr>
          <a:xfrm>
            <a:off x="3754800" y="3827160"/>
            <a:ext cx="75139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トレーニング等に最適化されたマルチノードのクラウドインフラやコンテナ</a:t>
            </a:r>
            <a:endParaRPr b="0" lang="en-US" sz="1740" spc="-1" strike="noStrike">
              <a:solidFill>
                <a:srgbClr val="000000"/>
              </a:solidFill>
              <a:latin typeface="Times New Roman"/>
            </a:endParaRPr>
          </a:p>
        </p:txBody>
      </p:sp>
      <p:sp>
        <p:nvSpPr>
          <p:cNvPr id="59" name=""/>
          <p:cNvSpPr/>
          <p:nvPr/>
        </p:nvSpPr>
        <p:spPr>
          <a:xfrm>
            <a:off x="1085760" y="4667040"/>
            <a:ext cx="76320" cy="76680"/>
          </a:xfrm>
          <a:custGeom>
            <a:avLst/>
            <a:gdLst/>
            <a:ahLst/>
            <a:rect l="0" t="0" r="r" b="b"/>
            <a:pathLst>
              <a:path w="212" h="213">
                <a:moveTo>
                  <a:pt x="212" y="107"/>
                </a:moveTo>
                <a:cubicBezTo>
                  <a:pt x="212" y="121"/>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1"/>
                  <a:pt x="0" y="107"/>
                </a:cubicBezTo>
                <a:cubicBezTo>
                  <a:pt x="0" y="93"/>
                  <a:pt x="2" y="79"/>
                  <a:pt x="8" y="66"/>
                </a:cubicBezTo>
                <a:cubicBezTo>
                  <a:pt x="13" y="53"/>
                  <a:pt x="21" y="42"/>
                  <a:pt x="31" y="32"/>
                </a:cubicBezTo>
                <a:cubicBezTo>
                  <a:pt x="41" y="22"/>
                  <a:pt x="53" y="15"/>
                  <a:pt x="66" y="8"/>
                </a:cubicBezTo>
                <a:cubicBezTo>
                  <a:pt x="79" y="3"/>
                  <a:pt x="93" y="0"/>
                  <a:pt x="107" y="0"/>
                </a:cubicBezTo>
                <a:cubicBezTo>
                  <a:pt x="121" y="0"/>
                  <a:pt x="134" y="3"/>
                  <a:pt x="147" y="8"/>
                </a:cubicBezTo>
                <a:cubicBezTo>
                  <a:pt x="160" y="15"/>
                  <a:pt x="171" y="22"/>
                  <a:pt x="181" y="32"/>
                </a:cubicBezTo>
                <a:cubicBezTo>
                  <a:pt x="191" y="42"/>
                  <a:pt x="199" y="53"/>
                  <a:pt x="204" y="66"/>
                </a:cubicBezTo>
                <a:cubicBezTo>
                  <a:pt x="210" y="79"/>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60" name=""/>
          <p:cNvSpPr txBox="1"/>
          <p:nvPr/>
        </p:nvSpPr>
        <p:spPr>
          <a:xfrm>
            <a:off x="1300320" y="416052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カタログの提供</a:t>
            </a:r>
            <a:endParaRPr b="0" lang="en-US" sz="1740" spc="-1" strike="noStrike">
              <a:solidFill>
                <a:srgbClr val="000000"/>
              </a:solidFill>
              <a:latin typeface="Times New Roman"/>
            </a:endParaRPr>
          </a:p>
        </p:txBody>
      </p:sp>
      <p:sp>
        <p:nvSpPr>
          <p:cNvPr id="61" name=""/>
          <p:cNvSpPr txBox="1"/>
          <p:nvPr/>
        </p:nvSpPr>
        <p:spPr>
          <a:xfrm>
            <a:off x="1300320" y="4545360"/>
            <a:ext cx="13129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Simulation</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62" name=""/>
          <p:cNvSpPr txBox="1"/>
          <p:nvPr/>
        </p:nvSpPr>
        <p:spPr>
          <a:xfrm>
            <a:off x="2580120" y="4551120"/>
            <a:ext cx="8839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物理的に正確なロボティクス開発やデジタルツインを構築するための仮想世界プラットフ</a:t>
            </a:r>
            <a:endParaRPr b="0" lang="en-US" sz="1740" spc="-1" strike="noStrike">
              <a:solidFill>
                <a:srgbClr val="000000"/>
              </a:solidFill>
              <a:latin typeface="Times New Roman"/>
            </a:endParaRPr>
          </a:p>
        </p:txBody>
      </p:sp>
      <p:sp>
        <p:nvSpPr>
          <p:cNvPr id="63" name=""/>
          <p:cNvSpPr txBox="1"/>
          <p:nvPr/>
        </p:nvSpPr>
        <p:spPr>
          <a:xfrm>
            <a:off x="1300320" y="487476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ォーム</a:t>
            </a:r>
            <a:endParaRPr b="0" lang="en-US" sz="1740" spc="-1" strike="noStrike">
              <a:solidFill>
                <a:srgbClr val="000000"/>
              </a:solidFill>
              <a:latin typeface="Times New Roman"/>
            </a:endParaRPr>
          </a:p>
        </p:txBody>
      </p:sp>
      <p:sp>
        <p:nvSpPr>
          <p:cNvPr id="64"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65"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66"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4</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70" name="" descr=""/>
          <p:cNvPicPr/>
          <p:nvPr/>
        </p:nvPicPr>
        <p:blipFill>
          <a:blip r:embed="rId1"/>
          <a:stretch/>
        </p:blipFill>
        <p:spPr>
          <a:xfrm>
            <a:off x="-2880" y="-2880"/>
            <a:ext cx="12197880" cy="6863760"/>
          </a:xfrm>
          <a:prstGeom prst="rect">
            <a:avLst/>
          </a:prstGeom>
          <a:ln w="0">
            <a:noFill/>
          </a:ln>
        </p:spPr>
      </p:pic>
      <p:sp>
        <p:nvSpPr>
          <p:cNvPr id="71" name=""/>
          <p:cNvSpPr txBox="1"/>
          <p:nvPr/>
        </p:nvSpPr>
        <p:spPr>
          <a:xfrm>
            <a:off x="747720" y="2018160"/>
            <a:ext cx="417024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1-1. Accelerated Computing</a:t>
            </a:r>
            <a:endParaRPr b="0" lang="en-US" sz="2390" spc="-1" strike="noStrike">
              <a:solidFill>
                <a:srgbClr val="000000"/>
              </a:solidFill>
              <a:latin typeface="Times New Roman"/>
            </a:endParaRPr>
          </a:p>
        </p:txBody>
      </p:sp>
      <p:sp>
        <p:nvSpPr>
          <p:cNvPr id="72" name=""/>
          <p:cNvSpPr txBox="1"/>
          <p:nvPr/>
        </p:nvSpPr>
        <p:spPr>
          <a:xfrm>
            <a:off x="747720" y="2583000"/>
            <a:ext cx="456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GPU</a:t>
            </a:r>
            <a:endParaRPr b="0" lang="en-US" sz="1740" spc="-1" strike="noStrike">
              <a:solidFill>
                <a:srgbClr val="000000"/>
              </a:solidFill>
              <a:latin typeface="Times New Roman"/>
            </a:endParaRPr>
          </a:p>
        </p:txBody>
      </p:sp>
      <p:sp>
        <p:nvSpPr>
          <p:cNvPr id="73" name=""/>
          <p:cNvSpPr/>
          <p:nvPr/>
        </p:nvSpPr>
        <p:spPr>
          <a:xfrm>
            <a:off x="1085760" y="3190680"/>
            <a:ext cx="76320" cy="76680"/>
          </a:xfrm>
          <a:custGeom>
            <a:avLst/>
            <a:gdLst/>
            <a:ahLst/>
            <a:rect l="0" t="0" r="r" b="b"/>
            <a:pathLst>
              <a:path w="212" h="213">
                <a:moveTo>
                  <a:pt x="212" y="107"/>
                </a:moveTo>
                <a:cubicBezTo>
                  <a:pt x="212" y="121"/>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1"/>
                  <a:pt x="0" y="107"/>
                </a:cubicBezTo>
                <a:cubicBezTo>
                  <a:pt x="0" y="92"/>
                  <a:pt x="2" y="78"/>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8"/>
                  <a:pt x="212" y="92"/>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4" name=""/>
          <p:cNvSpPr txBox="1"/>
          <p:nvPr/>
        </p:nvSpPr>
        <p:spPr>
          <a:xfrm>
            <a:off x="1203480" y="2588760"/>
            <a:ext cx="4199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コンピューティングの基盤となるツール群</a:t>
            </a:r>
            <a:endParaRPr b="0" lang="en-US" sz="1740" spc="-1" strike="noStrike">
              <a:solidFill>
                <a:srgbClr val="000000"/>
              </a:solidFill>
              <a:latin typeface="Times New Roman"/>
            </a:endParaRPr>
          </a:p>
        </p:txBody>
      </p:sp>
      <p:sp>
        <p:nvSpPr>
          <p:cNvPr id="75" name=""/>
          <p:cNvSpPr txBox="1"/>
          <p:nvPr/>
        </p:nvSpPr>
        <p:spPr>
          <a:xfrm>
            <a:off x="1300320" y="3069000"/>
            <a:ext cx="20217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CUDA Toolkit</a:t>
            </a:r>
            <a:r>
              <a:rPr b="0" lang="en-US" sz="1740" spc="-1" strike="noStrike">
                <a:solidFill>
                  <a:srgbClr val="1f2328"/>
                </a:solidFill>
                <a:latin typeface="NotoSans"/>
                <a:ea typeface="NotoSans"/>
              </a:rPr>
              <a:t>: GPU</a:t>
            </a:r>
            <a:endParaRPr b="0" lang="en-US" sz="1740" spc="-1" strike="noStrike">
              <a:solidFill>
                <a:srgbClr val="000000"/>
              </a:solidFill>
              <a:latin typeface="Times New Roman"/>
            </a:endParaRPr>
          </a:p>
        </p:txBody>
      </p:sp>
      <p:sp>
        <p:nvSpPr>
          <p:cNvPr id="76" name=""/>
          <p:cNvSpPr txBox="1"/>
          <p:nvPr/>
        </p:nvSpPr>
        <p:spPr>
          <a:xfrm>
            <a:off x="3269520" y="3074760"/>
            <a:ext cx="79560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アプリケーション開発のためのコンパイラ、ライブラリ、デバッガを含む統合環</a:t>
            </a:r>
            <a:endParaRPr b="0" lang="en-US" sz="1740" spc="-1" strike="noStrike">
              <a:solidFill>
                <a:srgbClr val="000000"/>
              </a:solidFill>
              <a:latin typeface="Times New Roman"/>
            </a:endParaRPr>
          </a:p>
        </p:txBody>
      </p:sp>
      <p:sp>
        <p:nvSpPr>
          <p:cNvPr id="77" name=""/>
          <p:cNvSpPr/>
          <p:nvPr/>
        </p:nvSpPr>
        <p:spPr>
          <a:xfrm>
            <a:off x="1085760" y="3904920"/>
            <a:ext cx="76320" cy="76680"/>
          </a:xfrm>
          <a:custGeom>
            <a:avLst/>
            <a:gdLst/>
            <a:ahLst/>
            <a:rect l="0" t="0" r="r" b="b"/>
            <a:pathLst>
              <a:path w="212" h="213">
                <a:moveTo>
                  <a:pt x="212" y="107"/>
                </a:moveTo>
                <a:cubicBezTo>
                  <a:pt x="212" y="121"/>
                  <a:pt x="210" y="135"/>
                  <a:pt x="204" y="148"/>
                </a:cubicBezTo>
                <a:cubicBezTo>
                  <a:pt x="199" y="161"/>
                  <a:pt x="191" y="172"/>
                  <a:pt x="181" y="182"/>
                </a:cubicBezTo>
                <a:cubicBezTo>
                  <a:pt x="171" y="192"/>
                  <a:pt x="160" y="200"/>
                  <a:pt x="147" y="205"/>
                </a:cubicBezTo>
                <a:cubicBezTo>
                  <a:pt x="134" y="210"/>
                  <a:pt x="121" y="213"/>
                  <a:pt x="107" y="213"/>
                </a:cubicBezTo>
                <a:cubicBezTo>
                  <a:pt x="93" y="213"/>
                  <a:pt x="79" y="210"/>
                  <a:pt x="66" y="205"/>
                </a:cubicBezTo>
                <a:cubicBezTo>
                  <a:pt x="53" y="200"/>
                  <a:pt x="41" y="192"/>
                  <a:pt x="31" y="182"/>
                </a:cubicBezTo>
                <a:cubicBezTo>
                  <a:pt x="21" y="172"/>
                  <a:pt x="13" y="161"/>
                  <a:pt x="8" y="148"/>
                </a:cubicBezTo>
                <a:cubicBezTo>
                  <a:pt x="2" y="135"/>
                  <a:pt x="0" y="121"/>
                  <a:pt x="0" y="107"/>
                </a:cubicBezTo>
                <a:cubicBezTo>
                  <a:pt x="0" y="93"/>
                  <a:pt x="2" y="80"/>
                  <a:pt x="8" y="67"/>
                </a:cubicBezTo>
                <a:cubicBezTo>
                  <a:pt x="13" y="54"/>
                  <a:pt x="21" y="42"/>
                  <a:pt x="31" y="32"/>
                </a:cubicBezTo>
                <a:cubicBezTo>
                  <a:pt x="41" y="22"/>
                  <a:pt x="53" y="14"/>
                  <a:pt x="66" y="8"/>
                </a:cubicBezTo>
                <a:cubicBezTo>
                  <a:pt x="79" y="3"/>
                  <a:pt x="93" y="0"/>
                  <a:pt x="107" y="0"/>
                </a:cubicBezTo>
                <a:cubicBezTo>
                  <a:pt x="121" y="0"/>
                  <a:pt x="134" y="3"/>
                  <a:pt x="147" y="8"/>
                </a:cubicBezTo>
                <a:cubicBezTo>
                  <a:pt x="160" y="14"/>
                  <a:pt x="171" y="22"/>
                  <a:pt x="181" y="32"/>
                </a:cubicBezTo>
                <a:cubicBezTo>
                  <a:pt x="191" y="42"/>
                  <a:pt x="199" y="54"/>
                  <a:pt x="204" y="67"/>
                </a:cubicBezTo>
                <a:cubicBezTo>
                  <a:pt x="210" y="80"/>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8" name=""/>
          <p:cNvSpPr txBox="1"/>
          <p:nvPr/>
        </p:nvSpPr>
        <p:spPr>
          <a:xfrm>
            <a:off x="1300320" y="339840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境。</a:t>
            </a:r>
            <a:endParaRPr b="0" lang="en-US" sz="1740" spc="-1" strike="noStrike">
              <a:solidFill>
                <a:srgbClr val="000000"/>
              </a:solidFill>
              <a:latin typeface="Times New Roman"/>
            </a:endParaRPr>
          </a:p>
        </p:txBody>
      </p:sp>
      <p:sp>
        <p:nvSpPr>
          <p:cNvPr id="79" name=""/>
          <p:cNvSpPr txBox="1"/>
          <p:nvPr/>
        </p:nvSpPr>
        <p:spPr>
          <a:xfrm>
            <a:off x="1300320" y="3783240"/>
            <a:ext cx="22060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CUDA-X Libraries</a:t>
            </a:r>
            <a:r>
              <a:rPr b="0" lang="en-US" sz="1740" spc="-1" strike="noStrike">
                <a:solidFill>
                  <a:srgbClr val="1f2328"/>
                </a:solidFill>
                <a:latin typeface="NotoSans"/>
                <a:ea typeface="NotoSans"/>
              </a:rPr>
              <a:t>: AI</a:t>
            </a:r>
            <a:endParaRPr b="0" lang="en-US" sz="1740" spc="-1" strike="noStrike">
              <a:solidFill>
                <a:srgbClr val="000000"/>
              </a:solidFill>
              <a:latin typeface="Times New Roman"/>
            </a:endParaRPr>
          </a:p>
        </p:txBody>
      </p:sp>
      <p:sp>
        <p:nvSpPr>
          <p:cNvPr id="80" name=""/>
          <p:cNvSpPr txBox="1"/>
          <p:nvPr/>
        </p:nvSpPr>
        <p:spPr>
          <a:xfrm>
            <a:off x="3455640" y="378900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a:t>
            </a:r>
            <a:endParaRPr b="0" lang="en-US" sz="1740" spc="-1" strike="noStrike">
              <a:solidFill>
                <a:srgbClr val="000000"/>
              </a:solidFill>
              <a:latin typeface="Times New Roman"/>
            </a:endParaRPr>
          </a:p>
        </p:txBody>
      </p:sp>
      <p:sp>
        <p:nvSpPr>
          <p:cNvPr id="81" name=""/>
          <p:cNvSpPr txBox="1"/>
          <p:nvPr/>
        </p:nvSpPr>
        <p:spPr>
          <a:xfrm>
            <a:off x="3676680" y="3783240"/>
            <a:ext cx="436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HPC</a:t>
            </a:r>
            <a:endParaRPr b="0" lang="en-US" sz="1740" spc="-1" strike="noStrike">
              <a:solidFill>
                <a:srgbClr val="000000"/>
              </a:solidFill>
              <a:latin typeface="Times New Roman"/>
            </a:endParaRPr>
          </a:p>
        </p:txBody>
      </p:sp>
      <p:sp>
        <p:nvSpPr>
          <p:cNvPr id="82" name=""/>
          <p:cNvSpPr txBox="1"/>
          <p:nvPr/>
        </p:nvSpPr>
        <p:spPr>
          <a:xfrm>
            <a:off x="4113360" y="3789000"/>
            <a:ext cx="50832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、グラフィックス向けに最適化されたライブラリ群</a:t>
            </a:r>
            <a:endParaRPr b="0" lang="en-US" sz="1740" spc="-1" strike="noStrike">
              <a:solidFill>
                <a:srgbClr val="000000"/>
              </a:solidFill>
              <a:latin typeface="Times New Roman"/>
            </a:endParaRPr>
          </a:p>
        </p:txBody>
      </p:sp>
      <p:sp>
        <p:nvSpPr>
          <p:cNvPr id="83" name=""/>
          <p:cNvSpPr txBox="1"/>
          <p:nvPr/>
        </p:nvSpPr>
        <p:spPr>
          <a:xfrm>
            <a:off x="9193320" y="3783240"/>
            <a:ext cx="18036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(cuBLAS, cuDNN,</a:t>
            </a:r>
            <a:endParaRPr b="0" lang="en-US" sz="1740" spc="-1" strike="noStrike">
              <a:solidFill>
                <a:srgbClr val="000000"/>
              </a:solidFill>
              <a:latin typeface="Times New Roman"/>
            </a:endParaRPr>
          </a:p>
        </p:txBody>
      </p:sp>
      <p:sp>
        <p:nvSpPr>
          <p:cNvPr id="84" name=""/>
          <p:cNvSpPr txBox="1"/>
          <p:nvPr/>
        </p:nvSpPr>
        <p:spPr>
          <a:xfrm>
            <a:off x="1300320" y="4116600"/>
            <a:ext cx="7704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RAPIDS</a:t>
            </a:r>
            <a:endParaRPr b="0" lang="en-US" sz="1740" spc="-1" strike="noStrike">
              <a:solidFill>
                <a:srgbClr val="000000"/>
              </a:solidFill>
              <a:latin typeface="Times New Roman"/>
            </a:endParaRPr>
          </a:p>
        </p:txBody>
      </p:sp>
      <p:sp>
        <p:nvSpPr>
          <p:cNvPr id="85" name=""/>
          <p:cNvSpPr txBox="1"/>
          <p:nvPr/>
        </p:nvSpPr>
        <p:spPr>
          <a:xfrm>
            <a:off x="2069640" y="412236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a:t>
            </a:r>
            <a:endParaRPr b="0" lang="en-US" sz="1740" spc="-1" strike="noStrike">
              <a:solidFill>
                <a:srgbClr val="000000"/>
              </a:solidFill>
              <a:latin typeface="Times New Roman"/>
            </a:endParaRPr>
          </a:p>
        </p:txBody>
      </p:sp>
      <p:sp>
        <p:nvSpPr>
          <p:cNvPr id="86" name=""/>
          <p:cNvSpPr txBox="1"/>
          <p:nvPr/>
        </p:nvSpPr>
        <p:spPr>
          <a:xfrm>
            <a:off x="2290320" y="411660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87" name=""/>
          <p:cNvSpPr/>
          <p:nvPr/>
        </p:nvSpPr>
        <p:spPr>
          <a:xfrm>
            <a:off x="1085760" y="4619520"/>
            <a:ext cx="76320" cy="76320"/>
          </a:xfrm>
          <a:custGeom>
            <a:avLst/>
            <a:gdLst/>
            <a:ahLst/>
            <a:rect l="0" t="0" r="r" b="b"/>
            <a:pathLst>
              <a:path w="212" h="212">
                <a:moveTo>
                  <a:pt x="212" y="106"/>
                </a:moveTo>
                <a:cubicBezTo>
                  <a:pt x="212" y="120"/>
                  <a:pt x="210" y="133"/>
                  <a:pt x="204" y="147"/>
                </a:cubicBezTo>
                <a:cubicBezTo>
                  <a:pt x="199" y="160"/>
                  <a:pt x="191" y="172"/>
                  <a:pt x="181" y="181"/>
                </a:cubicBezTo>
                <a:cubicBezTo>
                  <a:pt x="171" y="191"/>
                  <a:pt x="160" y="199"/>
                  <a:pt x="147" y="204"/>
                </a:cubicBezTo>
                <a:cubicBezTo>
                  <a:pt x="134" y="210"/>
                  <a:pt x="121" y="212"/>
                  <a:pt x="107" y="212"/>
                </a:cubicBezTo>
                <a:cubicBezTo>
                  <a:pt x="93" y="212"/>
                  <a:pt x="79" y="210"/>
                  <a:pt x="66" y="204"/>
                </a:cubicBezTo>
                <a:cubicBezTo>
                  <a:pt x="53" y="199"/>
                  <a:pt x="41" y="191"/>
                  <a:pt x="31" y="181"/>
                </a:cubicBezTo>
                <a:cubicBezTo>
                  <a:pt x="21" y="172"/>
                  <a:pt x="13" y="160"/>
                  <a:pt x="8" y="147"/>
                </a:cubicBezTo>
                <a:cubicBezTo>
                  <a:pt x="2" y="133"/>
                  <a:pt x="0" y="120"/>
                  <a:pt x="0" y="106"/>
                </a:cubicBezTo>
                <a:cubicBezTo>
                  <a:pt x="0" y="92"/>
                  <a:pt x="2" y="78"/>
                  <a:pt x="8" y="65"/>
                </a:cubicBezTo>
                <a:cubicBezTo>
                  <a:pt x="13" y="52"/>
                  <a:pt x="21" y="41"/>
                  <a:pt x="31" y="31"/>
                </a:cubicBezTo>
                <a:cubicBezTo>
                  <a:pt x="41" y="21"/>
                  <a:pt x="53" y="13"/>
                  <a:pt x="66" y="8"/>
                </a:cubicBezTo>
                <a:cubicBezTo>
                  <a:pt x="79" y="2"/>
                  <a:pt x="93" y="0"/>
                  <a:pt x="107" y="0"/>
                </a:cubicBezTo>
                <a:cubicBezTo>
                  <a:pt x="121" y="0"/>
                  <a:pt x="134" y="2"/>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88" name=""/>
          <p:cNvSpPr txBox="1"/>
          <p:nvPr/>
        </p:nvSpPr>
        <p:spPr>
          <a:xfrm>
            <a:off x="2356920" y="412236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a:t>
            </a:r>
            <a:endParaRPr b="0" lang="en-US" sz="1740" spc="-1" strike="noStrike">
              <a:solidFill>
                <a:srgbClr val="000000"/>
              </a:solidFill>
              <a:latin typeface="Times New Roman"/>
            </a:endParaRPr>
          </a:p>
        </p:txBody>
      </p:sp>
      <p:sp>
        <p:nvSpPr>
          <p:cNvPr id="89" name=""/>
          <p:cNvSpPr txBox="1"/>
          <p:nvPr/>
        </p:nvSpPr>
        <p:spPr>
          <a:xfrm>
            <a:off x="1300320" y="4497840"/>
            <a:ext cx="26722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Nsight Developer Tools</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90" name=""/>
          <p:cNvSpPr txBox="1"/>
          <p:nvPr/>
        </p:nvSpPr>
        <p:spPr>
          <a:xfrm>
            <a:off x="3899520" y="4503600"/>
            <a:ext cx="68511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システム全体やカーネルレベルのプロファイリング・最適化ツール。</a:t>
            </a:r>
            <a:endParaRPr b="0" lang="en-US" sz="1740" spc="-1" strike="noStrike">
              <a:solidFill>
                <a:srgbClr val="000000"/>
              </a:solidFill>
              <a:latin typeface="Times New Roman"/>
            </a:endParaRPr>
          </a:p>
        </p:txBody>
      </p:sp>
      <p:sp>
        <p:nvSpPr>
          <p:cNvPr id="91"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92"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93"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5</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9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9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97" name="" descr=""/>
          <p:cNvPicPr/>
          <p:nvPr/>
        </p:nvPicPr>
        <p:blipFill>
          <a:blip r:embed="rId1"/>
          <a:stretch/>
        </p:blipFill>
        <p:spPr>
          <a:xfrm>
            <a:off x="-2880" y="-2880"/>
            <a:ext cx="12197880" cy="6863760"/>
          </a:xfrm>
          <a:prstGeom prst="rect">
            <a:avLst/>
          </a:prstGeom>
          <a:ln w="0">
            <a:noFill/>
          </a:ln>
        </p:spPr>
      </p:pic>
      <p:sp>
        <p:nvSpPr>
          <p:cNvPr id="98" name=""/>
          <p:cNvSpPr txBox="1"/>
          <p:nvPr/>
        </p:nvSpPr>
        <p:spPr>
          <a:xfrm>
            <a:off x="747720" y="1656360"/>
            <a:ext cx="448596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1-2. AI Training and Inference</a:t>
            </a:r>
            <a:endParaRPr b="0" lang="en-US" sz="2390" spc="-1" strike="noStrike">
              <a:solidFill>
                <a:srgbClr val="000000"/>
              </a:solidFill>
              <a:latin typeface="Times New Roman"/>
            </a:endParaRPr>
          </a:p>
        </p:txBody>
      </p:sp>
      <p:sp>
        <p:nvSpPr>
          <p:cNvPr id="99" name=""/>
          <p:cNvSpPr txBox="1"/>
          <p:nvPr/>
        </p:nvSpPr>
        <p:spPr>
          <a:xfrm>
            <a:off x="747720" y="222120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100" name=""/>
          <p:cNvSpPr/>
          <p:nvPr/>
        </p:nvSpPr>
        <p:spPr>
          <a:xfrm>
            <a:off x="1085760" y="2828880"/>
            <a:ext cx="76320" cy="76320"/>
          </a:xfrm>
          <a:custGeom>
            <a:avLst/>
            <a:gdLst/>
            <a:ahLst/>
            <a:rect l="0" t="0" r="r" b="b"/>
            <a:pathLst>
              <a:path w="212" h="212">
                <a:moveTo>
                  <a:pt x="212" y="106"/>
                </a:moveTo>
                <a:cubicBezTo>
                  <a:pt x="212" y="120"/>
                  <a:pt x="210" y="134"/>
                  <a:pt x="204" y="147"/>
                </a:cubicBezTo>
                <a:cubicBezTo>
                  <a:pt x="199" y="160"/>
                  <a:pt x="191" y="171"/>
                  <a:pt x="181" y="181"/>
                </a:cubicBezTo>
                <a:cubicBezTo>
                  <a:pt x="171" y="191"/>
                  <a:pt x="160" y="199"/>
                  <a:pt x="147" y="204"/>
                </a:cubicBezTo>
                <a:cubicBezTo>
                  <a:pt x="134" y="210"/>
                  <a:pt x="121" y="212"/>
                  <a:pt x="107" y="212"/>
                </a:cubicBezTo>
                <a:cubicBezTo>
                  <a:pt x="93" y="212"/>
                  <a:pt x="79" y="210"/>
                  <a:pt x="66" y="204"/>
                </a:cubicBezTo>
                <a:cubicBezTo>
                  <a:pt x="53" y="199"/>
                  <a:pt x="41" y="191"/>
                  <a:pt x="31" y="181"/>
                </a:cubicBezTo>
                <a:cubicBezTo>
                  <a:pt x="21" y="171"/>
                  <a:pt x="13" y="160"/>
                  <a:pt x="8" y="147"/>
                </a:cubicBezTo>
                <a:cubicBezTo>
                  <a:pt x="2" y="134"/>
                  <a:pt x="0" y="120"/>
                  <a:pt x="0" y="106"/>
                </a:cubicBezTo>
                <a:cubicBezTo>
                  <a:pt x="0" y="92"/>
                  <a:pt x="2" y="79"/>
                  <a:pt x="8" y="66"/>
                </a:cubicBezTo>
                <a:cubicBezTo>
                  <a:pt x="13" y="52"/>
                  <a:pt x="21" y="41"/>
                  <a:pt x="31" y="31"/>
                </a:cubicBezTo>
                <a:cubicBezTo>
                  <a:pt x="41" y="21"/>
                  <a:pt x="53" y="13"/>
                  <a:pt x="66" y="8"/>
                </a:cubicBezTo>
                <a:cubicBezTo>
                  <a:pt x="79" y="2"/>
                  <a:pt x="93" y="0"/>
                  <a:pt x="107" y="0"/>
                </a:cubicBezTo>
                <a:cubicBezTo>
                  <a:pt x="121" y="0"/>
                  <a:pt x="134" y="2"/>
                  <a:pt x="147" y="8"/>
                </a:cubicBezTo>
                <a:cubicBezTo>
                  <a:pt x="160" y="13"/>
                  <a:pt x="171" y="21"/>
                  <a:pt x="181" y="31"/>
                </a:cubicBezTo>
                <a:cubicBezTo>
                  <a:pt x="191" y="41"/>
                  <a:pt x="199" y="52"/>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1" name=""/>
          <p:cNvSpPr txBox="1"/>
          <p:nvPr/>
        </p:nvSpPr>
        <p:spPr>
          <a:xfrm>
            <a:off x="963720" y="2226960"/>
            <a:ext cx="57463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モデルの開発、学習、推論を高速化するプラットフォーム</a:t>
            </a:r>
            <a:endParaRPr b="0" lang="en-US" sz="1740" spc="-1" strike="noStrike">
              <a:solidFill>
                <a:srgbClr val="000000"/>
              </a:solidFill>
              <a:latin typeface="Times New Roman"/>
            </a:endParaRPr>
          </a:p>
        </p:txBody>
      </p:sp>
      <p:sp>
        <p:nvSpPr>
          <p:cNvPr id="102" name=""/>
          <p:cNvSpPr/>
          <p:nvPr/>
        </p:nvSpPr>
        <p:spPr>
          <a:xfrm>
            <a:off x="1523880" y="3162240"/>
            <a:ext cx="76320" cy="76320"/>
          </a:xfrm>
          <a:custGeom>
            <a:avLst/>
            <a:gdLst/>
            <a:ahLst/>
            <a:rect l="0" t="0" r="r" b="b"/>
            <a:pathLst>
              <a:path w="212" h="212">
                <a:moveTo>
                  <a:pt x="212" y="105"/>
                </a:moveTo>
                <a:cubicBezTo>
                  <a:pt x="212" y="120"/>
                  <a:pt x="210" y="133"/>
                  <a:pt x="204" y="146"/>
                </a:cubicBezTo>
                <a:cubicBezTo>
                  <a:pt x="199" y="159"/>
                  <a:pt x="191" y="170"/>
                  <a:pt x="182" y="180"/>
                </a:cubicBezTo>
                <a:cubicBezTo>
                  <a:pt x="172" y="191"/>
                  <a:pt x="160" y="199"/>
                  <a:pt x="147" y="204"/>
                </a:cubicBezTo>
                <a:cubicBezTo>
                  <a:pt x="134" y="210"/>
                  <a:pt x="121" y="212"/>
                  <a:pt x="107" y="212"/>
                </a:cubicBezTo>
                <a:cubicBezTo>
                  <a:pt x="92" y="212"/>
                  <a:pt x="78" y="210"/>
                  <a:pt x="65" y="204"/>
                </a:cubicBezTo>
                <a:cubicBezTo>
                  <a:pt x="52" y="199"/>
                  <a:pt x="41" y="191"/>
                  <a:pt x="31" y="180"/>
                </a:cubicBezTo>
                <a:cubicBezTo>
                  <a:pt x="21" y="170"/>
                  <a:pt x="13" y="159"/>
                  <a:pt x="8" y="146"/>
                </a:cubicBezTo>
                <a:cubicBezTo>
                  <a:pt x="3" y="133"/>
                  <a:pt x="0" y="120"/>
                  <a:pt x="0" y="105"/>
                </a:cubicBezTo>
                <a:cubicBezTo>
                  <a:pt x="0" y="91"/>
                  <a:pt x="3" y="78"/>
                  <a:pt x="8" y="65"/>
                </a:cubicBezTo>
                <a:cubicBezTo>
                  <a:pt x="13" y="52"/>
                  <a:pt x="21" y="41"/>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1"/>
                  <a:pt x="199" y="52"/>
                  <a:pt x="204" y="65"/>
                </a:cubicBezTo>
                <a:cubicBezTo>
                  <a:pt x="210" y="78"/>
                  <a:pt x="212" y="91"/>
                  <a:pt x="212" y="105"/>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03" name=""/>
          <p:cNvSpPr txBox="1"/>
          <p:nvPr/>
        </p:nvSpPr>
        <p:spPr>
          <a:xfrm>
            <a:off x="1300320" y="2706840"/>
            <a:ext cx="28065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Training &amp; Customization</a:t>
            </a:r>
            <a:endParaRPr b="0" lang="en-US" sz="1740" spc="-1" strike="noStrike">
              <a:solidFill>
                <a:srgbClr val="000000"/>
              </a:solidFill>
              <a:latin typeface="Times New Roman"/>
            </a:endParaRPr>
          </a:p>
        </p:txBody>
      </p:sp>
      <p:sp>
        <p:nvSpPr>
          <p:cNvPr id="104" name=""/>
          <p:cNvSpPr txBox="1"/>
          <p:nvPr/>
        </p:nvSpPr>
        <p:spPr>
          <a:xfrm>
            <a:off x="1742040" y="3040200"/>
            <a:ext cx="16405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NVIDIA NeMo</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105" name=""/>
          <p:cNvSpPr txBox="1"/>
          <p:nvPr/>
        </p:nvSpPr>
        <p:spPr>
          <a:xfrm>
            <a:off x="3349080" y="304596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会話型</a:t>
            </a:r>
            <a:endParaRPr b="0" lang="en-US" sz="1740" spc="-1" strike="noStrike">
              <a:solidFill>
                <a:srgbClr val="000000"/>
              </a:solidFill>
              <a:latin typeface="Times New Roman"/>
            </a:endParaRPr>
          </a:p>
        </p:txBody>
      </p:sp>
      <p:sp>
        <p:nvSpPr>
          <p:cNvPr id="106" name=""/>
          <p:cNvSpPr txBox="1"/>
          <p:nvPr/>
        </p:nvSpPr>
        <p:spPr>
          <a:xfrm>
            <a:off x="4011480" y="304020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107" name=""/>
          <p:cNvSpPr txBox="1"/>
          <p:nvPr/>
        </p:nvSpPr>
        <p:spPr>
          <a:xfrm>
            <a:off x="4227480" y="304596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や生成</a:t>
            </a:r>
            <a:endParaRPr b="0" lang="en-US" sz="1740" spc="-1" strike="noStrike">
              <a:solidFill>
                <a:srgbClr val="000000"/>
              </a:solidFill>
              <a:latin typeface="Times New Roman"/>
            </a:endParaRPr>
          </a:p>
        </p:txBody>
      </p:sp>
      <p:sp>
        <p:nvSpPr>
          <p:cNvPr id="108" name=""/>
          <p:cNvSpPr txBox="1"/>
          <p:nvPr/>
        </p:nvSpPr>
        <p:spPr>
          <a:xfrm>
            <a:off x="4890240" y="304020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109" name=""/>
          <p:cNvSpPr txBox="1"/>
          <p:nvPr/>
        </p:nvSpPr>
        <p:spPr>
          <a:xfrm>
            <a:off x="5106240" y="304596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モデル</a:t>
            </a:r>
            <a:endParaRPr b="0" lang="en-US" sz="1740" spc="-1" strike="noStrike">
              <a:solidFill>
                <a:srgbClr val="000000"/>
              </a:solidFill>
              <a:latin typeface="Times New Roman"/>
            </a:endParaRPr>
          </a:p>
        </p:txBody>
      </p:sp>
      <p:sp>
        <p:nvSpPr>
          <p:cNvPr id="110" name=""/>
          <p:cNvSpPr txBox="1"/>
          <p:nvPr/>
        </p:nvSpPr>
        <p:spPr>
          <a:xfrm>
            <a:off x="5768640" y="3040200"/>
            <a:ext cx="564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(LLM)</a:t>
            </a:r>
            <a:endParaRPr b="0" lang="en-US" sz="1740" spc="-1" strike="noStrike">
              <a:solidFill>
                <a:srgbClr val="000000"/>
              </a:solidFill>
              <a:latin typeface="Times New Roman"/>
            </a:endParaRPr>
          </a:p>
        </p:txBody>
      </p:sp>
      <p:sp>
        <p:nvSpPr>
          <p:cNvPr id="111" name=""/>
          <p:cNvSpPr/>
          <p:nvPr/>
        </p:nvSpPr>
        <p:spPr>
          <a:xfrm>
            <a:off x="1523880" y="3543120"/>
            <a:ext cx="76320" cy="76680"/>
          </a:xfrm>
          <a:custGeom>
            <a:avLst/>
            <a:gdLst/>
            <a:ahLst/>
            <a:rect l="0" t="0" r="r" b="b"/>
            <a:pathLst>
              <a:path w="212" h="213">
                <a:moveTo>
                  <a:pt x="212" y="106"/>
                </a:moveTo>
                <a:cubicBezTo>
                  <a:pt x="212" y="120"/>
                  <a:pt x="210" y="133"/>
                  <a:pt x="204" y="146"/>
                </a:cubicBezTo>
                <a:cubicBezTo>
                  <a:pt x="199" y="159"/>
                  <a:pt x="191" y="171"/>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2"/>
                  <a:pt x="204" y="65"/>
                </a:cubicBezTo>
                <a:cubicBezTo>
                  <a:pt x="210" y="78"/>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12" name=""/>
          <p:cNvSpPr txBox="1"/>
          <p:nvPr/>
        </p:nvSpPr>
        <p:spPr>
          <a:xfrm>
            <a:off x="6333120" y="3045960"/>
            <a:ext cx="24314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の構築・カスタマイズ。</a:t>
            </a:r>
            <a:endParaRPr b="0" lang="en-US" sz="1740" spc="-1" strike="noStrike">
              <a:solidFill>
                <a:srgbClr val="000000"/>
              </a:solidFill>
              <a:latin typeface="Times New Roman"/>
            </a:endParaRPr>
          </a:p>
        </p:txBody>
      </p:sp>
      <p:sp>
        <p:nvSpPr>
          <p:cNvPr id="113" name=""/>
          <p:cNvSpPr txBox="1"/>
          <p:nvPr/>
        </p:nvSpPr>
        <p:spPr>
          <a:xfrm>
            <a:off x="1742040" y="3421440"/>
            <a:ext cx="13982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TAO Toolkit</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114" name=""/>
          <p:cNvSpPr txBox="1"/>
          <p:nvPr/>
        </p:nvSpPr>
        <p:spPr>
          <a:xfrm>
            <a:off x="3072960" y="3427200"/>
            <a:ext cx="2873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事前学習済みモデルを微調整</a:t>
            </a:r>
            <a:endParaRPr b="0" lang="en-US" sz="1740" spc="-1" strike="noStrike">
              <a:solidFill>
                <a:srgbClr val="000000"/>
              </a:solidFill>
              <a:latin typeface="Times New Roman"/>
            </a:endParaRPr>
          </a:p>
        </p:txBody>
      </p:sp>
      <p:sp>
        <p:nvSpPr>
          <p:cNvPr id="115" name=""/>
          <p:cNvSpPr txBox="1"/>
          <p:nvPr/>
        </p:nvSpPr>
        <p:spPr>
          <a:xfrm>
            <a:off x="5943960" y="3421440"/>
            <a:ext cx="19836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(Transfer Learning)</a:t>
            </a:r>
            <a:endParaRPr b="0" lang="en-US" sz="1740" spc="-1" strike="noStrike">
              <a:solidFill>
                <a:srgbClr val="000000"/>
              </a:solidFill>
              <a:latin typeface="Times New Roman"/>
            </a:endParaRPr>
          </a:p>
        </p:txBody>
      </p:sp>
      <p:sp>
        <p:nvSpPr>
          <p:cNvPr id="116" name=""/>
          <p:cNvSpPr/>
          <p:nvPr/>
        </p:nvSpPr>
        <p:spPr>
          <a:xfrm>
            <a:off x="1085760" y="3933720"/>
            <a:ext cx="76320" cy="76320"/>
          </a:xfrm>
          <a:custGeom>
            <a:avLst/>
            <a:gdLst/>
            <a:ahLst/>
            <a:rect l="0" t="0" r="r" b="b"/>
            <a:pathLst>
              <a:path w="212" h="212">
                <a:moveTo>
                  <a:pt x="212" y="106"/>
                </a:moveTo>
                <a:cubicBezTo>
                  <a:pt x="212" y="120"/>
                  <a:pt x="210" y="133"/>
                  <a:pt x="204" y="146"/>
                </a:cubicBezTo>
                <a:cubicBezTo>
                  <a:pt x="199" y="160"/>
                  <a:pt x="191" y="172"/>
                  <a:pt x="181" y="181"/>
                </a:cubicBezTo>
                <a:cubicBezTo>
                  <a:pt x="171" y="191"/>
                  <a:pt x="160" y="199"/>
                  <a:pt x="147" y="204"/>
                </a:cubicBezTo>
                <a:cubicBezTo>
                  <a:pt x="134" y="210"/>
                  <a:pt x="121" y="212"/>
                  <a:pt x="107" y="212"/>
                </a:cubicBezTo>
                <a:cubicBezTo>
                  <a:pt x="93" y="212"/>
                  <a:pt x="79" y="210"/>
                  <a:pt x="66" y="204"/>
                </a:cubicBezTo>
                <a:cubicBezTo>
                  <a:pt x="53" y="199"/>
                  <a:pt x="41" y="191"/>
                  <a:pt x="31" y="181"/>
                </a:cubicBezTo>
                <a:cubicBezTo>
                  <a:pt x="21" y="172"/>
                  <a:pt x="13" y="160"/>
                  <a:pt x="8" y="146"/>
                </a:cubicBezTo>
                <a:cubicBezTo>
                  <a:pt x="2" y="133"/>
                  <a:pt x="0" y="120"/>
                  <a:pt x="0" y="106"/>
                </a:cubicBezTo>
                <a:cubicBezTo>
                  <a:pt x="0" y="92"/>
                  <a:pt x="2" y="78"/>
                  <a:pt x="8" y="65"/>
                </a:cubicBezTo>
                <a:cubicBezTo>
                  <a:pt x="13" y="52"/>
                  <a:pt x="21" y="41"/>
                  <a:pt x="31" y="31"/>
                </a:cubicBezTo>
                <a:cubicBezTo>
                  <a:pt x="41" y="21"/>
                  <a:pt x="53" y="13"/>
                  <a:pt x="66" y="8"/>
                </a:cubicBezTo>
                <a:cubicBezTo>
                  <a:pt x="79" y="2"/>
                  <a:pt x="93" y="0"/>
                  <a:pt x="107" y="0"/>
                </a:cubicBezTo>
                <a:cubicBezTo>
                  <a:pt x="121" y="0"/>
                  <a:pt x="134" y="2"/>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7" name=""/>
          <p:cNvSpPr txBox="1"/>
          <p:nvPr/>
        </p:nvSpPr>
        <p:spPr>
          <a:xfrm>
            <a:off x="7911720" y="342720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するためのローコードツール。</a:t>
            </a:r>
            <a:endParaRPr b="0" lang="en-US" sz="1740" spc="-1" strike="noStrike">
              <a:solidFill>
                <a:srgbClr val="000000"/>
              </a:solidFill>
              <a:latin typeface="Times New Roman"/>
            </a:endParaRPr>
          </a:p>
        </p:txBody>
      </p:sp>
      <p:sp>
        <p:nvSpPr>
          <p:cNvPr id="118" name=""/>
          <p:cNvSpPr/>
          <p:nvPr/>
        </p:nvSpPr>
        <p:spPr>
          <a:xfrm>
            <a:off x="1523880" y="4267080"/>
            <a:ext cx="76320" cy="76320"/>
          </a:xfrm>
          <a:custGeom>
            <a:avLst/>
            <a:gdLst/>
            <a:ahLst/>
            <a:rect l="0" t="0" r="r" b="b"/>
            <a:pathLst>
              <a:path w="212" h="212">
                <a:moveTo>
                  <a:pt x="212" y="107"/>
                </a:moveTo>
                <a:cubicBezTo>
                  <a:pt x="212" y="121"/>
                  <a:pt x="210" y="134"/>
                  <a:pt x="204" y="147"/>
                </a:cubicBezTo>
                <a:cubicBezTo>
                  <a:pt x="199" y="160"/>
                  <a:pt x="191" y="172"/>
                  <a:pt x="182" y="182"/>
                </a:cubicBezTo>
                <a:cubicBezTo>
                  <a:pt x="172" y="191"/>
                  <a:pt x="160" y="199"/>
                  <a:pt x="147" y="204"/>
                </a:cubicBezTo>
                <a:cubicBezTo>
                  <a:pt x="134" y="210"/>
                  <a:pt x="121" y="212"/>
                  <a:pt x="107"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5"/>
                </a:cubicBezTo>
                <a:cubicBezTo>
                  <a:pt x="13" y="52"/>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2"/>
                  <a:pt x="204" y="65"/>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19" name=""/>
          <p:cNvSpPr txBox="1"/>
          <p:nvPr/>
        </p:nvSpPr>
        <p:spPr>
          <a:xfrm>
            <a:off x="1300320" y="3812040"/>
            <a:ext cx="27010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Inference &amp; Deployment</a:t>
            </a:r>
            <a:endParaRPr b="0" lang="en-US" sz="1740" spc="-1" strike="noStrike">
              <a:solidFill>
                <a:srgbClr val="000000"/>
              </a:solidFill>
              <a:latin typeface="Times New Roman"/>
            </a:endParaRPr>
          </a:p>
        </p:txBody>
      </p:sp>
      <p:sp>
        <p:nvSpPr>
          <p:cNvPr id="120" name=""/>
          <p:cNvSpPr txBox="1"/>
          <p:nvPr/>
        </p:nvSpPr>
        <p:spPr>
          <a:xfrm>
            <a:off x="1742040" y="4145400"/>
            <a:ext cx="11408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TensorRT</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121" name=""/>
          <p:cNvSpPr/>
          <p:nvPr/>
        </p:nvSpPr>
        <p:spPr>
          <a:xfrm>
            <a:off x="1523880" y="4647960"/>
            <a:ext cx="76320" cy="76680"/>
          </a:xfrm>
          <a:custGeom>
            <a:avLst/>
            <a:gdLst/>
            <a:ahLst/>
            <a:rect l="0" t="0" r="r" b="b"/>
            <a:pathLst>
              <a:path w="212" h="213">
                <a:moveTo>
                  <a:pt x="212" y="107"/>
                </a:moveTo>
                <a:cubicBezTo>
                  <a:pt x="212" y="121"/>
                  <a:pt x="210" y="135"/>
                  <a:pt x="204" y="147"/>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7"/>
                </a:cubicBezTo>
                <a:cubicBezTo>
                  <a:pt x="3" y="135"/>
                  <a:pt x="0" y="121"/>
                  <a:pt x="0" y="107"/>
                </a:cubicBezTo>
                <a:cubicBezTo>
                  <a:pt x="0" y="93"/>
                  <a:pt x="3" y="79"/>
                  <a:pt x="8" y="65"/>
                </a:cubicBezTo>
                <a:cubicBezTo>
                  <a:pt x="13" y="53"/>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3"/>
                  <a:pt x="204" y="65"/>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22" name=""/>
          <p:cNvSpPr txBox="1"/>
          <p:nvPr/>
        </p:nvSpPr>
        <p:spPr>
          <a:xfrm>
            <a:off x="2848680" y="4151160"/>
            <a:ext cx="66301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学習済みモデルを実運用向けに最適化・高速化する推論エンジン。</a:t>
            </a:r>
            <a:endParaRPr b="0" lang="en-US" sz="1740" spc="-1" strike="noStrike">
              <a:solidFill>
                <a:srgbClr val="000000"/>
              </a:solidFill>
              <a:latin typeface="Times New Roman"/>
            </a:endParaRPr>
          </a:p>
        </p:txBody>
      </p:sp>
      <p:sp>
        <p:nvSpPr>
          <p:cNvPr id="123" name=""/>
          <p:cNvSpPr txBox="1"/>
          <p:nvPr/>
        </p:nvSpPr>
        <p:spPr>
          <a:xfrm>
            <a:off x="1742040" y="4526280"/>
            <a:ext cx="42300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Triton Inference Server / NVIDIA NIM</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124" name=""/>
          <p:cNvSpPr txBox="1"/>
          <p:nvPr/>
        </p:nvSpPr>
        <p:spPr>
          <a:xfrm>
            <a:off x="5854680" y="4532040"/>
            <a:ext cx="5525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複数モデル・フレームワークに対応した推論サービング</a:t>
            </a:r>
            <a:endParaRPr b="0" lang="en-US" sz="1740" spc="-1" strike="noStrike">
              <a:solidFill>
                <a:srgbClr val="000000"/>
              </a:solidFill>
              <a:latin typeface="Times New Roman"/>
            </a:endParaRPr>
          </a:p>
        </p:txBody>
      </p:sp>
      <p:sp>
        <p:nvSpPr>
          <p:cNvPr id="125" name=""/>
          <p:cNvSpPr txBox="1"/>
          <p:nvPr/>
        </p:nvSpPr>
        <p:spPr>
          <a:xfrm>
            <a:off x="1742040" y="4865400"/>
            <a:ext cx="44204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ソフトウェア群と即時デプロイ用コンテナ。</a:t>
            </a:r>
            <a:endParaRPr b="0" lang="en-US" sz="1740" spc="-1" strike="noStrike">
              <a:solidFill>
                <a:srgbClr val="000000"/>
              </a:solidFill>
              <a:latin typeface="Times New Roman"/>
            </a:endParaRPr>
          </a:p>
        </p:txBody>
      </p:sp>
      <p:sp>
        <p:nvSpPr>
          <p:cNvPr id="126"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127"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128"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6</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3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3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32" name="" descr=""/>
          <p:cNvPicPr/>
          <p:nvPr/>
        </p:nvPicPr>
        <p:blipFill>
          <a:blip r:embed="rId1"/>
          <a:stretch/>
        </p:blipFill>
        <p:spPr>
          <a:xfrm>
            <a:off x="-2880" y="-2880"/>
            <a:ext cx="12197880" cy="6863760"/>
          </a:xfrm>
          <a:prstGeom prst="rect">
            <a:avLst/>
          </a:prstGeom>
          <a:ln w="0">
            <a:noFill/>
          </a:ln>
        </p:spPr>
      </p:pic>
      <p:sp>
        <p:nvSpPr>
          <p:cNvPr id="133" name=""/>
          <p:cNvSpPr txBox="1"/>
          <p:nvPr/>
        </p:nvSpPr>
        <p:spPr>
          <a:xfrm>
            <a:off x="747720" y="2018160"/>
            <a:ext cx="358812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1-3. Cloud Development</a:t>
            </a:r>
            <a:endParaRPr b="0" lang="en-US" sz="2390" spc="-1" strike="noStrike">
              <a:solidFill>
                <a:srgbClr val="000000"/>
              </a:solidFill>
              <a:latin typeface="Times New Roman"/>
            </a:endParaRPr>
          </a:p>
        </p:txBody>
      </p:sp>
      <p:sp>
        <p:nvSpPr>
          <p:cNvPr id="134" name=""/>
          <p:cNvSpPr txBox="1"/>
          <p:nvPr/>
        </p:nvSpPr>
        <p:spPr>
          <a:xfrm>
            <a:off x="747720" y="258876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クラウドネイティブな</a:t>
            </a:r>
            <a:endParaRPr b="0" lang="en-US" sz="1740" spc="-1" strike="noStrike">
              <a:solidFill>
                <a:srgbClr val="000000"/>
              </a:solidFill>
              <a:latin typeface="Times New Roman"/>
            </a:endParaRPr>
          </a:p>
        </p:txBody>
      </p:sp>
      <p:sp>
        <p:nvSpPr>
          <p:cNvPr id="135" name=""/>
          <p:cNvSpPr txBox="1"/>
          <p:nvPr/>
        </p:nvSpPr>
        <p:spPr>
          <a:xfrm>
            <a:off x="2956320" y="258300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136" name=""/>
          <p:cNvSpPr/>
          <p:nvPr/>
        </p:nvSpPr>
        <p:spPr>
          <a:xfrm>
            <a:off x="1085760" y="3190680"/>
            <a:ext cx="76320" cy="76680"/>
          </a:xfrm>
          <a:custGeom>
            <a:avLst/>
            <a:gdLst/>
            <a:ahLst/>
            <a:rect l="0" t="0" r="r" b="b"/>
            <a:pathLst>
              <a:path w="212" h="213">
                <a:moveTo>
                  <a:pt x="212" y="107"/>
                </a:moveTo>
                <a:cubicBezTo>
                  <a:pt x="212" y="121"/>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1"/>
                  <a:pt x="0" y="107"/>
                </a:cubicBezTo>
                <a:cubicBezTo>
                  <a:pt x="0" y="92"/>
                  <a:pt x="2" y="78"/>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8"/>
                  <a:pt x="212" y="92"/>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37" name=""/>
          <p:cNvSpPr txBox="1"/>
          <p:nvPr/>
        </p:nvSpPr>
        <p:spPr>
          <a:xfrm>
            <a:off x="3172320" y="258876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開発環境とリソース</a:t>
            </a:r>
            <a:endParaRPr b="0" lang="en-US" sz="1740" spc="-1" strike="noStrike">
              <a:solidFill>
                <a:srgbClr val="000000"/>
              </a:solidFill>
              <a:latin typeface="Times New Roman"/>
            </a:endParaRPr>
          </a:p>
        </p:txBody>
      </p:sp>
      <p:sp>
        <p:nvSpPr>
          <p:cNvPr id="138" name=""/>
          <p:cNvSpPr/>
          <p:nvPr/>
        </p:nvSpPr>
        <p:spPr>
          <a:xfrm>
            <a:off x="1523880" y="3514680"/>
            <a:ext cx="76320" cy="76320"/>
          </a:xfrm>
          <a:custGeom>
            <a:avLst/>
            <a:gdLst/>
            <a:ahLst/>
            <a:rect l="0" t="0" r="r" b="b"/>
            <a:pathLst>
              <a:path w="212" h="212">
                <a:moveTo>
                  <a:pt x="212" y="106"/>
                </a:moveTo>
                <a:cubicBezTo>
                  <a:pt x="212" y="120"/>
                  <a:pt x="210" y="134"/>
                  <a:pt x="204" y="147"/>
                </a:cubicBezTo>
                <a:cubicBezTo>
                  <a:pt x="199" y="160"/>
                  <a:pt x="191" y="171"/>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1"/>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39" name=""/>
          <p:cNvSpPr txBox="1"/>
          <p:nvPr/>
        </p:nvSpPr>
        <p:spPr>
          <a:xfrm>
            <a:off x="1300320" y="3069000"/>
            <a:ext cx="22622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Compute &amp; Platform</a:t>
            </a:r>
            <a:endParaRPr b="0" lang="en-US" sz="1740" spc="-1" strike="noStrike">
              <a:solidFill>
                <a:srgbClr val="000000"/>
              </a:solidFill>
              <a:latin typeface="Times New Roman"/>
            </a:endParaRPr>
          </a:p>
        </p:txBody>
      </p:sp>
      <p:sp>
        <p:nvSpPr>
          <p:cNvPr id="140" name=""/>
          <p:cNvSpPr txBox="1"/>
          <p:nvPr/>
        </p:nvSpPr>
        <p:spPr>
          <a:xfrm>
            <a:off x="1742040" y="3392640"/>
            <a:ext cx="23659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NVIDIA DGX Cloud </a:t>
            </a:r>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141" name=""/>
          <p:cNvSpPr txBox="1"/>
          <p:nvPr/>
        </p:nvSpPr>
        <p:spPr>
          <a:xfrm>
            <a:off x="4068000" y="339840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トレーニング特化</a:t>
            </a:r>
            <a:endParaRPr b="0" lang="en-US" sz="1740" spc="-1" strike="noStrike">
              <a:solidFill>
                <a:srgbClr val="000000"/>
              </a:solidFill>
              <a:latin typeface="Times New Roman"/>
            </a:endParaRPr>
          </a:p>
        </p:txBody>
      </p:sp>
      <p:sp>
        <p:nvSpPr>
          <p:cNvPr id="142" name=""/>
          <p:cNvSpPr txBox="1"/>
          <p:nvPr/>
        </p:nvSpPr>
        <p:spPr>
          <a:xfrm>
            <a:off x="5834880" y="3392640"/>
            <a:ext cx="456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GPU</a:t>
            </a:r>
            <a:endParaRPr b="0" lang="en-US" sz="1740" spc="-1" strike="noStrike">
              <a:solidFill>
                <a:srgbClr val="000000"/>
              </a:solidFill>
              <a:latin typeface="Times New Roman"/>
            </a:endParaRPr>
          </a:p>
        </p:txBody>
      </p:sp>
      <p:sp>
        <p:nvSpPr>
          <p:cNvPr id="143" name=""/>
          <p:cNvSpPr txBox="1"/>
          <p:nvPr/>
        </p:nvSpPr>
        <p:spPr>
          <a:xfrm>
            <a:off x="6290640" y="339840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クラスタ</a:t>
            </a:r>
            <a:endParaRPr b="0" lang="en-US" sz="1740" spc="-1" strike="noStrike">
              <a:solidFill>
                <a:srgbClr val="000000"/>
              </a:solidFill>
              <a:latin typeface="Times New Roman"/>
            </a:endParaRPr>
          </a:p>
        </p:txBody>
      </p:sp>
      <p:sp>
        <p:nvSpPr>
          <p:cNvPr id="144" name=""/>
          <p:cNvSpPr txBox="1"/>
          <p:nvPr/>
        </p:nvSpPr>
        <p:spPr>
          <a:xfrm>
            <a:off x="7174080" y="3392640"/>
            <a:ext cx="2094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 </a:t>
            </a:r>
            <a:r>
              <a:rPr b="1" lang="en-US" sz="1740" spc="-1" strike="noStrike">
                <a:solidFill>
                  <a:srgbClr val="1f2328"/>
                </a:solidFill>
                <a:latin typeface="NotoSans-Semi"/>
                <a:ea typeface="NotoSans-Semi"/>
              </a:rPr>
              <a:t>Base Command </a:t>
            </a:r>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145" name=""/>
          <p:cNvSpPr txBox="1"/>
          <p:nvPr/>
        </p:nvSpPr>
        <p:spPr>
          <a:xfrm>
            <a:off x="9243360" y="339840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ジョブ管理</a:t>
            </a:r>
            <a:endParaRPr b="0" lang="en-US" sz="1740" spc="-1" strike="noStrike">
              <a:solidFill>
                <a:srgbClr val="000000"/>
              </a:solidFill>
              <a:latin typeface="Times New Roman"/>
            </a:endParaRPr>
          </a:p>
        </p:txBody>
      </p:sp>
      <p:sp>
        <p:nvSpPr>
          <p:cNvPr id="146" name=""/>
          <p:cNvSpPr/>
          <p:nvPr/>
        </p:nvSpPr>
        <p:spPr>
          <a:xfrm>
            <a:off x="1085760" y="3904920"/>
            <a:ext cx="76320" cy="76680"/>
          </a:xfrm>
          <a:custGeom>
            <a:avLst/>
            <a:gdLst/>
            <a:ahLst/>
            <a:rect l="0" t="0" r="r" b="b"/>
            <a:pathLst>
              <a:path w="212" h="213">
                <a:moveTo>
                  <a:pt x="212" y="107"/>
                </a:moveTo>
                <a:cubicBezTo>
                  <a:pt x="212" y="121"/>
                  <a:pt x="210" y="135"/>
                  <a:pt x="204" y="148"/>
                </a:cubicBezTo>
                <a:cubicBezTo>
                  <a:pt x="199" y="161"/>
                  <a:pt x="191" y="172"/>
                  <a:pt x="181" y="182"/>
                </a:cubicBezTo>
                <a:cubicBezTo>
                  <a:pt x="171" y="192"/>
                  <a:pt x="160" y="200"/>
                  <a:pt x="147" y="205"/>
                </a:cubicBezTo>
                <a:cubicBezTo>
                  <a:pt x="134" y="210"/>
                  <a:pt x="121" y="213"/>
                  <a:pt x="107" y="213"/>
                </a:cubicBezTo>
                <a:cubicBezTo>
                  <a:pt x="93" y="213"/>
                  <a:pt x="79" y="210"/>
                  <a:pt x="66" y="205"/>
                </a:cubicBezTo>
                <a:cubicBezTo>
                  <a:pt x="53" y="200"/>
                  <a:pt x="41" y="192"/>
                  <a:pt x="31" y="182"/>
                </a:cubicBezTo>
                <a:cubicBezTo>
                  <a:pt x="21" y="172"/>
                  <a:pt x="13" y="161"/>
                  <a:pt x="8" y="148"/>
                </a:cubicBezTo>
                <a:cubicBezTo>
                  <a:pt x="2" y="135"/>
                  <a:pt x="0" y="121"/>
                  <a:pt x="0" y="107"/>
                </a:cubicBezTo>
                <a:cubicBezTo>
                  <a:pt x="0" y="93"/>
                  <a:pt x="2" y="80"/>
                  <a:pt x="8" y="67"/>
                </a:cubicBezTo>
                <a:cubicBezTo>
                  <a:pt x="13" y="54"/>
                  <a:pt x="21" y="42"/>
                  <a:pt x="31" y="32"/>
                </a:cubicBezTo>
                <a:cubicBezTo>
                  <a:pt x="41" y="22"/>
                  <a:pt x="53" y="14"/>
                  <a:pt x="66" y="8"/>
                </a:cubicBezTo>
                <a:cubicBezTo>
                  <a:pt x="79" y="3"/>
                  <a:pt x="93" y="0"/>
                  <a:pt x="107" y="0"/>
                </a:cubicBezTo>
                <a:cubicBezTo>
                  <a:pt x="121" y="0"/>
                  <a:pt x="134" y="3"/>
                  <a:pt x="147" y="8"/>
                </a:cubicBezTo>
                <a:cubicBezTo>
                  <a:pt x="160" y="14"/>
                  <a:pt x="171" y="22"/>
                  <a:pt x="181" y="32"/>
                </a:cubicBezTo>
                <a:cubicBezTo>
                  <a:pt x="191" y="42"/>
                  <a:pt x="199" y="54"/>
                  <a:pt x="204" y="67"/>
                </a:cubicBezTo>
                <a:cubicBezTo>
                  <a:pt x="210" y="80"/>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47" name=""/>
          <p:cNvSpPr txBox="1"/>
          <p:nvPr/>
        </p:nvSpPr>
        <p:spPr>
          <a:xfrm>
            <a:off x="10347840" y="339264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148" name=""/>
          <p:cNvSpPr/>
          <p:nvPr/>
        </p:nvSpPr>
        <p:spPr>
          <a:xfrm>
            <a:off x="1523880" y="4238280"/>
            <a:ext cx="76320" cy="76680"/>
          </a:xfrm>
          <a:custGeom>
            <a:avLst/>
            <a:gdLst/>
            <a:ahLst/>
            <a:rect l="0" t="0" r="r" b="b"/>
            <a:pathLst>
              <a:path w="212" h="213">
                <a:moveTo>
                  <a:pt x="212" y="106"/>
                </a:moveTo>
                <a:cubicBezTo>
                  <a:pt x="212" y="120"/>
                  <a:pt x="210" y="134"/>
                  <a:pt x="204" y="147"/>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7"/>
                </a:cubicBezTo>
                <a:cubicBezTo>
                  <a:pt x="3" y="134"/>
                  <a:pt x="0" y="120"/>
                  <a:pt x="0" y="106"/>
                </a:cubicBezTo>
                <a:cubicBezTo>
                  <a:pt x="0" y="92"/>
                  <a:pt x="3" y="79"/>
                  <a:pt x="8" y="66"/>
                </a:cubicBezTo>
                <a:cubicBezTo>
                  <a:pt x="13" y="53"/>
                  <a:pt x="21" y="41"/>
                  <a:pt x="31" y="31"/>
                </a:cubicBezTo>
                <a:cubicBezTo>
                  <a:pt x="41" y="22"/>
                  <a:pt x="52" y="14"/>
                  <a:pt x="65" y="9"/>
                </a:cubicBezTo>
                <a:cubicBezTo>
                  <a:pt x="78" y="3"/>
                  <a:pt x="92" y="0"/>
                  <a:pt x="107" y="0"/>
                </a:cubicBezTo>
                <a:cubicBezTo>
                  <a:pt x="121" y="0"/>
                  <a:pt x="134" y="3"/>
                  <a:pt x="147" y="9"/>
                </a:cubicBezTo>
                <a:cubicBezTo>
                  <a:pt x="160" y="14"/>
                  <a:pt x="172" y="22"/>
                  <a:pt x="182" y="31"/>
                </a:cubicBezTo>
                <a:cubicBezTo>
                  <a:pt x="191" y="41"/>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49" name=""/>
          <p:cNvSpPr txBox="1"/>
          <p:nvPr/>
        </p:nvSpPr>
        <p:spPr>
          <a:xfrm>
            <a:off x="1300320" y="3783240"/>
            <a:ext cx="18982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Software Catalog</a:t>
            </a:r>
            <a:endParaRPr b="0" lang="en-US" sz="1740" spc="-1" strike="noStrike">
              <a:solidFill>
                <a:srgbClr val="000000"/>
              </a:solidFill>
              <a:latin typeface="Times New Roman"/>
            </a:endParaRPr>
          </a:p>
        </p:txBody>
      </p:sp>
      <p:sp>
        <p:nvSpPr>
          <p:cNvPr id="150" name=""/>
          <p:cNvSpPr txBox="1"/>
          <p:nvPr/>
        </p:nvSpPr>
        <p:spPr>
          <a:xfrm>
            <a:off x="1742040" y="4116600"/>
            <a:ext cx="1957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NGC Catalog</a:t>
            </a:r>
            <a:r>
              <a:rPr b="0" lang="en-US" sz="1740" spc="-1" strike="noStrike">
                <a:solidFill>
                  <a:srgbClr val="1f2328"/>
                </a:solidFill>
                <a:latin typeface="NotoSans"/>
                <a:ea typeface="NotoSans"/>
              </a:rPr>
              <a:t>: GPU</a:t>
            </a:r>
            <a:endParaRPr b="0" lang="en-US" sz="1740" spc="-1" strike="noStrike">
              <a:solidFill>
                <a:srgbClr val="000000"/>
              </a:solidFill>
              <a:latin typeface="Times New Roman"/>
            </a:endParaRPr>
          </a:p>
        </p:txBody>
      </p:sp>
      <p:sp>
        <p:nvSpPr>
          <p:cNvPr id="151" name=""/>
          <p:cNvSpPr/>
          <p:nvPr/>
        </p:nvSpPr>
        <p:spPr>
          <a:xfrm>
            <a:off x="1523880" y="4619520"/>
            <a:ext cx="76320" cy="76320"/>
          </a:xfrm>
          <a:custGeom>
            <a:avLst/>
            <a:gdLst/>
            <a:ahLst/>
            <a:rect l="0" t="0" r="r" b="b"/>
            <a:pathLst>
              <a:path w="212" h="212">
                <a:moveTo>
                  <a:pt x="212" y="106"/>
                </a:moveTo>
                <a:cubicBezTo>
                  <a:pt x="212" y="120"/>
                  <a:pt x="210" y="133"/>
                  <a:pt x="204" y="147"/>
                </a:cubicBezTo>
                <a:cubicBezTo>
                  <a:pt x="199" y="160"/>
                  <a:pt x="191" y="172"/>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1"/>
                  <a:pt x="199" y="52"/>
                  <a:pt x="204" y="65"/>
                </a:cubicBezTo>
                <a:cubicBezTo>
                  <a:pt x="210" y="78"/>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52" name=""/>
          <p:cNvSpPr txBox="1"/>
          <p:nvPr/>
        </p:nvSpPr>
        <p:spPr>
          <a:xfrm>
            <a:off x="3674520" y="4122360"/>
            <a:ext cx="48621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最適化済みのコンテナ、学習済みモデルのハブ。</a:t>
            </a:r>
            <a:endParaRPr b="0" lang="en-US" sz="1740" spc="-1" strike="noStrike">
              <a:solidFill>
                <a:srgbClr val="000000"/>
              </a:solidFill>
              <a:latin typeface="Times New Roman"/>
            </a:endParaRPr>
          </a:p>
        </p:txBody>
      </p:sp>
      <p:sp>
        <p:nvSpPr>
          <p:cNvPr id="153" name=""/>
          <p:cNvSpPr txBox="1"/>
          <p:nvPr/>
        </p:nvSpPr>
        <p:spPr>
          <a:xfrm>
            <a:off x="1742040" y="4497840"/>
            <a:ext cx="13982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API Catalog</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154" name=""/>
          <p:cNvSpPr txBox="1"/>
          <p:nvPr/>
        </p:nvSpPr>
        <p:spPr>
          <a:xfrm>
            <a:off x="3109680" y="450360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最新基盤モデルや推論</a:t>
            </a:r>
            <a:endParaRPr b="0" lang="en-US" sz="1740" spc="-1" strike="noStrike">
              <a:solidFill>
                <a:srgbClr val="000000"/>
              </a:solidFill>
              <a:latin typeface="Times New Roman"/>
            </a:endParaRPr>
          </a:p>
        </p:txBody>
      </p:sp>
      <p:sp>
        <p:nvSpPr>
          <p:cNvPr id="155" name=""/>
          <p:cNvSpPr txBox="1"/>
          <p:nvPr/>
        </p:nvSpPr>
        <p:spPr>
          <a:xfrm>
            <a:off x="5318280" y="4497840"/>
            <a:ext cx="3495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API</a:t>
            </a:r>
            <a:endParaRPr b="0" lang="en-US" sz="1740" spc="-1" strike="noStrike">
              <a:solidFill>
                <a:srgbClr val="000000"/>
              </a:solidFill>
              <a:latin typeface="Times New Roman"/>
            </a:endParaRPr>
          </a:p>
        </p:txBody>
      </p:sp>
      <p:sp>
        <p:nvSpPr>
          <p:cNvPr id="156" name=""/>
          <p:cNvSpPr txBox="1"/>
          <p:nvPr/>
        </p:nvSpPr>
        <p:spPr>
          <a:xfrm>
            <a:off x="5667840" y="4503600"/>
            <a:ext cx="2873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をブラウザで試せるサイト。</a:t>
            </a:r>
            <a:endParaRPr b="0" lang="en-US" sz="1740" spc="-1" strike="noStrike">
              <a:solidFill>
                <a:srgbClr val="000000"/>
              </a:solidFill>
              <a:latin typeface="Times New Roman"/>
            </a:endParaRPr>
          </a:p>
        </p:txBody>
      </p:sp>
      <p:sp>
        <p:nvSpPr>
          <p:cNvPr id="157"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158"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159"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7</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63" name="" descr=""/>
          <p:cNvPicPr/>
          <p:nvPr/>
        </p:nvPicPr>
        <p:blipFill>
          <a:blip r:embed="rId1"/>
          <a:stretch/>
        </p:blipFill>
        <p:spPr>
          <a:xfrm>
            <a:off x="-2880" y="-2880"/>
            <a:ext cx="12197880" cy="6863760"/>
          </a:xfrm>
          <a:prstGeom prst="rect">
            <a:avLst/>
          </a:prstGeom>
          <a:ln w="0">
            <a:noFill/>
          </a:ln>
        </p:spPr>
      </p:pic>
      <p:sp>
        <p:nvSpPr>
          <p:cNvPr id="164" name=""/>
          <p:cNvSpPr txBox="1"/>
          <p:nvPr/>
        </p:nvSpPr>
        <p:spPr>
          <a:xfrm>
            <a:off x="747720" y="1827720"/>
            <a:ext cx="460332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1-4. Simulation &amp; Digital Twins</a:t>
            </a:r>
            <a:endParaRPr b="0" lang="en-US" sz="2390" spc="-1" strike="noStrike">
              <a:solidFill>
                <a:srgbClr val="000000"/>
              </a:solidFill>
              <a:latin typeface="Times New Roman"/>
            </a:endParaRPr>
          </a:p>
        </p:txBody>
      </p:sp>
      <p:sp>
        <p:nvSpPr>
          <p:cNvPr id="165" name=""/>
          <p:cNvSpPr txBox="1"/>
          <p:nvPr/>
        </p:nvSpPr>
        <p:spPr>
          <a:xfrm>
            <a:off x="747720" y="238896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物理</a:t>
            </a:r>
            <a:endParaRPr b="0" lang="en-US" sz="1740" spc="-1" strike="noStrike">
              <a:solidFill>
                <a:srgbClr val="000000"/>
              </a:solidFill>
              <a:latin typeface="Times New Roman"/>
            </a:endParaRPr>
          </a:p>
        </p:txBody>
      </p:sp>
      <p:sp>
        <p:nvSpPr>
          <p:cNvPr id="166" name=""/>
          <p:cNvSpPr txBox="1"/>
          <p:nvPr/>
        </p:nvSpPr>
        <p:spPr>
          <a:xfrm>
            <a:off x="1189440" y="238320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167" name=""/>
          <p:cNvSpPr/>
          <p:nvPr/>
        </p:nvSpPr>
        <p:spPr>
          <a:xfrm>
            <a:off x="1085760" y="2990520"/>
            <a:ext cx="76320" cy="76680"/>
          </a:xfrm>
          <a:custGeom>
            <a:avLst/>
            <a:gdLst/>
            <a:ahLst/>
            <a:rect l="0" t="0" r="r" b="b"/>
            <a:pathLst>
              <a:path w="212" h="213">
                <a:moveTo>
                  <a:pt x="212" y="107"/>
                </a:moveTo>
                <a:cubicBezTo>
                  <a:pt x="212" y="121"/>
                  <a:pt x="210" y="135"/>
                  <a:pt x="204" y="148"/>
                </a:cubicBezTo>
                <a:cubicBezTo>
                  <a:pt x="199" y="161"/>
                  <a:pt x="191" y="172"/>
                  <a:pt x="181" y="182"/>
                </a:cubicBezTo>
                <a:cubicBezTo>
                  <a:pt x="171" y="192"/>
                  <a:pt x="160" y="200"/>
                  <a:pt x="147" y="205"/>
                </a:cubicBezTo>
                <a:cubicBezTo>
                  <a:pt x="134" y="210"/>
                  <a:pt x="121" y="213"/>
                  <a:pt x="107" y="213"/>
                </a:cubicBezTo>
                <a:cubicBezTo>
                  <a:pt x="93" y="213"/>
                  <a:pt x="79" y="210"/>
                  <a:pt x="66" y="205"/>
                </a:cubicBezTo>
                <a:cubicBezTo>
                  <a:pt x="53" y="200"/>
                  <a:pt x="41" y="192"/>
                  <a:pt x="31" y="182"/>
                </a:cubicBezTo>
                <a:cubicBezTo>
                  <a:pt x="21" y="172"/>
                  <a:pt x="13" y="161"/>
                  <a:pt x="8" y="148"/>
                </a:cubicBezTo>
                <a:cubicBezTo>
                  <a:pt x="2" y="135"/>
                  <a:pt x="0" y="121"/>
                  <a:pt x="0" y="107"/>
                </a:cubicBezTo>
                <a:cubicBezTo>
                  <a:pt x="0" y="93"/>
                  <a:pt x="2" y="80"/>
                  <a:pt x="8" y="67"/>
                </a:cubicBezTo>
                <a:cubicBezTo>
                  <a:pt x="13" y="54"/>
                  <a:pt x="21" y="42"/>
                  <a:pt x="31" y="32"/>
                </a:cubicBezTo>
                <a:cubicBezTo>
                  <a:pt x="41" y="21"/>
                  <a:pt x="53" y="14"/>
                  <a:pt x="66" y="8"/>
                </a:cubicBezTo>
                <a:cubicBezTo>
                  <a:pt x="79" y="3"/>
                  <a:pt x="93" y="0"/>
                  <a:pt x="107" y="0"/>
                </a:cubicBezTo>
                <a:cubicBezTo>
                  <a:pt x="121" y="0"/>
                  <a:pt x="134" y="3"/>
                  <a:pt x="147" y="8"/>
                </a:cubicBezTo>
                <a:cubicBezTo>
                  <a:pt x="160" y="14"/>
                  <a:pt x="171" y="21"/>
                  <a:pt x="181" y="32"/>
                </a:cubicBezTo>
                <a:cubicBezTo>
                  <a:pt x="191" y="42"/>
                  <a:pt x="199" y="54"/>
                  <a:pt x="204" y="67"/>
                </a:cubicBezTo>
                <a:cubicBezTo>
                  <a:pt x="210" y="80"/>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68" name=""/>
          <p:cNvSpPr txBox="1"/>
          <p:nvPr/>
        </p:nvSpPr>
        <p:spPr>
          <a:xfrm>
            <a:off x="1405440" y="2388960"/>
            <a:ext cx="37573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と仮想世界のためのプラットフォーム</a:t>
            </a:r>
            <a:endParaRPr b="0" lang="en-US" sz="1740" spc="-1" strike="noStrike">
              <a:solidFill>
                <a:srgbClr val="000000"/>
              </a:solidFill>
              <a:latin typeface="Times New Roman"/>
            </a:endParaRPr>
          </a:p>
        </p:txBody>
      </p:sp>
      <p:sp>
        <p:nvSpPr>
          <p:cNvPr id="169" name=""/>
          <p:cNvSpPr/>
          <p:nvPr/>
        </p:nvSpPr>
        <p:spPr>
          <a:xfrm>
            <a:off x="1523880" y="3323880"/>
            <a:ext cx="76320" cy="76680"/>
          </a:xfrm>
          <a:custGeom>
            <a:avLst/>
            <a:gdLst/>
            <a:ahLst/>
            <a:rect l="0" t="0" r="r" b="b"/>
            <a:pathLst>
              <a:path w="212" h="213">
                <a:moveTo>
                  <a:pt x="212" y="106"/>
                </a:moveTo>
                <a:cubicBezTo>
                  <a:pt x="212" y="120"/>
                  <a:pt x="210" y="134"/>
                  <a:pt x="204" y="147"/>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7"/>
                </a:cubicBezTo>
                <a:cubicBezTo>
                  <a:pt x="3" y="134"/>
                  <a:pt x="0" y="120"/>
                  <a:pt x="0" y="106"/>
                </a:cubicBezTo>
                <a:cubicBezTo>
                  <a:pt x="0" y="92"/>
                  <a:pt x="3" y="79"/>
                  <a:pt x="8" y="66"/>
                </a:cubicBezTo>
                <a:cubicBezTo>
                  <a:pt x="13" y="53"/>
                  <a:pt x="21" y="41"/>
                  <a:pt x="31" y="31"/>
                </a:cubicBezTo>
                <a:cubicBezTo>
                  <a:pt x="41" y="22"/>
                  <a:pt x="52" y="14"/>
                  <a:pt x="65" y="9"/>
                </a:cubicBezTo>
                <a:cubicBezTo>
                  <a:pt x="78" y="3"/>
                  <a:pt x="92" y="0"/>
                  <a:pt x="107" y="0"/>
                </a:cubicBezTo>
                <a:cubicBezTo>
                  <a:pt x="121" y="0"/>
                  <a:pt x="134" y="3"/>
                  <a:pt x="147" y="9"/>
                </a:cubicBezTo>
                <a:cubicBezTo>
                  <a:pt x="160" y="14"/>
                  <a:pt x="172" y="22"/>
                  <a:pt x="182" y="31"/>
                </a:cubicBezTo>
                <a:cubicBezTo>
                  <a:pt x="191" y="41"/>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70" name=""/>
          <p:cNvSpPr txBox="1"/>
          <p:nvPr/>
        </p:nvSpPr>
        <p:spPr>
          <a:xfrm>
            <a:off x="1300320" y="2868840"/>
            <a:ext cx="15415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Core Platform</a:t>
            </a:r>
            <a:endParaRPr b="0" lang="en-US" sz="1740" spc="-1" strike="noStrike">
              <a:solidFill>
                <a:srgbClr val="000000"/>
              </a:solidFill>
              <a:latin typeface="Times New Roman"/>
            </a:endParaRPr>
          </a:p>
        </p:txBody>
      </p:sp>
      <p:sp>
        <p:nvSpPr>
          <p:cNvPr id="171" name=""/>
          <p:cNvSpPr txBox="1"/>
          <p:nvPr/>
        </p:nvSpPr>
        <p:spPr>
          <a:xfrm>
            <a:off x="1742040" y="3202200"/>
            <a:ext cx="32072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NVIDIA Omniverse </a:t>
            </a:r>
            <a:r>
              <a:rPr b="0" lang="en-US" sz="1740" spc="-1" strike="noStrike">
                <a:solidFill>
                  <a:srgbClr val="1f2328"/>
                </a:solidFill>
                <a:latin typeface="NotoSans"/>
                <a:ea typeface="NotoSans"/>
              </a:rPr>
              <a:t>(OpenUSD</a:t>
            </a:r>
            <a:endParaRPr b="0" lang="en-US" sz="1740" spc="-1" strike="noStrike">
              <a:solidFill>
                <a:srgbClr val="000000"/>
              </a:solidFill>
              <a:latin typeface="Times New Roman"/>
            </a:endParaRPr>
          </a:p>
        </p:txBody>
      </p:sp>
      <p:sp>
        <p:nvSpPr>
          <p:cNvPr id="172" name=""/>
          <p:cNvSpPr txBox="1"/>
          <p:nvPr/>
        </p:nvSpPr>
        <p:spPr>
          <a:xfrm>
            <a:off x="4900320" y="320796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ベースの</a:t>
            </a:r>
            <a:endParaRPr b="0" lang="en-US" sz="1740" spc="-1" strike="noStrike">
              <a:solidFill>
                <a:srgbClr val="000000"/>
              </a:solidFill>
              <a:latin typeface="Times New Roman"/>
            </a:endParaRPr>
          </a:p>
        </p:txBody>
      </p:sp>
      <p:sp>
        <p:nvSpPr>
          <p:cNvPr id="173" name=""/>
          <p:cNvSpPr txBox="1"/>
          <p:nvPr/>
        </p:nvSpPr>
        <p:spPr>
          <a:xfrm>
            <a:off x="5783760" y="3202200"/>
            <a:ext cx="2872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3D</a:t>
            </a:r>
            <a:endParaRPr b="0" lang="en-US" sz="1740" spc="-1" strike="noStrike">
              <a:solidFill>
                <a:srgbClr val="000000"/>
              </a:solidFill>
              <a:latin typeface="Times New Roman"/>
            </a:endParaRPr>
          </a:p>
        </p:txBody>
      </p:sp>
      <p:sp>
        <p:nvSpPr>
          <p:cNvPr id="174" name=""/>
          <p:cNvSpPr txBox="1"/>
          <p:nvPr/>
        </p:nvSpPr>
        <p:spPr>
          <a:xfrm>
            <a:off x="6071400" y="320796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プラットフォーム</a:t>
            </a:r>
            <a:endParaRPr b="0" lang="en-US" sz="1740" spc="-1" strike="noStrike">
              <a:solidFill>
                <a:srgbClr val="000000"/>
              </a:solidFill>
              <a:latin typeface="Times New Roman"/>
            </a:endParaRPr>
          </a:p>
        </p:txBody>
      </p:sp>
      <p:sp>
        <p:nvSpPr>
          <p:cNvPr id="175" name=""/>
          <p:cNvSpPr txBox="1"/>
          <p:nvPr/>
        </p:nvSpPr>
        <p:spPr>
          <a:xfrm>
            <a:off x="7838280" y="3202200"/>
            <a:ext cx="1428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 </a:t>
            </a:r>
            <a:r>
              <a:rPr b="1" lang="en-US" sz="1740" spc="-1" strike="noStrike">
                <a:solidFill>
                  <a:srgbClr val="1f2328"/>
                </a:solidFill>
                <a:latin typeface="NotoSans-Semi"/>
                <a:ea typeface="NotoSans-Semi"/>
              </a:rPr>
              <a:t>OpenUSD </a:t>
            </a:r>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176" name=""/>
          <p:cNvSpPr txBox="1"/>
          <p:nvPr/>
        </p:nvSpPr>
        <p:spPr>
          <a:xfrm>
            <a:off x="9257040" y="320796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オープン標準</a:t>
            </a:r>
            <a:endParaRPr b="0" lang="en-US" sz="1740" spc="-1" strike="noStrike">
              <a:solidFill>
                <a:srgbClr val="000000"/>
              </a:solidFill>
              <a:latin typeface="Times New Roman"/>
            </a:endParaRPr>
          </a:p>
        </p:txBody>
      </p:sp>
      <p:sp>
        <p:nvSpPr>
          <p:cNvPr id="177" name=""/>
          <p:cNvSpPr/>
          <p:nvPr/>
        </p:nvSpPr>
        <p:spPr>
          <a:xfrm>
            <a:off x="1085760" y="3714480"/>
            <a:ext cx="76320" cy="76680"/>
          </a:xfrm>
          <a:custGeom>
            <a:avLst/>
            <a:gdLst/>
            <a:ahLst/>
            <a:rect l="0" t="0" r="r" b="b"/>
            <a:pathLst>
              <a:path w="212" h="213">
                <a:moveTo>
                  <a:pt x="212" y="106"/>
                </a:moveTo>
                <a:cubicBezTo>
                  <a:pt x="212" y="120"/>
                  <a:pt x="210" y="135"/>
                  <a:pt x="204" y="148"/>
                </a:cubicBezTo>
                <a:cubicBezTo>
                  <a:pt x="199" y="161"/>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1"/>
                  <a:pt x="8" y="148"/>
                </a:cubicBezTo>
                <a:cubicBezTo>
                  <a:pt x="2" y="135"/>
                  <a:pt x="0" y="120"/>
                  <a:pt x="0" y="106"/>
                </a:cubicBezTo>
                <a:cubicBezTo>
                  <a:pt x="0" y="92"/>
                  <a:pt x="2" y="79"/>
                  <a:pt x="8" y="66"/>
                </a:cubicBezTo>
                <a:cubicBezTo>
                  <a:pt x="13" y="53"/>
                  <a:pt x="21" y="41"/>
                  <a:pt x="31" y="31"/>
                </a:cubicBezTo>
                <a:cubicBezTo>
                  <a:pt x="41" y="21"/>
                  <a:pt x="53" y="14"/>
                  <a:pt x="66" y="8"/>
                </a:cubicBezTo>
                <a:cubicBezTo>
                  <a:pt x="79" y="3"/>
                  <a:pt x="93" y="0"/>
                  <a:pt x="107" y="0"/>
                </a:cubicBezTo>
                <a:cubicBezTo>
                  <a:pt x="121" y="0"/>
                  <a:pt x="134" y="3"/>
                  <a:pt x="147" y="8"/>
                </a:cubicBezTo>
                <a:cubicBezTo>
                  <a:pt x="160" y="14"/>
                  <a:pt x="171" y="21"/>
                  <a:pt x="181" y="31"/>
                </a:cubicBezTo>
                <a:cubicBezTo>
                  <a:pt x="191" y="41"/>
                  <a:pt x="199" y="53"/>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8" name=""/>
          <p:cNvSpPr txBox="1"/>
          <p:nvPr/>
        </p:nvSpPr>
        <p:spPr>
          <a:xfrm>
            <a:off x="10582200" y="320220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179" name=""/>
          <p:cNvSpPr/>
          <p:nvPr/>
        </p:nvSpPr>
        <p:spPr>
          <a:xfrm>
            <a:off x="1523880" y="4038480"/>
            <a:ext cx="76320" cy="76320"/>
          </a:xfrm>
          <a:custGeom>
            <a:avLst/>
            <a:gdLst/>
            <a:ahLst/>
            <a:rect l="0" t="0" r="r" b="b"/>
            <a:pathLst>
              <a:path w="212" h="212">
                <a:moveTo>
                  <a:pt x="212" y="107"/>
                </a:moveTo>
                <a:cubicBezTo>
                  <a:pt x="212" y="121"/>
                  <a:pt x="210" y="134"/>
                  <a:pt x="204" y="147"/>
                </a:cubicBezTo>
                <a:cubicBezTo>
                  <a:pt x="199" y="160"/>
                  <a:pt x="191" y="172"/>
                  <a:pt x="182" y="182"/>
                </a:cubicBezTo>
                <a:cubicBezTo>
                  <a:pt x="172" y="191"/>
                  <a:pt x="160" y="199"/>
                  <a:pt x="147" y="204"/>
                </a:cubicBezTo>
                <a:cubicBezTo>
                  <a:pt x="134" y="210"/>
                  <a:pt x="121" y="212"/>
                  <a:pt x="107"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5"/>
                </a:cubicBezTo>
                <a:cubicBezTo>
                  <a:pt x="13" y="52"/>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2"/>
                  <a:pt x="204" y="65"/>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80" name=""/>
          <p:cNvSpPr txBox="1"/>
          <p:nvPr/>
        </p:nvSpPr>
        <p:spPr>
          <a:xfrm>
            <a:off x="1300320" y="3592800"/>
            <a:ext cx="22957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Robotics &amp; AI Agents</a:t>
            </a:r>
            <a:endParaRPr b="0" lang="en-US" sz="1740" spc="-1" strike="noStrike">
              <a:solidFill>
                <a:srgbClr val="000000"/>
              </a:solidFill>
              <a:latin typeface="Times New Roman"/>
            </a:endParaRPr>
          </a:p>
        </p:txBody>
      </p:sp>
      <p:sp>
        <p:nvSpPr>
          <p:cNvPr id="181" name=""/>
          <p:cNvSpPr txBox="1"/>
          <p:nvPr/>
        </p:nvSpPr>
        <p:spPr>
          <a:xfrm>
            <a:off x="1742040" y="3916800"/>
            <a:ext cx="11559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Sim</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182" name=""/>
          <p:cNvSpPr/>
          <p:nvPr/>
        </p:nvSpPr>
        <p:spPr>
          <a:xfrm>
            <a:off x="1523880" y="4429080"/>
            <a:ext cx="76320" cy="76320"/>
          </a:xfrm>
          <a:custGeom>
            <a:avLst/>
            <a:gdLst/>
            <a:ahLst/>
            <a:rect l="0" t="0" r="r" b="b"/>
            <a:pathLst>
              <a:path w="212" h="212">
                <a:moveTo>
                  <a:pt x="212" y="106"/>
                </a:moveTo>
                <a:cubicBezTo>
                  <a:pt x="212" y="120"/>
                  <a:pt x="210" y="134"/>
                  <a:pt x="204" y="147"/>
                </a:cubicBezTo>
                <a:cubicBezTo>
                  <a:pt x="199" y="160"/>
                  <a:pt x="191" y="171"/>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2"/>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2"/>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83" name=""/>
          <p:cNvSpPr txBox="1"/>
          <p:nvPr/>
        </p:nvSpPr>
        <p:spPr>
          <a:xfrm>
            <a:off x="2874240" y="3922560"/>
            <a:ext cx="68511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ロボティクス向けアプリケーションの学習・テスト用シミュレータ。</a:t>
            </a:r>
            <a:endParaRPr b="0" lang="en-US" sz="1740" spc="-1" strike="noStrike">
              <a:solidFill>
                <a:srgbClr val="000000"/>
              </a:solidFill>
              <a:latin typeface="Times New Roman"/>
            </a:endParaRPr>
          </a:p>
        </p:txBody>
      </p:sp>
      <p:sp>
        <p:nvSpPr>
          <p:cNvPr id="184" name=""/>
          <p:cNvSpPr txBox="1"/>
          <p:nvPr/>
        </p:nvSpPr>
        <p:spPr>
          <a:xfrm>
            <a:off x="1742040" y="4307040"/>
            <a:ext cx="9669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Cosmos</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185" name=""/>
          <p:cNvSpPr/>
          <p:nvPr/>
        </p:nvSpPr>
        <p:spPr>
          <a:xfrm>
            <a:off x="1523880" y="4819320"/>
            <a:ext cx="76320" cy="76680"/>
          </a:xfrm>
          <a:custGeom>
            <a:avLst/>
            <a:gdLst/>
            <a:ahLst/>
            <a:rect l="0" t="0" r="r" b="b"/>
            <a:pathLst>
              <a:path w="212" h="213">
                <a:moveTo>
                  <a:pt x="212" y="107"/>
                </a:moveTo>
                <a:cubicBezTo>
                  <a:pt x="212" y="121"/>
                  <a:pt x="210" y="135"/>
                  <a:pt x="204" y="148"/>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5"/>
                  <a:pt x="65" y="8"/>
                </a:cubicBezTo>
                <a:cubicBezTo>
                  <a:pt x="78" y="3"/>
                  <a:pt x="92" y="0"/>
                  <a:pt x="107" y="0"/>
                </a:cubicBezTo>
                <a:cubicBezTo>
                  <a:pt x="121" y="0"/>
                  <a:pt x="134" y="3"/>
                  <a:pt x="147" y="8"/>
                </a:cubicBezTo>
                <a:cubicBezTo>
                  <a:pt x="160" y="15"/>
                  <a:pt x="172" y="22"/>
                  <a:pt x="182" y="32"/>
                </a:cubicBezTo>
                <a:cubicBezTo>
                  <a:pt x="191" y="42"/>
                  <a:pt x="199" y="54"/>
                  <a:pt x="204" y="67"/>
                </a:cubicBezTo>
                <a:cubicBezTo>
                  <a:pt x="210" y="80"/>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86" name=""/>
          <p:cNvSpPr txBox="1"/>
          <p:nvPr/>
        </p:nvSpPr>
        <p:spPr>
          <a:xfrm>
            <a:off x="2699640" y="4312800"/>
            <a:ext cx="5525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物理世界を理解・生成するためのワールド基盤モデル。</a:t>
            </a:r>
            <a:endParaRPr b="0" lang="en-US" sz="1740" spc="-1" strike="noStrike">
              <a:solidFill>
                <a:srgbClr val="000000"/>
              </a:solidFill>
              <a:latin typeface="Times New Roman"/>
            </a:endParaRPr>
          </a:p>
        </p:txBody>
      </p:sp>
      <p:sp>
        <p:nvSpPr>
          <p:cNvPr id="187" name=""/>
          <p:cNvSpPr txBox="1"/>
          <p:nvPr/>
        </p:nvSpPr>
        <p:spPr>
          <a:xfrm>
            <a:off x="1742040" y="4697640"/>
            <a:ext cx="5328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ACE</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188" name=""/>
          <p:cNvSpPr txBox="1"/>
          <p:nvPr/>
        </p:nvSpPr>
        <p:spPr>
          <a:xfrm>
            <a:off x="2265840" y="4703400"/>
            <a:ext cx="24314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デジタルヒューマン向け</a:t>
            </a:r>
            <a:endParaRPr b="0" lang="en-US" sz="1740" spc="-1" strike="noStrike">
              <a:solidFill>
                <a:srgbClr val="000000"/>
              </a:solidFill>
              <a:latin typeface="Times New Roman"/>
            </a:endParaRPr>
          </a:p>
        </p:txBody>
      </p:sp>
      <p:sp>
        <p:nvSpPr>
          <p:cNvPr id="189" name=""/>
          <p:cNvSpPr txBox="1"/>
          <p:nvPr/>
        </p:nvSpPr>
        <p:spPr>
          <a:xfrm>
            <a:off x="4695480" y="469764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190" name=""/>
          <p:cNvSpPr txBox="1"/>
          <p:nvPr/>
        </p:nvSpPr>
        <p:spPr>
          <a:xfrm>
            <a:off x="4911480" y="470340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マイクロサービス。</a:t>
            </a:r>
            <a:endParaRPr b="0" lang="en-US" sz="1740" spc="-1" strike="noStrike">
              <a:solidFill>
                <a:srgbClr val="000000"/>
              </a:solidFill>
              <a:latin typeface="Times New Roman"/>
            </a:endParaRPr>
          </a:p>
        </p:txBody>
      </p:sp>
      <p:sp>
        <p:nvSpPr>
          <p:cNvPr id="191"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192"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193"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8</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9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9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97" name=""/>
          <p:cNvSpPr txBox="1"/>
          <p:nvPr/>
        </p:nvSpPr>
        <p:spPr>
          <a:xfrm>
            <a:off x="747720" y="3072960"/>
            <a:ext cx="4428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第</a:t>
            </a:r>
            <a:endParaRPr b="0" lang="en-US" sz="3480" spc="-1" strike="noStrike">
              <a:solidFill>
                <a:srgbClr val="000000"/>
              </a:solidFill>
              <a:latin typeface="Times New Roman"/>
            </a:endParaRPr>
          </a:p>
        </p:txBody>
      </p:sp>
      <p:sp>
        <p:nvSpPr>
          <p:cNvPr id="198" name=""/>
          <p:cNvSpPr txBox="1"/>
          <p:nvPr/>
        </p:nvSpPr>
        <p:spPr>
          <a:xfrm>
            <a:off x="1189440" y="3061440"/>
            <a:ext cx="44172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2</a:t>
            </a:r>
            <a:endParaRPr b="0" lang="en-US" sz="3480" spc="-1" strike="noStrike">
              <a:solidFill>
                <a:srgbClr val="000000"/>
              </a:solidFill>
              <a:latin typeface="Times New Roman"/>
            </a:endParaRPr>
          </a:p>
        </p:txBody>
      </p:sp>
      <p:sp>
        <p:nvSpPr>
          <p:cNvPr id="199" name=""/>
          <p:cNvSpPr txBox="1"/>
          <p:nvPr/>
        </p:nvSpPr>
        <p:spPr>
          <a:xfrm>
            <a:off x="1442160" y="3072960"/>
            <a:ext cx="4428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章</a:t>
            </a:r>
            <a:endParaRPr b="0" lang="en-US" sz="3480" spc="-1" strike="noStrike">
              <a:solidFill>
                <a:srgbClr val="000000"/>
              </a:solidFill>
              <a:latin typeface="Times New Roman"/>
            </a:endParaRPr>
          </a:p>
        </p:txBody>
      </p:sp>
      <p:sp>
        <p:nvSpPr>
          <p:cNvPr id="200" name=""/>
          <p:cNvSpPr txBox="1"/>
          <p:nvPr/>
        </p:nvSpPr>
        <p:spPr>
          <a:xfrm>
            <a:off x="1884240" y="3061440"/>
            <a:ext cx="431820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 Physical AI (Isaac) </a:t>
            </a:r>
            <a:endParaRPr b="0" lang="en-US" sz="3480" spc="-1" strike="noStrike">
              <a:solidFill>
                <a:srgbClr val="000000"/>
              </a:solidFill>
              <a:latin typeface="Times New Roman"/>
            </a:endParaRPr>
          </a:p>
        </p:txBody>
      </p:sp>
      <p:sp>
        <p:nvSpPr>
          <p:cNvPr id="201" name=""/>
          <p:cNvSpPr txBox="1"/>
          <p:nvPr/>
        </p:nvSpPr>
        <p:spPr>
          <a:xfrm>
            <a:off x="6084720" y="3072960"/>
            <a:ext cx="397836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エコシステムの整理</a:t>
            </a:r>
            <a:endParaRPr b="0" lang="en-US" sz="3480" spc="-1" strike="noStrike">
              <a:solidFill>
                <a:srgbClr val="000000"/>
              </a:solidFill>
              <a:latin typeface="Times New Roman"/>
            </a:endParaRPr>
          </a:p>
        </p:txBody>
      </p:sp>
      <p:sp>
        <p:nvSpPr>
          <p:cNvPr id="202"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203"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204" name=""/>
          <p:cNvSpPr txBox="1"/>
          <p:nvPr/>
        </p:nvSpPr>
        <p:spPr>
          <a:xfrm>
            <a:off x="11775600" y="6327720"/>
            <a:ext cx="22824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9</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8" name=""/>
          <p:cNvSpPr txBox="1"/>
          <p:nvPr/>
        </p:nvSpPr>
        <p:spPr>
          <a:xfrm>
            <a:off x="747720" y="1063800"/>
            <a:ext cx="17550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2-1. Isaac </a:t>
            </a:r>
            <a:endParaRPr b="0" lang="en-US" sz="2830" spc="-1" strike="noStrike">
              <a:solidFill>
                <a:srgbClr val="000000"/>
              </a:solidFill>
              <a:latin typeface="Times New Roman"/>
            </a:endParaRPr>
          </a:p>
        </p:txBody>
      </p:sp>
      <p:sp>
        <p:nvSpPr>
          <p:cNvPr id="209" name=""/>
          <p:cNvSpPr/>
          <p:nvPr/>
        </p:nvSpPr>
        <p:spPr>
          <a:xfrm>
            <a:off x="1085760" y="1923840"/>
            <a:ext cx="76320" cy="76680"/>
          </a:xfrm>
          <a:custGeom>
            <a:avLst/>
            <a:gdLst/>
            <a:ahLst/>
            <a:rect l="0" t="0" r="r" b="b"/>
            <a:pathLst>
              <a:path w="212" h="213">
                <a:moveTo>
                  <a:pt x="212" y="107"/>
                </a:moveTo>
                <a:cubicBezTo>
                  <a:pt x="212" y="121"/>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1"/>
                  <a:pt x="0" y="107"/>
                </a:cubicBezTo>
                <a:cubicBezTo>
                  <a:pt x="0" y="93"/>
                  <a:pt x="2" y="79"/>
                  <a:pt x="8" y="66"/>
                </a:cubicBezTo>
                <a:cubicBezTo>
                  <a:pt x="13" y="53"/>
                  <a:pt x="21" y="42"/>
                  <a:pt x="31" y="31"/>
                </a:cubicBezTo>
                <a:cubicBezTo>
                  <a:pt x="41" y="21"/>
                  <a:pt x="53" y="14"/>
                  <a:pt x="66" y="8"/>
                </a:cubicBezTo>
                <a:cubicBezTo>
                  <a:pt x="79" y="3"/>
                  <a:pt x="93" y="0"/>
                  <a:pt x="107" y="0"/>
                </a:cubicBezTo>
                <a:cubicBezTo>
                  <a:pt x="121" y="0"/>
                  <a:pt x="134" y="3"/>
                  <a:pt x="147" y="8"/>
                </a:cubicBezTo>
                <a:cubicBezTo>
                  <a:pt x="160" y="14"/>
                  <a:pt x="171" y="21"/>
                  <a:pt x="181" y="31"/>
                </a:cubicBezTo>
                <a:cubicBezTo>
                  <a:pt x="191" y="42"/>
                  <a:pt x="199" y="53"/>
                  <a:pt x="204" y="66"/>
                </a:cubicBezTo>
                <a:cubicBezTo>
                  <a:pt x="210" y="79"/>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0" name=""/>
          <p:cNvSpPr txBox="1"/>
          <p:nvPr/>
        </p:nvSpPr>
        <p:spPr>
          <a:xfrm>
            <a:off x="2471400" y="1073160"/>
            <a:ext cx="28782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コアサービス一覧</a:t>
            </a:r>
            <a:endParaRPr b="0" lang="en-US" sz="2830" spc="-1" strike="noStrike">
              <a:solidFill>
                <a:srgbClr val="000000"/>
              </a:solidFill>
              <a:latin typeface="Times New Roman"/>
            </a:endParaRPr>
          </a:p>
        </p:txBody>
      </p:sp>
      <p:sp>
        <p:nvSpPr>
          <p:cNvPr id="211" name=""/>
          <p:cNvSpPr/>
          <p:nvPr/>
        </p:nvSpPr>
        <p:spPr>
          <a:xfrm>
            <a:off x="1523880" y="2257200"/>
            <a:ext cx="76320" cy="76680"/>
          </a:xfrm>
          <a:custGeom>
            <a:avLst/>
            <a:gdLst/>
            <a:ahLst/>
            <a:rect l="0" t="0" r="r" b="b"/>
            <a:pathLst>
              <a:path w="212" h="213">
                <a:moveTo>
                  <a:pt x="212" y="106"/>
                </a:moveTo>
                <a:cubicBezTo>
                  <a:pt x="212" y="120"/>
                  <a:pt x="210" y="133"/>
                  <a:pt x="204" y="146"/>
                </a:cubicBezTo>
                <a:cubicBezTo>
                  <a:pt x="199" y="159"/>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59"/>
                  <a:pt x="8" y="146"/>
                </a:cubicBezTo>
                <a:cubicBezTo>
                  <a:pt x="3" y="133"/>
                  <a:pt x="0" y="120"/>
                  <a:pt x="0" y="106"/>
                </a:cubicBezTo>
                <a:cubicBezTo>
                  <a:pt x="0" y="92"/>
                  <a:pt x="3" y="78"/>
                  <a:pt x="8" y="65"/>
                </a:cubicBezTo>
                <a:cubicBezTo>
                  <a:pt x="13" y="52"/>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2"/>
                  <a:pt x="204" y="65"/>
                </a:cubicBezTo>
                <a:cubicBezTo>
                  <a:pt x="210" y="78"/>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12" name=""/>
          <p:cNvSpPr txBox="1"/>
          <p:nvPr/>
        </p:nvSpPr>
        <p:spPr>
          <a:xfrm>
            <a:off x="1300320" y="1802160"/>
            <a:ext cx="24649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Simulation &amp; Learning</a:t>
            </a:r>
            <a:endParaRPr b="0" lang="en-US" sz="1740" spc="-1" strike="noStrike">
              <a:solidFill>
                <a:srgbClr val="000000"/>
              </a:solidFill>
              <a:latin typeface="Times New Roman"/>
            </a:endParaRPr>
          </a:p>
        </p:txBody>
      </p:sp>
      <p:sp>
        <p:nvSpPr>
          <p:cNvPr id="213" name=""/>
          <p:cNvSpPr txBox="1"/>
          <p:nvPr/>
        </p:nvSpPr>
        <p:spPr>
          <a:xfrm>
            <a:off x="1742040" y="2135520"/>
            <a:ext cx="11559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Sim</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214" name=""/>
          <p:cNvSpPr/>
          <p:nvPr/>
        </p:nvSpPr>
        <p:spPr>
          <a:xfrm>
            <a:off x="1523880" y="2647800"/>
            <a:ext cx="76320" cy="76680"/>
          </a:xfrm>
          <a:custGeom>
            <a:avLst/>
            <a:gdLst/>
            <a:ahLst/>
            <a:rect l="0" t="0" r="r" b="b"/>
            <a:pathLst>
              <a:path w="212" h="213">
                <a:moveTo>
                  <a:pt x="212" y="106"/>
                </a:moveTo>
                <a:cubicBezTo>
                  <a:pt x="212" y="120"/>
                  <a:pt x="210" y="133"/>
                  <a:pt x="204" y="147"/>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2"/>
                  <a:pt x="204" y="65"/>
                </a:cubicBezTo>
                <a:cubicBezTo>
                  <a:pt x="210" y="78"/>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15" name=""/>
          <p:cNvSpPr txBox="1"/>
          <p:nvPr/>
        </p:nvSpPr>
        <p:spPr>
          <a:xfrm>
            <a:off x="2874240" y="2141280"/>
            <a:ext cx="4641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物理的に正確な仮想環境でのシミュレーション</a:t>
            </a:r>
            <a:endParaRPr b="0" lang="en-US" sz="1740" spc="-1" strike="noStrike">
              <a:solidFill>
                <a:srgbClr val="000000"/>
              </a:solidFill>
              <a:latin typeface="Times New Roman"/>
            </a:endParaRPr>
          </a:p>
        </p:txBody>
      </p:sp>
      <p:sp>
        <p:nvSpPr>
          <p:cNvPr id="216" name=""/>
          <p:cNvSpPr txBox="1"/>
          <p:nvPr/>
        </p:nvSpPr>
        <p:spPr>
          <a:xfrm>
            <a:off x="1742040" y="2526120"/>
            <a:ext cx="11484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Lab</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217" name=""/>
          <p:cNvSpPr/>
          <p:nvPr/>
        </p:nvSpPr>
        <p:spPr>
          <a:xfrm>
            <a:off x="1085760" y="3028680"/>
            <a:ext cx="76320" cy="76680"/>
          </a:xfrm>
          <a:custGeom>
            <a:avLst/>
            <a:gdLst/>
            <a:ahLst/>
            <a:rect l="0" t="0" r="r" b="b"/>
            <a:pathLst>
              <a:path w="212" h="213">
                <a:moveTo>
                  <a:pt x="212" y="106"/>
                </a:moveTo>
                <a:cubicBezTo>
                  <a:pt x="212" y="120"/>
                  <a:pt x="210" y="135"/>
                  <a:pt x="204" y="148"/>
                </a:cubicBezTo>
                <a:cubicBezTo>
                  <a:pt x="199" y="161"/>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1"/>
                  <a:pt x="8" y="148"/>
                </a:cubicBezTo>
                <a:cubicBezTo>
                  <a:pt x="2" y="135"/>
                  <a:pt x="0" y="120"/>
                  <a:pt x="0" y="106"/>
                </a:cubicBezTo>
                <a:cubicBezTo>
                  <a:pt x="0" y="92"/>
                  <a:pt x="2" y="79"/>
                  <a:pt x="8" y="66"/>
                </a:cubicBezTo>
                <a:cubicBezTo>
                  <a:pt x="13" y="53"/>
                  <a:pt x="21" y="41"/>
                  <a:pt x="31" y="31"/>
                </a:cubicBezTo>
                <a:cubicBezTo>
                  <a:pt x="41" y="21"/>
                  <a:pt x="53" y="14"/>
                  <a:pt x="66" y="8"/>
                </a:cubicBezTo>
                <a:cubicBezTo>
                  <a:pt x="79" y="3"/>
                  <a:pt x="93" y="0"/>
                  <a:pt x="107" y="0"/>
                </a:cubicBezTo>
                <a:cubicBezTo>
                  <a:pt x="121" y="0"/>
                  <a:pt x="134" y="3"/>
                  <a:pt x="147" y="8"/>
                </a:cubicBezTo>
                <a:cubicBezTo>
                  <a:pt x="160" y="14"/>
                  <a:pt x="171" y="21"/>
                  <a:pt x="181" y="31"/>
                </a:cubicBezTo>
                <a:cubicBezTo>
                  <a:pt x="191" y="41"/>
                  <a:pt x="199" y="53"/>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8" name=""/>
          <p:cNvSpPr txBox="1"/>
          <p:nvPr/>
        </p:nvSpPr>
        <p:spPr>
          <a:xfrm>
            <a:off x="2865960" y="2531880"/>
            <a:ext cx="48621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強化学習・ロボット学習のためのフレームワーク</a:t>
            </a:r>
            <a:endParaRPr b="0" lang="en-US" sz="1740" spc="-1" strike="noStrike">
              <a:solidFill>
                <a:srgbClr val="000000"/>
              </a:solidFill>
              <a:latin typeface="Times New Roman"/>
            </a:endParaRPr>
          </a:p>
        </p:txBody>
      </p:sp>
      <p:sp>
        <p:nvSpPr>
          <p:cNvPr id="219" name=""/>
          <p:cNvSpPr/>
          <p:nvPr/>
        </p:nvSpPr>
        <p:spPr>
          <a:xfrm>
            <a:off x="1523880" y="3362040"/>
            <a:ext cx="76320" cy="76680"/>
          </a:xfrm>
          <a:custGeom>
            <a:avLst/>
            <a:gdLst/>
            <a:ahLst/>
            <a:rect l="0" t="0" r="r" b="b"/>
            <a:pathLst>
              <a:path w="212" h="213">
                <a:moveTo>
                  <a:pt x="212" y="107"/>
                </a:moveTo>
                <a:cubicBezTo>
                  <a:pt x="212" y="121"/>
                  <a:pt x="210" y="135"/>
                  <a:pt x="204" y="148"/>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4"/>
                  <a:pt x="204" y="67"/>
                </a:cubicBezTo>
                <a:cubicBezTo>
                  <a:pt x="210" y="80"/>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20" name=""/>
          <p:cNvSpPr txBox="1"/>
          <p:nvPr/>
        </p:nvSpPr>
        <p:spPr>
          <a:xfrm>
            <a:off x="1300320" y="2907000"/>
            <a:ext cx="19440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Edge Deployment</a:t>
            </a:r>
            <a:endParaRPr b="0" lang="en-US" sz="1740" spc="-1" strike="noStrike">
              <a:solidFill>
                <a:srgbClr val="000000"/>
              </a:solidFill>
              <a:latin typeface="Times New Roman"/>
            </a:endParaRPr>
          </a:p>
        </p:txBody>
      </p:sp>
      <p:sp>
        <p:nvSpPr>
          <p:cNvPr id="221" name=""/>
          <p:cNvSpPr txBox="1"/>
          <p:nvPr/>
        </p:nvSpPr>
        <p:spPr>
          <a:xfrm>
            <a:off x="1742040" y="3240360"/>
            <a:ext cx="18648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ROS</a:t>
            </a:r>
            <a:r>
              <a:rPr b="0" lang="en-US" sz="1740" spc="-1" strike="noStrike">
                <a:solidFill>
                  <a:srgbClr val="1f2328"/>
                </a:solidFill>
                <a:latin typeface="NotoSans"/>
                <a:ea typeface="NotoSans"/>
              </a:rPr>
              <a:t>: ROS 2 </a:t>
            </a:r>
            <a:endParaRPr b="0" lang="en-US" sz="1740" spc="-1" strike="noStrike">
              <a:solidFill>
                <a:srgbClr val="000000"/>
              </a:solidFill>
              <a:latin typeface="Times New Roman"/>
            </a:endParaRPr>
          </a:p>
        </p:txBody>
      </p:sp>
      <p:sp>
        <p:nvSpPr>
          <p:cNvPr id="222" name=""/>
          <p:cNvSpPr/>
          <p:nvPr/>
        </p:nvSpPr>
        <p:spPr>
          <a:xfrm>
            <a:off x="1085760" y="3752640"/>
            <a:ext cx="76320" cy="76680"/>
          </a:xfrm>
          <a:custGeom>
            <a:avLst/>
            <a:gdLst/>
            <a:ahLst/>
            <a:rect l="0" t="0" r="r" b="b"/>
            <a:pathLst>
              <a:path w="212" h="213">
                <a:moveTo>
                  <a:pt x="212" y="107"/>
                </a:moveTo>
                <a:cubicBezTo>
                  <a:pt x="212" y="121"/>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1"/>
                  <a:pt x="0" y="107"/>
                </a:cubicBezTo>
                <a:cubicBezTo>
                  <a:pt x="0" y="93"/>
                  <a:pt x="2" y="79"/>
                  <a:pt x="8" y="66"/>
                </a:cubicBezTo>
                <a:cubicBezTo>
                  <a:pt x="13" y="53"/>
                  <a:pt x="21" y="42"/>
                  <a:pt x="31" y="32"/>
                </a:cubicBezTo>
                <a:cubicBezTo>
                  <a:pt x="41" y="22"/>
                  <a:pt x="53" y="14"/>
                  <a:pt x="66" y="8"/>
                </a:cubicBezTo>
                <a:cubicBezTo>
                  <a:pt x="79" y="3"/>
                  <a:pt x="93" y="0"/>
                  <a:pt x="107" y="0"/>
                </a:cubicBezTo>
                <a:cubicBezTo>
                  <a:pt x="121" y="0"/>
                  <a:pt x="134" y="3"/>
                  <a:pt x="147" y="8"/>
                </a:cubicBezTo>
                <a:cubicBezTo>
                  <a:pt x="160" y="14"/>
                  <a:pt x="171" y="22"/>
                  <a:pt x="181" y="32"/>
                </a:cubicBezTo>
                <a:cubicBezTo>
                  <a:pt x="191" y="42"/>
                  <a:pt x="199" y="53"/>
                  <a:pt x="204" y="66"/>
                </a:cubicBezTo>
                <a:cubicBezTo>
                  <a:pt x="210" y="79"/>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23" name=""/>
          <p:cNvSpPr txBox="1"/>
          <p:nvPr/>
        </p:nvSpPr>
        <p:spPr>
          <a:xfrm>
            <a:off x="3587400" y="3246120"/>
            <a:ext cx="3315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開発者向けの高速化ライブラリ群</a:t>
            </a:r>
            <a:endParaRPr b="0" lang="en-US" sz="1740" spc="-1" strike="noStrike">
              <a:solidFill>
                <a:srgbClr val="000000"/>
              </a:solidFill>
              <a:latin typeface="Times New Roman"/>
            </a:endParaRPr>
          </a:p>
        </p:txBody>
      </p:sp>
      <p:sp>
        <p:nvSpPr>
          <p:cNvPr id="224" name=""/>
          <p:cNvSpPr/>
          <p:nvPr/>
        </p:nvSpPr>
        <p:spPr>
          <a:xfrm>
            <a:off x="1523880" y="4086000"/>
            <a:ext cx="76320" cy="76680"/>
          </a:xfrm>
          <a:custGeom>
            <a:avLst/>
            <a:gdLst/>
            <a:ahLst/>
            <a:rect l="0" t="0" r="r" b="b"/>
            <a:pathLst>
              <a:path w="212" h="213">
                <a:moveTo>
                  <a:pt x="212" y="106"/>
                </a:moveTo>
                <a:cubicBezTo>
                  <a:pt x="212" y="120"/>
                  <a:pt x="210" y="133"/>
                  <a:pt x="204" y="146"/>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2"/>
                  <a:pt x="204" y="65"/>
                </a:cubicBezTo>
                <a:cubicBezTo>
                  <a:pt x="210" y="78"/>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25" name=""/>
          <p:cNvSpPr txBox="1"/>
          <p:nvPr/>
        </p:nvSpPr>
        <p:spPr>
          <a:xfrm>
            <a:off x="1300320" y="3630960"/>
            <a:ext cx="23932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Models &amp; Intelligence</a:t>
            </a:r>
            <a:endParaRPr b="0" lang="en-US" sz="1740" spc="-1" strike="noStrike">
              <a:solidFill>
                <a:srgbClr val="000000"/>
              </a:solidFill>
              <a:latin typeface="Times New Roman"/>
            </a:endParaRPr>
          </a:p>
        </p:txBody>
      </p:sp>
      <p:sp>
        <p:nvSpPr>
          <p:cNvPr id="226" name=""/>
          <p:cNvSpPr txBox="1"/>
          <p:nvPr/>
        </p:nvSpPr>
        <p:spPr>
          <a:xfrm>
            <a:off x="1742040" y="3964320"/>
            <a:ext cx="16437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Project GR00T</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227" name=""/>
          <p:cNvSpPr/>
          <p:nvPr/>
        </p:nvSpPr>
        <p:spPr>
          <a:xfrm>
            <a:off x="1523880" y="4466880"/>
            <a:ext cx="76320" cy="76680"/>
          </a:xfrm>
          <a:custGeom>
            <a:avLst/>
            <a:gdLst/>
            <a:ahLst/>
            <a:rect l="0" t="0" r="r" b="b"/>
            <a:pathLst>
              <a:path w="212" h="213">
                <a:moveTo>
                  <a:pt x="212" y="106"/>
                </a:moveTo>
                <a:cubicBezTo>
                  <a:pt x="212" y="120"/>
                  <a:pt x="210" y="134"/>
                  <a:pt x="204" y="148"/>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8"/>
                </a:cubicBezTo>
                <a:cubicBezTo>
                  <a:pt x="3" y="134"/>
                  <a:pt x="0" y="120"/>
                  <a:pt x="0" y="106"/>
                </a:cubicBezTo>
                <a:cubicBezTo>
                  <a:pt x="0" y="92"/>
                  <a:pt x="3" y="79"/>
                  <a:pt x="8" y="66"/>
                </a:cubicBezTo>
                <a:cubicBezTo>
                  <a:pt x="13" y="53"/>
                  <a:pt x="21" y="41"/>
                  <a:pt x="31" y="31"/>
                </a:cubicBezTo>
                <a:cubicBezTo>
                  <a:pt x="41" y="22"/>
                  <a:pt x="52" y="14"/>
                  <a:pt x="65" y="9"/>
                </a:cubicBezTo>
                <a:cubicBezTo>
                  <a:pt x="78" y="3"/>
                  <a:pt x="92" y="0"/>
                  <a:pt x="107" y="0"/>
                </a:cubicBezTo>
                <a:cubicBezTo>
                  <a:pt x="121" y="0"/>
                  <a:pt x="134" y="3"/>
                  <a:pt x="147" y="9"/>
                </a:cubicBezTo>
                <a:cubicBezTo>
                  <a:pt x="160" y="14"/>
                  <a:pt x="172" y="22"/>
                  <a:pt x="182" y="31"/>
                </a:cubicBezTo>
                <a:cubicBezTo>
                  <a:pt x="191" y="41"/>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28" name=""/>
          <p:cNvSpPr txBox="1"/>
          <p:nvPr/>
        </p:nvSpPr>
        <p:spPr>
          <a:xfrm>
            <a:off x="3354840" y="397008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ヒューマノイド向け基盤モデル</a:t>
            </a:r>
            <a:endParaRPr b="0" lang="en-US" sz="1740" spc="-1" strike="noStrike">
              <a:solidFill>
                <a:srgbClr val="000000"/>
              </a:solidFill>
              <a:latin typeface="Times New Roman"/>
            </a:endParaRPr>
          </a:p>
        </p:txBody>
      </p:sp>
      <p:sp>
        <p:nvSpPr>
          <p:cNvPr id="229" name=""/>
          <p:cNvSpPr txBox="1"/>
          <p:nvPr/>
        </p:nvSpPr>
        <p:spPr>
          <a:xfrm>
            <a:off x="1742040" y="4345200"/>
            <a:ext cx="9669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Cosmos</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230" name=""/>
          <p:cNvSpPr/>
          <p:nvPr/>
        </p:nvSpPr>
        <p:spPr>
          <a:xfrm>
            <a:off x="1085760" y="4857480"/>
            <a:ext cx="76320" cy="76680"/>
          </a:xfrm>
          <a:custGeom>
            <a:avLst/>
            <a:gdLst/>
            <a:ahLst/>
            <a:rect l="0" t="0" r="r" b="b"/>
            <a:pathLst>
              <a:path w="212" h="213">
                <a:moveTo>
                  <a:pt x="212" y="106"/>
                </a:moveTo>
                <a:cubicBezTo>
                  <a:pt x="212" y="121"/>
                  <a:pt x="210" y="135"/>
                  <a:pt x="204" y="148"/>
                </a:cubicBezTo>
                <a:cubicBezTo>
                  <a:pt x="199" y="161"/>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1"/>
                  <a:pt x="8" y="148"/>
                </a:cubicBezTo>
                <a:cubicBezTo>
                  <a:pt x="2" y="135"/>
                  <a:pt x="0" y="121"/>
                  <a:pt x="0" y="106"/>
                </a:cubicBezTo>
                <a:cubicBezTo>
                  <a:pt x="0" y="92"/>
                  <a:pt x="2" y="79"/>
                  <a:pt x="8" y="66"/>
                </a:cubicBezTo>
                <a:cubicBezTo>
                  <a:pt x="13" y="53"/>
                  <a:pt x="21" y="41"/>
                  <a:pt x="31" y="31"/>
                </a:cubicBezTo>
                <a:cubicBezTo>
                  <a:pt x="41" y="21"/>
                  <a:pt x="53" y="14"/>
                  <a:pt x="66" y="8"/>
                </a:cubicBezTo>
                <a:cubicBezTo>
                  <a:pt x="79" y="3"/>
                  <a:pt x="93" y="0"/>
                  <a:pt x="107" y="0"/>
                </a:cubicBezTo>
                <a:cubicBezTo>
                  <a:pt x="121" y="0"/>
                  <a:pt x="134" y="3"/>
                  <a:pt x="147" y="8"/>
                </a:cubicBezTo>
                <a:cubicBezTo>
                  <a:pt x="160" y="14"/>
                  <a:pt x="171" y="21"/>
                  <a:pt x="181" y="31"/>
                </a:cubicBezTo>
                <a:cubicBezTo>
                  <a:pt x="191" y="41"/>
                  <a:pt x="199" y="53"/>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31" name=""/>
          <p:cNvSpPr txBox="1"/>
          <p:nvPr/>
        </p:nvSpPr>
        <p:spPr>
          <a:xfrm>
            <a:off x="2699640" y="435096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物理世界を理解するワールドモデル</a:t>
            </a:r>
            <a:endParaRPr b="0" lang="en-US" sz="1740" spc="-1" strike="noStrike">
              <a:solidFill>
                <a:srgbClr val="000000"/>
              </a:solidFill>
              <a:latin typeface="Times New Roman"/>
            </a:endParaRPr>
          </a:p>
        </p:txBody>
      </p:sp>
      <p:sp>
        <p:nvSpPr>
          <p:cNvPr id="232" name=""/>
          <p:cNvSpPr/>
          <p:nvPr/>
        </p:nvSpPr>
        <p:spPr>
          <a:xfrm>
            <a:off x="1523880" y="5190840"/>
            <a:ext cx="76320" cy="76680"/>
          </a:xfrm>
          <a:custGeom>
            <a:avLst/>
            <a:gdLst/>
            <a:ahLst/>
            <a:rect l="0" t="0" r="r" b="b"/>
            <a:pathLst>
              <a:path w="212" h="213">
                <a:moveTo>
                  <a:pt x="212" y="107"/>
                </a:moveTo>
                <a:cubicBezTo>
                  <a:pt x="212" y="121"/>
                  <a:pt x="210" y="135"/>
                  <a:pt x="204" y="148"/>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2"/>
                  <a:pt x="199" y="54"/>
                  <a:pt x="204" y="67"/>
                </a:cubicBezTo>
                <a:cubicBezTo>
                  <a:pt x="210" y="80"/>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3" name=""/>
          <p:cNvSpPr txBox="1"/>
          <p:nvPr/>
        </p:nvSpPr>
        <p:spPr>
          <a:xfrm>
            <a:off x="1300320" y="4735800"/>
            <a:ext cx="18691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Applied Libraries</a:t>
            </a:r>
            <a:endParaRPr b="0" lang="en-US" sz="1740" spc="-1" strike="noStrike">
              <a:solidFill>
                <a:srgbClr val="000000"/>
              </a:solidFill>
              <a:latin typeface="Times New Roman"/>
            </a:endParaRPr>
          </a:p>
        </p:txBody>
      </p:sp>
      <p:sp>
        <p:nvSpPr>
          <p:cNvPr id="234" name=""/>
          <p:cNvSpPr txBox="1"/>
          <p:nvPr/>
        </p:nvSpPr>
        <p:spPr>
          <a:xfrm>
            <a:off x="1742040" y="5069160"/>
            <a:ext cx="24390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Perceptor</a:t>
            </a:r>
            <a:r>
              <a:rPr b="0" lang="en-US" sz="1740" spc="-1" strike="noStrike">
                <a:solidFill>
                  <a:srgbClr val="1f2328"/>
                </a:solidFill>
                <a:latin typeface="NotoSans"/>
                <a:ea typeface="NotoSans"/>
              </a:rPr>
              <a:t>: AMR (</a:t>
            </a:r>
            <a:endParaRPr b="0" lang="en-US" sz="1740" spc="-1" strike="noStrike">
              <a:solidFill>
                <a:srgbClr val="000000"/>
              </a:solidFill>
              <a:latin typeface="Times New Roman"/>
            </a:endParaRPr>
          </a:p>
        </p:txBody>
      </p:sp>
      <p:sp>
        <p:nvSpPr>
          <p:cNvPr id="235" name=""/>
          <p:cNvSpPr txBox="1"/>
          <p:nvPr/>
        </p:nvSpPr>
        <p:spPr>
          <a:xfrm>
            <a:off x="4136040" y="507492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自律移動ロボット</a:t>
            </a:r>
            <a:endParaRPr b="0" lang="en-US" sz="1740" spc="-1" strike="noStrike">
              <a:solidFill>
                <a:srgbClr val="000000"/>
              </a:solidFill>
              <a:latin typeface="Times New Roman"/>
            </a:endParaRPr>
          </a:p>
        </p:txBody>
      </p:sp>
      <p:sp>
        <p:nvSpPr>
          <p:cNvPr id="236" name=""/>
          <p:cNvSpPr txBox="1"/>
          <p:nvPr/>
        </p:nvSpPr>
        <p:spPr>
          <a:xfrm>
            <a:off x="5902920" y="506916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237" name=""/>
          <p:cNvSpPr/>
          <p:nvPr/>
        </p:nvSpPr>
        <p:spPr>
          <a:xfrm>
            <a:off x="1523880" y="5572080"/>
            <a:ext cx="76320" cy="76320"/>
          </a:xfrm>
          <a:custGeom>
            <a:avLst/>
            <a:gdLst/>
            <a:ahLst/>
            <a:rect l="0" t="0" r="r" b="b"/>
            <a:pathLst>
              <a:path w="212" h="212">
                <a:moveTo>
                  <a:pt x="212" y="106"/>
                </a:moveTo>
                <a:cubicBezTo>
                  <a:pt x="212" y="120"/>
                  <a:pt x="210" y="134"/>
                  <a:pt x="204" y="147"/>
                </a:cubicBezTo>
                <a:cubicBezTo>
                  <a:pt x="199" y="160"/>
                  <a:pt x="191" y="171"/>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2"/>
                  <a:pt x="31" y="32"/>
                </a:cubicBezTo>
                <a:cubicBezTo>
                  <a:pt x="41" y="21"/>
                  <a:pt x="52" y="13"/>
                  <a:pt x="65" y="8"/>
                </a:cubicBezTo>
                <a:cubicBezTo>
                  <a:pt x="78" y="2"/>
                  <a:pt x="92" y="0"/>
                  <a:pt x="107" y="0"/>
                </a:cubicBezTo>
                <a:cubicBezTo>
                  <a:pt x="121" y="0"/>
                  <a:pt x="134" y="2"/>
                  <a:pt x="147" y="8"/>
                </a:cubicBezTo>
                <a:cubicBezTo>
                  <a:pt x="160" y="13"/>
                  <a:pt x="172" y="21"/>
                  <a:pt x="182" y="32"/>
                </a:cubicBezTo>
                <a:cubicBezTo>
                  <a:pt x="191" y="42"/>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8" name=""/>
          <p:cNvSpPr txBox="1"/>
          <p:nvPr/>
        </p:nvSpPr>
        <p:spPr>
          <a:xfrm>
            <a:off x="6026760" y="507492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向け視覚認識</a:t>
            </a:r>
            <a:endParaRPr b="0" lang="en-US" sz="1740" spc="-1" strike="noStrike">
              <a:solidFill>
                <a:srgbClr val="000000"/>
              </a:solidFill>
              <a:latin typeface="Times New Roman"/>
            </a:endParaRPr>
          </a:p>
        </p:txBody>
      </p:sp>
      <p:sp>
        <p:nvSpPr>
          <p:cNvPr id="239" name=""/>
          <p:cNvSpPr txBox="1"/>
          <p:nvPr/>
        </p:nvSpPr>
        <p:spPr>
          <a:xfrm>
            <a:off x="1742040" y="5450040"/>
            <a:ext cx="21236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Manipulator</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240" name=""/>
          <p:cNvSpPr txBox="1"/>
          <p:nvPr/>
        </p:nvSpPr>
        <p:spPr>
          <a:xfrm>
            <a:off x="3812040" y="545580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マニピュレータ向け動作計画・制御</a:t>
            </a:r>
            <a:endParaRPr b="0" lang="en-US" sz="1740" spc="-1" strike="noStrike">
              <a:solidFill>
                <a:srgbClr val="000000"/>
              </a:solidFill>
              <a:latin typeface="Times New Roman"/>
            </a:endParaRPr>
          </a:p>
        </p:txBody>
      </p:sp>
      <p:sp>
        <p:nvSpPr>
          <p:cNvPr id="241"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242"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243"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10</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7" name=""/>
          <p:cNvSpPr txBox="1"/>
          <p:nvPr/>
        </p:nvSpPr>
        <p:spPr>
          <a:xfrm>
            <a:off x="747720" y="1406880"/>
            <a:ext cx="263124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2-2. Isaac Sim (</a:t>
            </a:r>
            <a:endParaRPr b="0" lang="en-US" sz="2830" spc="-1" strike="noStrike">
              <a:solidFill>
                <a:srgbClr val="000000"/>
              </a:solidFill>
              <a:latin typeface="Times New Roman"/>
            </a:endParaRPr>
          </a:p>
        </p:txBody>
      </p:sp>
      <p:sp>
        <p:nvSpPr>
          <p:cNvPr id="248" name=""/>
          <p:cNvSpPr txBox="1"/>
          <p:nvPr/>
        </p:nvSpPr>
        <p:spPr>
          <a:xfrm>
            <a:off x="3327480" y="1416240"/>
            <a:ext cx="7200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仮想</a:t>
            </a:r>
            <a:endParaRPr b="0" lang="en-US" sz="2830" spc="-1" strike="noStrike">
              <a:solidFill>
                <a:srgbClr val="000000"/>
              </a:solidFill>
              <a:latin typeface="Times New Roman"/>
            </a:endParaRPr>
          </a:p>
        </p:txBody>
      </p:sp>
      <p:sp>
        <p:nvSpPr>
          <p:cNvPr id="249" name=""/>
          <p:cNvSpPr txBox="1"/>
          <p:nvPr/>
        </p:nvSpPr>
        <p:spPr>
          <a:xfrm>
            <a:off x="4045680" y="1406880"/>
            <a:ext cx="35856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endParaRPr b="0" lang="en-US" sz="2830" spc="-1" strike="noStrike">
              <a:solidFill>
                <a:srgbClr val="000000"/>
              </a:solidFill>
              <a:latin typeface="Times New Roman"/>
            </a:endParaRPr>
          </a:p>
        </p:txBody>
      </p:sp>
      <p:sp>
        <p:nvSpPr>
          <p:cNvPr id="250" name=""/>
          <p:cNvSpPr txBox="1"/>
          <p:nvPr/>
        </p:nvSpPr>
        <p:spPr>
          <a:xfrm>
            <a:off x="4255200" y="1416240"/>
            <a:ext cx="36036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と</a:t>
            </a:r>
            <a:endParaRPr b="0" lang="en-US" sz="2830" spc="-1" strike="noStrike">
              <a:solidFill>
                <a:srgbClr val="000000"/>
              </a:solidFill>
              <a:latin typeface="Times New Roman"/>
            </a:endParaRPr>
          </a:p>
        </p:txBody>
      </p:sp>
      <p:sp>
        <p:nvSpPr>
          <p:cNvPr id="251" name=""/>
          <p:cNvSpPr txBox="1"/>
          <p:nvPr/>
        </p:nvSpPr>
        <p:spPr>
          <a:xfrm>
            <a:off x="4614120" y="1406880"/>
            <a:ext cx="20610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r>
              <a:rPr b="1" lang="en-US" sz="2830" spc="-1" strike="noStrike">
                <a:solidFill>
                  <a:srgbClr val="1f2328"/>
                </a:solidFill>
                <a:latin typeface="NotoSans-Semi"/>
                <a:ea typeface="NotoSans-Semi"/>
              </a:rPr>
              <a:t>Isaac ROS (</a:t>
            </a:r>
            <a:endParaRPr b="0" lang="en-US" sz="2830" spc="-1" strike="noStrike">
              <a:solidFill>
                <a:srgbClr val="000000"/>
              </a:solidFill>
              <a:latin typeface="Times New Roman"/>
            </a:endParaRPr>
          </a:p>
        </p:txBody>
      </p:sp>
      <p:sp>
        <p:nvSpPr>
          <p:cNvPr id="252" name=""/>
          <p:cNvSpPr txBox="1"/>
          <p:nvPr/>
        </p:nvSpPr>
        <p:spPr>
          <a:xfrm>
            <a:off x="6634080" y="1416240"/>
            <a:ext cx="7200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物理</a:t>
            </a:r>
            <a:endParaRPr b="0" lang="en-US" sz="2830" spc="-1" strike="noStrike">
              <a:solidFill>
                <a:srgbClr val="000000"/>
              </a:solidFill>
              <a:latin typeface="Times New Roman"/>
            </a:endParaRPr>
          </a:p>
        </p:txBody>
      </p:sp>
      <p:sp>
        <p:nvSpPr>
          <p:cNvPr id="253" name=""/>
          <p:cNvSpPr txBox="1"/>
          <p:nvPr/>
        </p:nvSpPr>
        <p:spPr>
          <a:xfrm>
            <a:off x="7352280" y="1406880"/>
            <a:ext cx="35856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endParaRPr b="0" lang="en-US" sz="2830" spc="-1" strike="noStrike">
              <a:solidFill>
                <a:srgbClr val="000000"/>
              </a:solidFill>
              <a:latin typeface="Times New Roman"/>
            </a:endParaRPr>
          </a:p>
        </p:txBody>
      </p:sp>
      <p:sp>
        <p:nvSpPr>
          <p:cNvPr id="254" name=""/>
          <p:cNvSpPr txBox="1"/>
          <p:nvPr/>
        </p:nvSpPr>
        <p:spPr>
          <a:xfrm>
            <a:off x="7561800" y="1416240"/>
            <a:ext cx="107964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の役割</a:t>
            </a:r>
            <a:endParaRPr b="0" lang="en-US" sz="2830" spc="-1" strike="noStrike">
              <a:solidFill>
                <a:srgbClr val="000000"/>
              </a:solidFill>
              <a:latin typeface="Times New Roman"/>
            </a:endParaRPr>
          </a:p>
        </p:txBody>
      </p:sp>
      <p:sp>
        <p:nvSpPr>
          <p:cNvPr id="255" name=""/>
          <p:cNvSpPr txBox="1"/>
          <p:nvPr/>
        </p:nvSpPr>
        <p:spPr>
          <a:xfrm>
            <a:off x="747720" y="2144880"/>
            <a:ext cx="2383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AI</a:t>
            </a:r>
            <a:endParaRPr b="0" lang="en-US" sz="1740" spc="-1" strike="noStrike">
              <a:solidFill>
                <a:srgbClr val="000000"/>
              </a:solidFill>
              <a:latin typeface="Times New Roman"/>
            </a:endParaRPr>
          </a:p>
        </p:txBody>
      </p:sp>
      <p:sp>
        <p:nvSpPr>
          <p:cNvPr id="256" name=""/>
          <p:cNvSpPr/>
          <p:nvPr/>
        </p:nvSpPr>
        <p:spPr>
          <a:xfrm>
            <a:off x="1085760" y="2752560"/>
            <a:ext cx="76320" cy="76680"/>
          </a:xfrm>
          <a:custGeom>
            <a:avLst/>
            <a:gdLst/>
            <a:ahLst/>
            <a:rect l="0" t="0" r="r" b="b"/>
            <a:pathLst>
              <a:path w="212" h="213">
                <a:moveTo>
                  <a:pt x="212" y="107"/>
                </a:moveTo>
                <a:cubicBezTo>
                  <a:pt x="212" y="121"/>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1"/>
                  <a:pt x="0" y="107"/>
                </a:cubicBezTo>
                <a:cubicBezTo>
                  <a:pt x="0" y="93"/>
                  <a:pt x="2" y="79"/>
                  <a:pt x="8" y="66"/>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6"/>
                </a:cubicBezTo>
                <a:cubicBezTo>
                  <a:pt x="210" y="79"/>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7" name=""/>
          <p:cNvSpPr txBox="1"/>
          <p:nvPr/>
        </p:nvSpPr>
        <p:spPr>
          <a:xfrm>
            <a:off x="977760" y="2150640"/>
            <a:ext cx="3315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・ロボティクス開発における両輪</a:t>
            </a:r>
            <a:endParaRPr b="0" lang="en-US" sz="1740" spc="-1" strike="noStrike">
              <a:solidFill>
                <a:srgbClr val="000000"/>
              </a:solidFill>
              <a:latin typeface="Times New Roman"/>
            </a:endParaRPr>
          </a:p>
        </p:txBody>
      </p:sp>
      <p:sp>
        <p:nvSpPr>
          <p:cNvPr id="258" name=""/>
          <p:cNvSpPr txBox="1"/>
          <p:nvPr/>
        </p:nvSpPr>
        <p:spPr>
          <a:xfrm>
            <a:off x="1300320" y="2630880"/>
            <a:ext cx="24102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Sim / Isaac Lab (</a:t>
            </a:r>
            <a:endParaRPr b="0" lang="en-US" sz="1740" spc="-1" strike="noStrike">
              <a:solidFill>
                <a:srgbClr val="000000"/>
              </a:solidFill>
              <a:latin typeface="Times New Roman"/>
            </a:endParaRPr>
          </a:p>
        </p:txBody>
      </p:sp>
      <p:sp>
        <p:nvSpPr>
          <p:cNvPr id="259" name=""/>
          <p:cNvSpPr txBox="1"/>
          <p:nvPr/>
        </p:nvSpPr>
        <p:spPr>
          <a:xfrm>
            <a:off x="3654720" y="263664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仮想空間</a:t>
            </a:r>
            <a:endParaRPr b="0" lang="en-US" sz="1740" spc="-1" strike="noStrike">
              <a:solidFill>
                <a:srgbClr val="000000"/>
              </a:solidFill>
              <a:latin typeface="Times New Roman"/>
            </a:endParaRPr>
          </a:p>
        </p:txBody>
      </p:sp>
      <p:sp>
        <p:nvSpPr>
          <p:cNvPr id="260" name=""/>
          <p:cNvSpPr/>
          <p:nvPr/>
        </p:nvSpPr>
        <p:spPr>
          <a:xfrm>
            <a:off x="1523880" y="3085920"/>
            <a:ext cx="76320" cy="76680"/>
          </a:xfrm>
          <a:custGeom>
            <a:avLst/>
            <a:gdLst/>
            <a:ahLst/>
            <a:rect l="0" t="0" r="r" b="b"/>
            <a:pathLst>
              <a:path w="212" h="213">
                <a:moveTo>
                  <a:pt x="212" y="106"/>
                </a:moveTo>
                <a:cubicBezTo>
                  <a:pt x="212" y="120"/>
                  <a:pt x="210" y="133"/>
                  <a:pt x="204" y="146"/>
                </a:cubicBezTo>
                <a:cubicBezTo>
                  <a:pt x="199" y="159"/>
                  <a:pt x="191" y="171"/>
                  <a:pt x="182" y="181"/>
                </a:cubicBezTo>
                <a:cubicBezTo>
                  <a:pt x="172" y="192"/>
                  <a:pt x="160" y="199"/>
                  <a:pt x="147" y="205"/>
                </a:cubicBezTo>
                <a:cubicBezTo>
                  <a:pt x="134" y="210"/>
                  <a:pt x="121" y="213"/>
                  <a:pt x="107" y="213"/>
                </a:cubicBezTo>
                <a:cubicBezTo>
                  <a:pt x="92" y="213"/>
                  <a:pt x="78" y="210"/>
                  <a:pt x="65" y="205"/>
                </a:cubicBezTo>
                <a:cubicBezTo>
                  <a:pt x="52" y="199"/>
                  <a:pt x="41" y="192"/>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2"/>
                  <a:pt x="204" y="65"/>
                </a:cubicBezTo>
                <a:cubicBezTo>
                  <a:pt x="210" y="78"/>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1" name=""/>
          <p:cNvSpPr txBox="1"/>
          <p:nvPr/>
        </p:nvSpPr>
        <p:spPr>
          <a:xfrm>
            <a:off x="4538160" y="263088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262" name=""/>
          <p:cNvSpPr txBox="1"/>
          <p:nvPr/>
        </p:nvSpPr>
        <p:spPr>
          <a:xfrm>
            <a:off x="1742040" y="297000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役割</a:t>
            </a:r>
            <a:endParaRPr b="0" lang="en-US" sz="1740" spc="-1" strike="noStrike">
              <a:solidFill>
                <a:srgbClr val="000000"/>
              </a:solidFill>
              <a:latin typeface="Times New Roman"/>
            </a:endParaRPr>
          </a:p>
        </p:txBody>
      </p:sp>
      <p:sp>
        <p:nvSpPr>
          <p:cNvPr id="263" name=""/>
          <p:cNvSpPr txBox="1"/>
          <p:nvPr/>
        </p:nvSpPr>
        <p:spPr>
          <a:xfrm>
            <a:off x="2183760" y="296424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264" name=""/>
          <p:cNvSpPr txBox="1"/>
          <p:nvPr/>
        </p:nvSpPr>
        <p:spPr>
          <a:xfrm>
            <a:off x="2302920" y="297000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ロボットの設計、テスト、</a:t>
            </a:r>
            <a:endParaRPr b="0" lang="en-US" sz="1740" spc="-1" strike="noStrike">
              <a:solidFill>
                <a:srgbClr val="000000"/>
              </a:solidFill>
              <a:latin typeface="Times New Roman"/>
            </a:endParaRPr>
          </a:p>
        </p:txBody>
      </p:sp>
      <p:sp>
        <p:nvSpPr>
          <p:cNvPr id="265" name=""/>
          <p:cNvSpPr txBox="1"/>
          <p:nvPr/>
        </p:nvSpPr>
        <p:spPr>
          <a:xfrm>
            <a:off x="4953240" y="296424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266" name=""/>
          <p:cNvSpPr txBox="1"/>
          <p:nvPr/>
        </p:nvSpPr>
        <p:spPr>
          <a:xfrm>
            <a:off x="5169240" y="297000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モデル用合成データ生成、強化学習</a:t>
            </a:r>
            <a:endParaRPr b="0" lang="en-US" sz="1740" spc="-1" strike="noStrike">
              <a:solidFill>
                <a:srgbClr val="000000"/>
              </a:solidFill>
              <a:latin typeface="Times New Roman"/>
            </a:endParaRPr>
          </a:p>
        </p:txBody>
      </p:sp>
      <p:sp>
        <p:nvSpPr>
          <p:cNvPr id="267" name=""/>
          <p:cNvSpPr/>
          <p:nvPr/>
        </p:nvSpPr>
        <p:spPr>
          <a:xfrm>
            <a:off x="1523880" y="3466800"/>
            <a:ext cx="76320" cy="76680"/>
          </a:xfrm>
          <a:custGeom>
            <a:avLst/>
            <a:gdLst/>
            <a:ahLst/>
            <a:rect l="0" t="0" r="r" b="b"/>
            <a:pathLst>
              <a:path w="212" h="213">
                <a:moveTo>
                  <a:pt x="212" y="106"/>
                </a:moveTo>
                <a:cubicBezTo>
                  <a:pt x="212" y="120"/>
                  <a:pt x="210" y="134"/>
                  <a:pt x="204" y="147"/>
                </a:cubicBezTo>
                <a:cubicBezTo>
                  <a:pt x="199" y="160"/>
                  <a:pt x="191" y="171"/>
                  <a:pt x="182" y="181"/>
                </a:cubicBezTo>
                <a:cubicBezTo>
                  <a:pt x="172" y="192"/>
                  <a:pt x="160" y="200"/>
                  <a:pt x="147" y="205"/>
                </a:cubicBezTo>
                <a:cubicBezTo>
                  <a:pt x="134" y="210"/>
                  <a:pt x="121" y="213"/>
                  <a:pt x="107" y="213"/>
                </a:cubicBezTo>
                <a:cubicBezTo>
                  <a:pt x="92" y="213"/>
                  <a:pt x="78" y="210"/>
                  <a:pt x="65" y="205"/>
                </a:cubicBezTo>
                <a:cubicBezTo>
                  <a:pt x="52" y="200"/>
                  <a:pt x="41" y="192"/>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8" name=""/>
          <p:cNvSpPr txBox="1"/>
          <p:nvPr/>
        </p:nvSpPr>
        <p:spPr>
          <a:xfrm>
            <a:off x="8703000" y="2964240"/>
            <a:ext cx="3862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(RL)</a:t>
            </a:r>
            <a:endParaRPr b="0" lang="en-US" sz="1740" spc="-1" strike="noStrike">
              <a:solidFill>
                <a:srgbClr val="000000"/>
              </a:solidFill>
              <a:latin typeface="Times New Roman"/>
            </a:endParaRPr>
          </a:p>
        </p:txBody>
      </p:sp>
      <p:sp>
        <p:nvSpPr>
          <p:cNvPr id="269" name=""/>
          <p:cNvSpPr txBox="1"/>
          <p:nvPr/>
        </p:nvSpPr>
        <p:spPr>
          <a:xfrm>
            <a:off x="1742040" y="335088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特徴</a:t>
            </a:r>
            <a:endParaRPr b="0" lang="en-US" sz="1740" spc="-1" strike="noStrike">
              <a:solidFill>
                <a:srgbClr val="000000"/>
              </a:solidFill>
              <a:latin typeface="Times New Roman"/>
            </a:endParaRPr>
          </a:p>
        </p:txBody>
      </p:sp>
      <p:sp>
        <p:nvSpPr>
          <p:cNvPr id="270" name=""/>
          <p:cNvSpPr txBox="1"/>
          <p:nvPr/>
        </p:nvSpPr>
        <p:spPr>
          <a:xfrm>
            <a:off x="2183760" y="3345120"/>
            <a:ext cx="11343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0" lang="en-US" sz="1740" spc="-1" strike="noStrike">
                <a:solidFill>
                  <a:srgbClr val="1f2328"/>
                </a:solidFill>
                <a:latin typeface="NotoSans"/>
                <a:ea typeface="NotoSans"/>
              </a:rPr>
              <a:t>OpenUSD</a:t>
            </a:r>
            <a:endParaRPr b="0" lang="en-US" sz="1740" spc="-1" strike="noStrike">
              <a:solidFill>
                <a:srgbClr val="000000"/>
              </a:solidFill>
              <a:latin typeface="Times New Roman"/>
            </a:endParaRPr>
          </a:p>
        </p:txBody>
      </p:sp>
      <p:sp>
        <p:nvSpPr>
          <p:cNvPr id="271" name=""/>
          <p:cNvSpPr txBox="1"/>
          <p:nvPr/>
        </p:nvSpPr>
        <p:spPr>
          <a:xfrm>
            <a:off x="3316320" y="3350880"/>
            <a:ext cx="79560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ベースの物理的に正確なシミュレータ。失敗が許される安全な環境で「脳」を鍛</a:t>
            </a:r>
            <a:endParaRPr b="0" lang="en-US" sz="1740" spc="-1" strike="noStrike">
              <a:solidFill>
                <a:srgbClr val="000000"/>
              </a:solidFill>
              <a:latin typeface="Times New Roman"/>
            </a:endParaRPr>
          </a:p>
        </p:txBody>
      </p:sp>
      <p:sp>
        <p:nvSpPr>
          <p:cNvPr id="272" name=""/>
          <p:cNvSpPr/>
          <p:nvPr/>
        </p:nvSpPr>
        <p:spPr>
          <a:xfrm>
            <a:off x="1085760" y="4190760"/>
            <a:ext cx="76320" cy="76680"/>
          </a:xfrm>
          <a:custGeom>
            <a:avLst/>
            <a:gdLst/>
            <a:ahLst/>
            <a:rect l="0" t="0" r="r" b="b"/>
            <a:pathLst>
              <a:path w="212" h="213">
                <a:moveTo>
                  <a:pt x="212" y="107"/>
                </a:moveTo>
                <a:cubicBezTo>
                  <a:pt x="212" y="121"/>
                  <a:pt x="210" y="135"/>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5"/>
                  <a:pt x="0" y="121"/>
                  <a:pt x="0" y="107"/>
                </a:cubicBezTo>
                <a:cubicBezTo>
                  <a:pt x="0" y="93"/>
                  <a:pt x="2" y="79"/>
                  <a:pt x="8" y="65"/>
                </a:cubicBezTo>
                <a:cubicBezTo>
                  <a:pt x="13" y="53"/>
                  <a:pt x="21" y="41"/>
                  <a:pt x="31" y="31"/>
                </a:cubicBezTo>
                <a:cubicBezTo>
                  <a:pt x="41" y="21"/>
                  <a:pt x="53" y="14"/>
                  <a:pt x="66" y="8"/>
                </a:cubicBezTo>
                <a:cubicBezTo>
                  <a:pt x="79" y="3"/>
                  <a:pt x="93" y="0"/>
                  <a:pt x="107" y="0"/>
                </a:cubicBezTo>
                <a:cubicBezTo>
                  <a:pt x="121" y="0"/>
                  <a:pt x="134" y="3"/>
                  <a:pt x="147" y="8"/>
                </a:cubicBezTo>
                <a:cubicBezTo>
                  <a:pt x="160" y="14"/>
                  <a:pt x="171" y="21"/>
                  <a:pt x="181" y="31"/>
                </a:cubicBezTo>
                <a:cubicBezTo>
                  <a:pt x="191" y="41"/>
                  <a:pt x="199" y="53"/>
                  <a:pt x="204" y="65"/>
                </a:cubicBezTo>
                <a:cubicBezTo>
                  <a:pt x="210" y="79"/>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3" name=""/>
          <p:cNvSpPr txBox="1"/>
          <p:nvPr/>
        </p:nvSpPr>
        <p:spPr>
          <a:xfrm>
            <a:off x="1742040" y="368424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える。</a:t>
            </a:r>
            <a:endParaRPr b="0" lang="en-US" sz="1740" spc="-1" strike="noStrike">
              <a:solidFill>
                <a:srgbClr val="000000"/>
              </a:solidFill>
              <a:latin typeface="Times New Roman"/>
            </a:endParaRPr>
          </a:p>
        </p:txBody>
      </p:sp>
      <p:sp>
        <p:nvSpPr>
          <p:cNvPr id="274" name=""/>
          <p:cNvSpPr txBox="1"/>
          <p:nvPr/>
        </p:nvSpPr>
        <p:spPr>
          <a:xfrm>
            <a:off x="1300320" y="4069080"/>
            <a:ext cx="12092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ROS (</a:t>
            </a:r>
            <a:endParaRPr b="0" lang="en-US" sz="1740" spc="-1" strike="noStrike">
              <a:solidFill>
                <a:srgbClr val="000000"/>
              </a:solidFill>
              <a:latin typeface="Times New Roman"/>
            </a:endParaRPr>
          </a:p>
        </p:txBody>
      </p:sp>
      <p:sp>
        <p:nvSpPr>
          <p:cNvPr id="275" name=""/>
          <p:cNvSpPr txBox="1"/>
          <p:nvPr/>
        </p:nvSpPr>
        <p:spPr>
          <a:xfrm>
            <a:off x="2485440" y="407484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物理空間</a:t>
            </a:r>
            <a:endParaRPr b="0" lang="en-US" sz="1740" spc="-1" strike="noStrike">
              <a:solidFill>
                <a:srgbClr val="000000"/>
              </a:solidFill>
              <a:latin typeface="Times New Roman"/>
            </a:endParaRPr>
          </a:p>
        </p:txBody>
      </p:sp>
      <p:sp>
        <p:nvSpPr>
          <p:cNvPr id="276" name=""/>
          <p:cNvSpPr/>
          <p:nvPr/>
        </p:nvSpPr>
        <p:spPr>
          <a:xfrm>
            <a:off x="1523880" y="4514760"/>
            <a:ext cx="76320" cy="76320"/>
          </a:xfrm>
          <a:custGeom>
            <a:avLst/>
            <a:gdLst/>
            <a:ahLst/>
            <a:rect l="0" t="0" r="r" b="b"/>
            <a:pathLst>
              <a:path w="212" h="212">
                <a:moveTo>
                  <a:pt x="212" y="107"/>
                </a:moveTo>
                <a:cubicBezTo>
                  <a:pt x="212" y="121"/>
                  <a:pt x="210" y="134"/>
                  <a:pt x="204" y="147"/>
                </a:cubicBezTo>
                <a:cubicBezTo>
                  <a:pt x="199" y="160"/>
                  <a:pt x="191" y="171"/>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9"/>
                  <a:pt x="8" y="66"/>
                </a:cubicBezTo>
                <a:cubicBezTo>
                  <a:pt x="13" y="53"/>
                  <a:pt x="21" y="42"/>
                  <a:pt x="31" y="32"/>
                </a:cubicBezTo>
                <a:cubicBezTo>
                  <a:pt x="41" y="22"/>
                  <a:pt x="52" y="13"/>
                  <a:pt x="65" y="8"/>
                </a:cubicBezTo>
                <a:cubicBezTo>
                  <a:pt x="78" y="2"/>
                  <a:pt x="92" y="0"/>
                  <a:pt x="107" y="0"/>
                </a:cubicBezTo>
                <a:cubicBezTo>
                  <a:pt x="121" y="0"/>
                  <a:pt x="134" y="2"/>
                  <a:pt x="147" y="8"/>
                </a:cubicBezTo>
                <a:cubicBezTo>
                  <a:pt x="160" y="13"/>
                  <a:pt x="172" y="22"/>
                  <a:pt x="182" y="32"/>
                </a:cubicBezTo>
                <a:cubicBezTo>
                  <a:pt x="191" y="42"/>
                  <a:pt x="199" y="53"/>
                  <a:pt x="204" y="66"/>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77" name=""/>
          <p:cNvSpPr txBox="1"/>
          <p:nvPr/>
        </p:nvSpPr>
        <p:spPr>
          <a:xfrm>
            <a:off x="3368880" y="406908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278" name=""/>
          <p:cNvSpPr txBox="1"/>
          <p:nvPr/>
        </p:nvSpPr>
        <p:spPr>
          <a:xfrm>
            <a:off x="1742040" y="439884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役割</a:t>
            </a:r>
            <a:endParaRPr b="0" lang="en-US" sz="1740" spc="-1" strike="noStrike">
              <a:solidFill>
                <a:srgbClr val="000000"/>
              </a:solidFill>
              <a:latin typeface="Times New Roman"/>
            </a:endParaRPr>
          </a:p>
        </p:txBody>
      </p:sp>
      <p:sp>
        <p:nvSpPr>
          <p:cNvPr id="279" name=""/>
          <p:cNvSpPr txBox="1"/>
          <p:nvPr/>
        </p:nvSpPr>
        <p:spPr>
          <a:xfrm>
            <a:off x="2183760" y="439308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280" name=""/>
          <p:cNvSpPr/>
          <p:nvPr/>
        </p:nvSpPr>
        <p:spPr>
          <a:xfrm>
            <a:off x="1523880" y="4905360"/>
            <a:ext cx="76320" cy="76320"/>
          </a:xfrm>
          <a:custGeom>
            <a:avLst/>
            <a:gdLst/>
            <a:ahLst/>
            <a:rect l="0" t="0" r="r" b="b"/>
            <a:pathLst>
              <a:path w="212" h="212">
                <a:moveTo>
                  <a:pt x="212" y="105"/>
                </a:moveTo>
                <a:cubicBezTo>
                  <a:pt x="212" y="119"/>
                  <a:pt x="210" y="133"/>
                  <a:pt x="204" y="146"/>
                </a:cubicBezTo>
                <a:cubicBezTo>
                  <a:pt x="199" y="159"/>
                  <a:pt x="191" y="170"/>
                  <a:pt x="182" y="180"/>
                </a:cubicBezTo>
                <a:cubicBezTo>
                  <a:pt x="172" y="190"/>
                  <a:pt x="160" y="199"/>
                  <a:pt x="147" y="204"/>
                </a:cubicBezTo>
                <a:cubicBezTo>
                  <a:pt x="134" y="210"/>
                  <a:pt x="121" y="212"/>
                  <a:pt x="107" y="212"/>
                </a:cubicBezTo>
                <a:cubicBezTo>
                  <a:pt x="92" y="212"/>
                  <a:pt x="78" y="210"/>
                  <a:pt x="65" y="204"/>
                </a:cubicBezTo>
                <a:cubicBezTo>
                  <a:pt x="52" y="199"/>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0"/>
                  <a:pt x="199" y="52"/>
                  <a:pt x="204" y="65"/>
                </a:cubicBezTo>
                <a:cubicBezTo>
                  <a:pt x="210" y="78"/>
                  <a:pt x="212" y="91"/>
                  <a:pt x="212" y="105"/>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81" name=""/>
          <p:cNvSpPr txBox="1"/>
          <p:nvPr/>
        </p:nvSpPr>
        <p:spPr>
          <a:xfrm>
            <a:off x="2302920" y="4398840"/>
            <a:ext cx="79560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鍛えられた「脳」を物理ロボットに組み込み、現実世界でリアルタイムに動かす</a:t>
            </a:r>
            <a:endParaRPr b="0" lang="en-US" sz="1740" spc="-1" strike="noStrike">
              <a:solidFill>
                <a:srgbClr val="000000"/>
              </a:solidFill>
              <a:latin typeface="Times New Roman"/>
            </a:endParaRPr>
          </a:p>
        </p:txBody>
      </p:sp>
      <p:sp>
        <p:nvSpPr>
          <p:cNvPr id="282" name=""/>
          <p:cNvSpPr txBox="1"/>
          <p:nvPr/>
        </p:nvSpPr>
        <p:spPr>
          <a:xfrm>
            <a:off x="1742040" y="478908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特徴</a:t>
            </a:r>
            <a:endParaRPr b="0" lang="en-US" sz="1740" spc="-1" strike="noStrike">
              <a:solidFill>
                <a:srgbClr val="000000"/>
              </a:solidFill>
              <a:latin typeface="Times New Roman"/>
            </a:endParaRPr>
          </a:p>
        </p:txBody>
      </p:sp>
      <p:sp>
        <p:nvSpPr>
          <p:cNvPr id="283" name=""/>
          <p:cNvSpPr txBox="1"/>
          <p:nvPr/>
        </p:nvSpPr>
        <p:spPr>
          <a:xfrm>
            <a:off x="2183760" y="478332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284" name=""/>
          <p:cNvSpPr txBox="1"/>
          <p:nvPr/>
        </p:nvSpPr>
        <p:spPr>
          <a:xfrm>
            <a:off x="2302920" y="478908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実機（</a:t>
            </a:r>
            <a:endParaRPr b="0" lang="en-US" sz="1740" spc="-1" strike="noStrike">
              <a:solidFill>
                <a:srgbClr val="000000"/>
              </a:solidFill>
              <a:latin typeface="Times New Roman"/>
            </a:endParaRPr>
          </a:p>
        </p:txBody>
      </p:sp>
      <p:sp>
        <p:nvSpPr>
          <p:cNvPr id="285" name=""/>
          <p:cNvSpPr txBox="1"/>
          <p:nvPr/>
        </p:nvSpPr>
        <p:spPr>
          <a:xfrm>
            <a:off x="2965680" y="4783320"/>
            <a:ext cx="6408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Jetson</a:t>
            </a:r>
            <a:endParaRPr b="0" lang="en-US" sz="1740" spc="-1" strike="noStrike">
              <a:solidFill>
                <a:srgbClr val="000000"/>
              </a:solidFill>
              <a:latin typeface="Times New Roman"/>
            </a:endParaRPr>
          </a:p>
        </p:txBody>
      </p:sp>
      <p:sp>
        <p:nvSpPr>
          <p:cNvPr id="286" name=""/>
          <p:cNvSpPr txBox="1"/>
          <p:nvPr/>
        </p:nvSpPr>
        <p:spPr>
          <a:xfrm>
            <a:off x="3606120" y="478908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等）の</a:t>
            </a:r>
            <a:endParaRPr b="0" lang="en-US" sz="1740" spc="-1" strike="noStrike">
              <a:solidFill>
                <a:srgbClr val="000000"/>
              </a:solidFill>
              <a:latin typeface="Times New Roman"/>
            </a:endParaRPr>
          </a:p>
        </p:txBody>
      </p:sp>
      <p:sp>
        <p:nvSpPr>
          <p:cNvPr id="287" name=""/>
          <p:cNvSpPr txBox="1"/>
          <p:nvPr/>
        </p:nvSpPr>
        <p:spPr>
          <a:xfrm>
            <a:off x="4268520" y="4783320"/>
            <a:ext cx="456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GPU</a:t>
            </a:r>
            <a:endParaRPr b="0" lang="en-US" sz="1740" spc="-1" strike="noStrike">
              <a:solidFill>
                <a:srgbClr val="000000"/>
              </a:solidFill>
              <a:latin typeface="Times New Roman"/>
            </a:endParaRPr>
          </a:p>
        </p:txBody>
      </p:sp>
      <p:sp>
        <p:nvSpPr>
          <p:cNvPr id="288" name=""/>
          <p:cNvSpPr txBox="1"/>
          <p:nvPr/>
        </p:nvSpPr>
        <p:spPr>
          <a:xfrm>
            <a:off x="4724280" y="478908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を活用し、</a:t>
            </a:r>
            <a:endParaRPr b="0" lang="en-US" sz="1740" spc="-1" strike="noStrike">
              <a:solidFill>
                <a:srgbClr val="000000"/>
              </a:solidFill>
              <a:latin typeface="Times New Roman"/>
            </a:endParaRPr>
          </a:p>
        </p:txBody>
      </p:sp>
      <p:sp>
        <p:nvSpPr>
          <p:cNvPr id="289" name=""/>
          <p:cNvSpPr txBox="1"/>
          <p:nvPr/>
        </p:nvSpPr>
        <p:spPr>
          <a:xfrm>
            <a:off x="5828760" y="4783320"/>
            <a:ext cx="4975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DNN</a:t>
            </a:r>
            <a:endParaRPr b="0" lang="en-US" sz="1740" spc="-1" strike="noStrike">
              <a:solidFill>
                <a:srgbClr val="000000"/>
              </a:solidFill>
              <a:latin typeface="Times New Roman"/>
            </a:endParaRPr>
          </a:p>
        </p:txBody>
      </p:sp>
      <p:sp>
        <p:nvSpPr>
          <p:cNvPr id="290" name=""/>
          <p:cNvSpPr txBox="1"/>
          <p:nvPr/>
        </p:nvSpPr>
        <p:spPr>
          <a:xfrm>
            <a:off x="6325560" y="478908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推論や</a:t>
            </a:r>
            <a:endParaRPr b="0" lang="en-US" sz="1740" spc="-1" strike="noStrike">
              <a:solidFill>
                <a:srgbClr val="000000"/>
              </a:solidFill>
              <a:latin typeface="Times New Roman"/>
            </a:endParaRPr>
          </a:p>
        </p:txBody>
      </p:sp>
      <p:sp>
        <p:nvSpPr>
          <p:cNvPr id="291" name=""/>
          <p:cNvSpPr txBox="1"/>
          <p:nvPr/>
        </p:nvSpPr>
        <p:spPr>
          <a:xfrm>
            <a:off x="6988320" y="4783320"/>
            <a:ext cx="5781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SLAM</a:t>
            </a:r>
            <a:endParaRPr b="0" lang="en-US" sz="1740" spc="-1" strike="noStrike">
              <a:solidFill>
                <a:srgbClr val="000000"/>
              </a:solidFill>
              <a:latin typeface="Times New Roman"/>
            </a:endParaRPr>
          </a:p>
        </p:txBody>
      </p:sp>
      <p:sp>
        <p:nvSpPr>
          <p:cNvPr id="292" name=""/>
          <p:cNvSpPr txBox="1"/>
          <p:nvPr/>
        </p:nvSpPr>
        <p:spPr>
          <a:xfrm>
            <a:off x="7566840" y="478908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等を高速処理する</a:t>
            </a:r>
            <a:endParaRPr b="0" lang="en-US" sz="1740" spc="-1" strike="noStrike">
              <a:solidFill>
                <a:srgbClr val="000000"/>
              </a:solidFill>
              <a:latin typeface="Times New Roman"/>
            </a:endParaRPr>
          </a:p>
        </p:txBody>
      </p:sp>
      <p:sp>
        <p:nvSpPr>
          <p:cNvPr id="293" name=""/>
          <p:cNvSpPr txBox="1"/>
          <p:nvPr/>
        </p:nvSpPr>
        <p:spPr>
          <a:xfrm>
            <a:off x="9333720" y="4783320"/>
            <a:ext cx="6148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 2</a:t>
            </a:r>
            <a:endParaRPr b="0" lang="en-US" sz="1740" spc="-1" strike="noStrike">
              <a:solidFill>
                <a:srgbClr val="000000"/>
              </a:solidFill>
              <a:latin typeface="Times New Roman"/>
            </a:endParaRPr>
          </a:p>
        </p:txBody>
      </p:sp>
      <p:sp>
        <p:nvSpPr>
          <p:cNvPr id="294" name=""/>
          <p:cNvSpPr txBox="1"/>
          <p:nvPr/>
        </p:nvSpPr>
        <p:spPr>
          <a:xfrm>
            <a:off x="9948600" y="478908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ノード群</a:t>
            </a:r>
            <a:endParaRPr b="0" lang="en-US" sz="1740" spc="-1" strike="noStrike">
              <a:solidFill>
                <a:srgbClr val="000000"/>
              </a:solidFill>
              <a:latin typeface="Times New Roman"/>
            </a:endParaRPr>
          </a:p>
        </p:txBody>
      </p:sp>
      <p:sp>
        <p:nvSpPr>
          <p:cNvPr id="295" name=""/>
          <p:cNvSpPr txBox="1"/>
          <p:nvPr/>
        </p:nvSpPr>
        <p:spPr>
          <a:xfrm>
            <a:off x="10832040" y="47833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296" name=""/>
          <p:cNvSpPr txBox="1"/>
          <p:nvPr/>
        </p:nvSpPr>
        <p:spPr>
          <a:xfrm>
            <a:off x="10955520" y="478908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旧</a:t>
            </a:r>
            <a:endParaRPr b="0" lang="en-US" sz="1740" spc="-1" strike="noStrike">
              <a:solidFill>
                <a:srgbClr val="000000"/>
              </a:solidFill>
              <a:latin typeface="Times New Roman"/>
            </a:endParaRPr>
          </a:p>
        </p:txBody>
      </p:sp>
      <p:sp>
        <p:nvSpPr>
          <p:cNvPr id="297" name=""/>
          <p:cNvSpPr txBox="1"/>
          <p:nvPr/>
        </p:nvSpPr>
        <p:spPr>
          <a:xfrm>
            <a:off x="1742040" y="5116680"/>
            <a:ext cx="10112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Isaac SDK</a:t>
            </a:r>
            <a:endParaRPr b="0" lang="en-US" sz="1740" spc="-1" strike="noStrike">
              <a:solidFill>
                <a:srgbClr val="000000"/>
              </a:solidFill>
              <a:latin typeface="Times New Roman"/>
            </a:endParaRPr>
          </a:p>
        </p:txBody>
      </p:sp>
      <p:sp>
        <p:nvSpPr>
          <p:cNvPr id="298" name=""/>
          <p:cNvSpPr txBox="1"/>
          <p:nvPr/>
        </p:nvSpPr>
        <p:spPr>
          <a:xfrm>
            <a:off x="2753280" y="512244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の後継</a:t>
            </a:r>
            <a:endParaRPr b="0" lang="en-US" sz="1740" spc="-1" strike="noStrike">
              <a:solidFill>
                <a:srgbClr val="000000"/>
              </a:solidFill>
              <a:latin typeface="Times New Roman"/>
            </a:endParaRPr>
          </a:p>
        </p:txBody>
      </p:sp>
      <p:sp>
        <p:nvSpPr>
          <p:cNvPr id="299" name=""/>
          <p:cNvSpPr txBox="1"/>
          <p:nvPr/>
        </p:nvSpPr>
        <p:spPr>
          <a:xfrm>
            <a:off x="3415680" y="511668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300" name=""/>
          <p:cNvSpPr txBox="1"/>
          <p:nvPr/>
        </p:nvSpPr>
        <p:spPr>
          <a:xfrm>
            <a:off x="3481920" y="512244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a:t>
            </a:r>
            <a:endParaRPr b="0" lang="en-US" sz="1740" spc="-1" strike="noStrike">
              <a:solidFill>
                <a:srgbClr val="000000"/>
              </a:solidFill>
              <a:latin typeface="Times New Roman"/>
            </a:endParaRPr>
          </a:p>
        </p:txBody>
      </p:sp>
      <p:sp>
        <p:nvSpPr>
          <p:cNvPr id="301"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302"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303"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11</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0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0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07" name=""/>
          <p:cNvSpPr txBox="1"/>
          <p:nvPr/>
        </p:nvSpPr>
        <p:spPr>
          <a:xfrm>
            <a:off x="747720" y="1244880"/>
            <a:ext cx="7200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補足</a:t>
            </a:r>
            <a:endParaRPr b="0" lang="en-US" sz="2830" spc="-1" strike="noStrike">
              <a:solidFill>
                <a:srgbClr val="000000"/>
              </a:solidFill>
              <a:latin typeface="Times New Roman"/>
            </a:endParaRPr>
          </a:p>
        </p:txBody>
      </p:sp>
      <p:sp>
        <p:nvSpPr>
          <p:cNvPr id="308" name=""/>
          <p:cNvSpPr txBox="1"/>
          <p:nvPr/>
        </p:nvSpPr>
        <p:spPr>
          <a:xfrm>
            <a:off x="1465560" y="1235520"/>
            <a:ext cx="35856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endParaRPr b="0" lang="en-US" sz="2830" spc="-1" strike="noStrike">
              <a:solidFill>
                <a:srgbClr val="000000"/>
              </a:solidFill>
              <a:latin typeface="Times New Roman"/>
            </a:endParaRPr>
          </a:p>
        </p:txBody>
      </p:sp>
      <p:sp>
        <p:nvSpPr>
          <p:cNvPr id="309" name=""/>
          <p:cNvSpPr txBox="1"/>
          <p:nvPr/>
        </p:nvSpPr>
        <p:spPr>
          <a:xfrm>
            <a:off x="1659240" y="1244880"/>
            <a:ext cx="179892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なぜ標準の</a:t>
            </a:r>
            <a:endParaRPr b="0" lang="en-US" sz="2830" spc="-1" strike="noStrike">
              <a:solidFill>
                <a:srgbClr val="000000"/>
              </a:solidFill>
              <a:latin typeface="Times New Roman"/>
            </a:endParaRPr>
          </a:p>
        </p:txBody>
      </p:sp>
      <p:sp>
        <p:nvSpPr>
          <p:cNvPr id="310" name=""/>
          <p:cNvSpPr txBox="1"/>
          <p:nvPr/>
        </p:nvSpPr>
        <p:spPr>
          <a:xfrm>
            <a:off x="3453840" y="1235520"/>
            <a:ext cx="12078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r>
              <a:rPr b="1" lang="en-US" sz="2830" spc="-1" strike="noStrike">
                <a:solidFill>
                  <a:srgbClr val="1f2328"/>
                </a:solidFill>
                <a:latin typeface="NotoSans-Semi"/>
                <a:ea typeface="NotoSans-Semi"/>
              </a:rPr>
              <a:t>ROS 2 </a:t>
            </a:r>
            <a:endParaRPr b="0" lang="en-US" sz="2830" spc="-1" strike="noStrike">
              <a:solidFill>
                <a:srgbClr val="000000"/>
              </a:solidFill>
              <a:latin typeface="Times New Roman"/>
            </a:endParaRPr>
          </a:p>
        </p:txBody>
      </p:sp>
      <p:sp>
        <p:nvSpPr>
          <p:cNvPr id="311" name=""/>
          <p:cNvSpPr txBox="1"/>
          <p:nvPr/>
        </p:nvSpPr>
        <p:spPr>
          <a:xfrm>
            <a:off x="4652280" y="1244880"/>
            <a:ext cx="215856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だけでなく「</a:t>
            </a:r>
            <a:endParaRPr b="0" lang="en-US" sz="2830" spc="-1" strike="noStrike">
              <a:solidFill>
                <a:srgbClr val="000000"/>
              </a:solidFill>
              <a:latin typeface="Times New Roman"/>
            </a:endParaRPr>
          </a:p>
        </p:txBody>
      </p:sp>
      <p:sp>
        <p:nvSpPr>
          <p:cNvPr id="312" name=""/>
          <p:cNvSpPr txBox="1"/>
          <p:nvPr/>
        </p:nvSpPr>
        <p:spPr>
          <a:xfrm>
            <a:off x="6806160" y="1235520"/>
            <a:ext cx="17532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Isaac ROS</a:t>
            </a:r>
            <a:endParaRPr b="0" lang="en-US" sz="2830" spc="-1" strike="noStrike">
              <a:solidFill>
                <a:srgbClr val="000000"/>
              </a:solidFill>
              <a:latin typeface="Times New Roman"/>
            </a:endParaRPr>
          </a:p>
        </p:txBody>
      </p:sp>
      <p:sp>
        <p:nvSpPr>
          <p:cNvPr id="313" name=""/>
          <p:cNvSpPr txBox="1"/>
          <p:nvPr/>
        </p:nvSpPr>
        <p:spPr>
          <a:xfrm>
            <a:off x="8523000" y="1244880"/>
            <a:ext cx="28782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」が必要なのか？</a:t>
            </a:r>
            <a:endParaRPr b="0" lang="en-US" sz="2830" spc="-1" strike="noStrike">
              <a:solidFill>
                <a:srgbClr val="000000"/>
              </a:solidFill>
              <a:latin typeface="Times New Roman"/>
            </a:endParaRPr>
          </a:p>
        </p:txBody>
      </p:sp>
      <p:sp>
        <p:nvSpPr>
          <p:cNvPr id="314" name=""/>
          <p:cNvSpPr txBox="1"/>
          <p:nvPr/>
        </p:nvSpPr>
        <p:spPr>
          <a:xfrm>
            <a:off x="747720" y="1983240"/>
            <a:ext cx="6850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ROS 2 </a:t>
            </a:r>
            <a:endParaRPr b="0" lang="en-US" sz="1740" spc="-1" strike="noStrike">
              <a:solidFill>
                <a:srgbClr val="000000"/>
              </a:solidFill>
              <a:latin typeface="Times New Roman"/>
            </a:endParaRPr>
          </a:p>
        </p:txBody>
      </p:sp>
      <p:sp>
        <p:nvSpPr>
          <p:cNvPr id="315" name=""/>
          <p:cNvSpPr txBox="1"/>
          <p:nvPr/>
        </p:nvSpPr>
        <p:spPr>
          <a:xfrm>
            <a:off x="1427400" y="198900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の課題と、</a:t>
            </a:r>
            <a:endParaRPr b="0" lang="en-US" sz="1740" spc="-1" strike="noStrike">
              <a:solidFill>
                <a:srgbClr val="000000"/>
              </a:solidFill>
              <a:latin typeface="Times New Roman"/>
            </a:endParaRPr>
          </a:p>
        </p:txBody>
      </p:sp>
      <p:sp>
        <p:nvSpPr>
          <p:cNvPr id="316" name=""/>
          <p:cNvSpPr txBox="1"/>
          <p:nvPr/>
        </p:nvSpPr>
        <p:spPr>
          <a:xfrm>
            <a:off x="2531880" y="1983240"/>
            <a:ext cx="11347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ROS </a:t>
            </a:r>
            <a:endParaRPr b="0" lang="en-US" sz="1740" spc="-1" strike="noStrike">
              <a:solidFill>
                <a:srgbClr val="000000"/>
              </a:solidFill>
              <a:latin typeface="Times New Roman"/>
            </a:endParaRPr>
          </a:p>
        </p:txBody>
      </p:sp>
      <p:sp>
        <p:nvSpPr>
          <p:cNvPr id="317" name=""/>
          <p:cNvSpPr/>
          <p:nvPr/>
        </p:nvSpPr>
        <p:spPr>
          <a:xfrm>
            <a:off x="1085760" y="2581200"/>
            <a:ext cx="76320" cy="76320"/>
          </a:xfrm>
          <a:custGeom>
            <a:avLst/>
            <a:gdLst/>
            <a:ahLst/>
            <a:rect l="0" t="0" r="r" b="b"/>
            <a:pathLst>
              <a:path w="212" h="212">
                <a:moveTo>
                  <a:pt x="212" y="106"/>
                </a:moveTo>
                <a:cubicBezTo>
                  <a:pt x="212" y="121"/>
                  <a:pt x="210" y="134"/>
                  <a:pt x="204" y="147"/>
                </a:cubicBezTo>
                <a:cubicBezTo>
                  <a:pt x="199" y="160"/>
                  <a:pt x="191" y="171"/>
                  <a:pt x="181" y="181"/>
                </a:cubicBezTo>
                <a:cubicBezTo>
                  <a:pt x="171" y="191"/>
                  <a:pt x="160" y="199"/>
                  <a:pt x="147" y="204"/>
                </a:cubicBezTo>
                <a:cubicBezTo>
                  <a:pt x="134" y="210"/>
                  <a:pt x="121" y="212"/>
                  <a:pt x="107" y="212"/>
                </a:cubicBezTo>
                <a:cubicBezTo>
                  <a:pt x="93" y="212"/>
                  <a:pt x="79" y="210"/>
                  <a:pt x="66" y="204"/>
                </a:cubicBezTo>
                <a:cubicBezTo>
                  <a:pt x="53" y="199"/>
                  <a:pt x="41" y="191"/>
                  <a:pt x="31" y="181"/>
                </a:cubicBezTo>
                <a:cubicBezTo>
                  <a:pt x="21" y="171"/>
                  <a:pt x="13" y="160"/>
                  <a:pt x="8" y="147"/>
                </a:cubicBezTo>
                <a:cubicBezTo>
                  <a:pt x="2" y="134"/>
                  <a:pt x="0" y="121"/>
                  <a:pt x="0" y="106"/>
                </a:cubicBezTo>
                <a:cubicBezTo>
                  <a:pt x="0" y="92"/>
                  <a:pt x="2" y="78"/>
                  <a:pt x="8" y="65"/>
                </a:cubicBezTo>
                <a:cubicBezTo>
                  <a:pt x="13" y="52"/>
                  <a:pt x="21" y="41"/>
                  <a:pt x="31" y="31"/>
                </a:cubicBezTo>
                <a:cubicBezTo>
                  <a:pt x="41" y="21"/>
                  <a:pt x="53" y="13"/>
                  <a:pt x="66" y="8"/>
                </a:cubicBezTo>
                <a:cubicBezTo>
                  <a:pt x="79" y="2"/>
                  <a:pt x="93" y="0"/>
                  <a:pt x="107" y="0"/>
                </a:cubicBezTo>
                <a:cubicBezTo>
                  <a:pt x="121" y="0"/>
                  <a:pt x="134" y="2"/>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318" name=""/>
          <p:cNvSpPr txBox="1"/>
          <p:nvPr/>
        </p:nvSpPr>
        <p:spPr>
          <a:xfrm>
            <a:off x="3645720" y="198900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による解決策</a:t>
            </a:r>
            <a:endParaRPr b="0" lang="en-US" sz="1740" spc="-1" strike="noStrike">
              <a:solidFill>
                <a:srgbClr val="000000"/>
              </a:solidFill>
              <a:latin typeface="Times New Roman"/>
            </a:endParaRPr>
          </a:p>
        </p:txBody>
      </p:sp>
      <p:sp>
        <p:nvSpPr>
          <p:cNvPr id="319" name=""/>
          <p:cNvSpPr txBox="1"/>
          <p:nvPr/>
        </p:nvSpPr>
        <p:spPr>
          <a:xfrm>
            <a:off x="1300320" y="246492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標準の</a:t>
            </a:r>
            <a:endParaRPr b="0" lang="en-US" sz="1740" spc="-1" strike="noStrike">
              <a:solidFill>
                <a:srgbClr val="000000"/>
              </a:solidFill>
              <a:latin typeface="Times New Roman"/>
            </a:endParaRPr>
          </a:p>
        </p:txBody>
      </p:sp>
      <p:sp>
        <p:nvSpPr>
          <p:cNvPr id="320" name=""/>
          <p:cNvSpPr txBox="1"/>
          <p:nvPr/>
        </p:nvSpPr>
        <p:spPr>
          <a:xfrm>
            <a:off x="1962720" y="2459520"/>
            <a:ext cx="12628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1" lang="en-US" sz="1740" spc="-1" strike="noStrike">
                <a:solidFill>
                  <a:srgbClr val="1f2328"/>
                </a:solidFill>
                <a:latin typeface="NotoSans-Semi"/>
                <a:ea typeface="NotoSans-Semi"/>
              </a:rPr>
              <a:t>ROS 2 (CPU</a:t>
            </a:r>
            <a:endParaRPr b="0" lang="en-US" sz="1740" spc="-1" strike="noStrike">
              <a:solidFill>
                <a:srgbClr val="000000"/>
              </a:solidFill>
              <a:latin typeface="Times New Roman"/>
            </a:endParaRPr>
          </a:p>
        </p:txBody>
      </p:sp>
      <p:sp>
        <p:nvSpPr>
          <p:cNvPr id="321" name=""/>
          <p:cNvSpPr txBox="1"/>
          <p:nvPr/>
        </p:nvSpPr>
        <p:spPr>
          <a:xfrm>
            <a:off x="3213360" y="246492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主体</a:t>
            </a:r>
            <a:endParaRPr b="0" lang="en-US" sz="1740" spc="-1" strike="noStrike">
              <a:solidFill>
                <a:srgbClr val="000000"/>
              </a:solidFill>
              <a:latin typeface="Times New Roman"/>
            </a:endParaRPr>
          </a:p>
        </p:txBody>
      </p:sp>
      <p:sp>
        <p:nvSpPr>
          <p:cNvPr id="322" name=""/>
          <p:cNvSpPr/>
          <p:nvPr/>
        </p:nvSpPr>
        <p:spPr>
          <a:xfrm>
            <a:off x="1523880" y="2914560"/>
            <a:ext cx="76320" cy="76320"/>
          </a:xfrm>
          <a:custGeom>
            <a:avLst/>
            <a:gdLst/>
            <a:ahLst/>
            <a:rect l="0" t="0" r="r" b="b"/>
            <a:pathLst>
              <a:path w="212" h="212">
                <a:moveTo>
                  <a:pt x="212" y="107"/>
                </a:moveTo>
                <a:cubicBezTo>
                  <a:pt x="212" y="121"/>
                  <a:pt x="210" y="134"/>
                  <a:pt x="204" y="147"/>
                </a:cubicBezTo>
                <a:cubicBezTo>
                  <a:pt x="199" y="160"/>
                  <a:pt x="191" y="171"/>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9"/>
                  <a:pt x="8" y="66"/>
                </a:cubicBezTo>
                <a:cubicBezTo>
                  <a:pt x="13" y="53"/>
                  <a:pt x="21" y="42"/>
                  <a:pt x="31" y="32"/>
                </a:cubicBezTo>
                <a:cubicBezTo>
                  <a:pt x="41" y="21"/>
                  <a:pt x="52" y="13"/>
                  <a:pt x="65" y="8"/>
                </a:cubicBezTo>
                <a:cubicBezTo>
                  <a:pt x="78" y="2"/>
                  <a:pt x="92" y="0"/>
                  <a:pt x="107" y="0"/>
                </a:cubicBezTo>
                <a:cubicBezTo>
                  <a:pt x="121" y="0"/>
                  <a:pt x="134" y="2"/>
                  <a:pt x="147" y="8"/>
                </a:cubicBezTo>
                <a:cubicBezTo>
                  <a:pt x="160" y="13"/>
                  <a:pt x="172" y="21"/>
                  <a:pt x="182" y="32"/>
                </a:cubicBezTo>
                <a:cubicBezTo>
                  <a:pt x="191" y="42"/>
                  <a:pt x="199" y="53"/>
                  <a:pt x="204" y="66"/>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323" name=""/>
          <p:cNvSpPr txBox="1"/>
          <p:nvPr/>
        </p:nvSpPr>
        <p:spPr>
          <a:xfrm>
            <a:off x="3655080" y="245952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324" name=""/>
          <p:cNvSpPr/>
          <p:nvPr/>
        </p:nvSpPr>
        <p:spPr>
          <a:xfrm>
            <a:off x="1523880" y="3305160"/>
            <a:ext cx="76320" cy="76320"/>
          </a:xfrm>
          <a:custGeom>
            <a:avLst/>
            <a:gdLst/>
            <a:ahLst/>
            <a:rect l="0" t="0" r="r" b="b"/>
            <a:pathLst>
              <a:path w="212" h="212">
                <a:moveTo>
                  <a:pt x="212" y="105"/>
                </a:moveTo>
                <a:cubicBezTo>
                  <a:pt x="212" y="119"/>
                  <a:pt x="210" y="133"/>
                  <a:pt x="204" y="146"/>
                </a:cubicBezTo>
                <a:cubicBezTo>
                  <a:pt x="199" y="159"/>
                  <a:pt x="191" y="170"/>
                  <a:pt x="182" y="180"/>
                </a:cubicBezTo>
                <a:cubicBezTo>
                  <a:pt x="172" y="190"/>
                  <a:pt x="160" y="198"/>
                  <a:pt x="147" y="203"/>
                </a:cubicBezTo>
                <a:cubicBezTo>
                  <a:pt x="134" y="210"/>
                  <a:pt x="121" y="212"/>
                  <a:pt x="107" y="212"/>
                </a:cubicBezTo>
                <a:cubicBezTo>
                  <a:pt x="92" y="212"/>
                  <a:pt x="78" y="210"/>
                  <a:pt x="65" y="203"/>
                </a:cubicBezTo>
                <a:cubicBezTo>
                  <a:pt x="52" y="198"/>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0"/>
                  <a:pt x="199" y="52"/>
                  <a:pt x="204" y="65"/>
                </a:cubicBezTo>
                <a:cubicBezTo>
                  <a:pt x="210" y="78"/>
                  <a:pt x="212" y="91"/>
                  <a:pt x="212" y="105"/>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325" name=""/>
          <p:cNvSpPr txBox="1"/>
          <p:nvPr/>
        </p:nvSpPr>
        <p:spPr>
          <a:xfrm>
            <a:off x="1742040" y="2798640"/>
            <a:ext cx="77349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ロボットの各パーツ機能をつなぐ、世界標準の「神経網」（ミドルウェア）。</a:t>
            </a:r>
            <a:endParaRPr b="0" lang="en-US" sz="1740" spc="-1" strike="noStrike">
              <a:solidFill>
                <a:srgbClr val="000000"/>
              </a:solidFill>
              <a:latin typeface="Times New Roman"/>
            </a:endParaRPr>
          </a:p>
        </p:txBody>
      </p:sp>
      <p:sp>
        <p:nvSpPr>
          <p:cNvPr id="326" name=""/>
          <p:cNvSpPr txBox="1"/>
          <p:nvPr/>
        </p:nvSpPr>
        <p:spPr>
          <a:xfrm>
            <a:off x="1742040" y="318888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課題</a:t>
            </a:r>
            <a:endParaRPr b="0" lang="en-US" sz="1740" spc="-1" strike="noStrike">
              <a:solidFill>
                <a:srgbClr val="000000"/>
              </a:solidFill>
              <a:latin typeface="Times New Roman"/>
            </a:endParaRPr>
          </a:p>
        </p:txBody>
      </p:sp>
      <p:sp>
        <p:nvSpPr>
          <p:cNvPr id="327" name=""/>
          <p:cNvSpPr txBox="1"/>
          <p:nvPr/>
        </p:nvSpPr>
        <p:spPr>
          <a:xfrm>
            <a:off x="2183760" y="318312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328" name=""/>
          <p:cNvSpPr txBox="1"/>
          <p:nvPr/>
        </p:nvSpPr>
        <p:spPr>
          <a:xfrm>
            <a:off x="2302920" y="318888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カメラ映像からの</a:t>
            </a:r>
            <a:endParaRPr b="0" lang="en-US" sz="1740" spc="-1" strike="noStrike">
              <a:solidFill>
                <a:srgbClr val="000000"/>
              </a:solidFill>
              <a:latin typeface="Times New Roman"/>
            </a:endParaRPr>
          </a:p>
        </p:txBody>
      </p:sp>
      <p:sp>
        <p:nvSpPr>
          <p:cNvPr id="329" name=""/>
          <p:cNvSpPr txBox="1"/>
          <p:nvPr/>
        </p:nvSpPr>
        <p:spPr>
          <a:xfrm>
            <a:off x="4069800" y="31831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330" name=""/>
          <p:cNvSpPr txBox="1"/>
          <p:nvPr/>
        </p:nvSpPr>
        <p:spPr>
          <a:xfrm>
            <a:off x="4285800" y="318888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物体認識や、</a:t>
            </a:r>
            <a:endParaRPr b="0" lang="en-US" sz="1740" spc="-1" strike="noStrike">
              <a:solidFill>
                <a:srgbClr val="000000"/>
              </a:solidFill>
              <a:latin typeface="Times New Roman"/>
            </a:endParaRPr>
          </a:p>
        </p:txBody>
      </p:sp>
      <p:sp>
        <p:nvSpPr>
          <p:cNvPr id="331" name=""/>
          <p:cNvSpPr txBox="1"/>
          <p:nvPr/>
        </p:nvSpPr>
        <p:spPr>
          <a:xfrm>
            <a:off x="5610960" y="3183120"/>
            <a:ext cx="2872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3D</a:t>
            </a:r>
            <a:endParaRPr b="0" lang="en-US" sz="1740" spc="-1" strike="noStrike">
              <a:solidFill>
                <a:srgbClr val="000000"/>
              </a:solidFill>
              <a:latin typeface="Times New Roman"/>
            </a:endParaRPr>
          </a:p>
        </p:txBody>
      </p:sp>
      <p:sp>
        <p:nvSpPr>
          <p:cNvPr id="332" name=""/>
          <p:cNvSpPr txBox="1"/>
          <p:nvPr/>
        </p:nvSpPr>
        <p:spPr>
          <a:xfrm>
            <a:off x="5898600" y="3188880"/>
            <a:ext cx="3315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地図生成といった「重い計算」を</a:t>
            </a:r>
            <a:endParaRPr b="0" lang="en-US" sz="1740" spc="-1" strike="noStrike">
              <a:solidFill>
                <a:srgbClr val="000000"/>
              </a:solidFill>
              <a:latin typeface="Times New Roman"/>
            </a:endParaRPr>
          </a:p>
        </p:txBody>
      </p:sp>
      <p:sp>
        <p:nvSpPr>
          <p:cNvPr id="333" name=""/>
          <p:cNvSpPr txBox="1"/>
          <p:nvPr/>
        </p:nvSpPr>
        <p:spPr>
          <a:xfrm>
            <a:off x="9211320" y="3183120"/>
            <a:ext cx="4352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CPU</a:t>
            </a:r>
            <a:endParaRPr b="0" lang="en-US" sz="1740" spc="-1" strike="noStrike">
              <a:solidFill>
                <a:srgbClr val="000000"/>
              </a:solidFill>
              <a:latin typeface="Times New Roman"/>
            </a:endParaRPr>
          </a:p>
        </p:txBody>
      </p:sp>
      <p:sp>
        <p:nvSpPr>
          <p:cNvPr id="334" name=""/>
          <p:cNvSpPr txBox="1"/>
          <p:nvPr/>
        </p:nvSpPr>
        <p:spPr>
          <a:xfrm>
            <a:off x="9646200" y="318888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で行うと、処理落</a:t>
            </a:r>
            <a:endParaRPr b="0" lang="en-US" sz="1740" spc="-1" strike="noStrike">
              <a:solidFill>
                <a:srgbClr val="000000"/>
              </a:solidFill>
              <a:latin typeface="Times New Roman"/>
            </a:endParaRPr>
          </a:p>
        </p:txBody>
      </p:sp>
      <p:sp>
        <p:nvSpPr>
          <p:cNvPr id="335" name=""/>
          <p:cNvSpPr/>
          <p:nvPr/>
        </p:nvSpPr>
        <p:spPr>
          <a:xfrm>
            <a:off x="1085760" y="4019400"/>
            <a:ext cx="76320" cy="76680"/>
          </a:xfrm>
          <a:custGeom>
            <a:avLst/>
            <a:gdLst/>
            <a:ahLst/>
            <a:rect l="0" t="0" r="r" b="b"/>
            <a:pathLst>
              <a:path w="212" h="213">
                <a:moveTo>
                  <a:pt x="212" y="106"/>
                </a:moveTo>
                <a:cubicBezTo>
                  <a:pt x="212" y="120"/>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0"/>
                  <a:pt x="0" y="106"/>
                </a:cubicBezTo>
                <a:cubicBezTo>
                  <a:pt x="0" y="92"/>
                  <a:pt x="2" y="78"/>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336" name=""/>
          <p:cNvSpPr txBox="1"/>
          <p:nvPr/>
        </p:nvSpPr>
        <p:spPr>
          <a:xfrm>
            <a:off x="1742040" y="3522240"/>
            <a:ext cx="44204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ちや遅延が発生しリアルタイムに動けない。</a:t>
            </a:r>
            <a:endParaRPr b="0" lang="en-US" sz="1740" spc="-1" strike="noStrike">
              <a:solidFill>
                <a:srgbClr val="000000"/>
              </a:solidFill>
              <a:latin typeface="Times New Roman"/>
            </a:endParaRPr>
          </a:p>
        </p:txBody>
      </p:sp>
      <p:sp>
        <p:nvSpPr>
          <p:cNvPr id="337" name=""/>
          <p:cNvSpPr txBox="1"/>
          <p:nvPr/>
        </p:nvSpPr>
        <p:spPr>
          <a:xfrm>
            <a:off x="1300320" y="3897720"/>
            <a:ext cx="16754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Isaac ROS (GPU</a:t>
            </a:r>
            <a:endParaRPr b="0" lang="en-US" sz="1740" spc="-1" strike="noStrike">
              <a:solidFill>
                <a:srgbClr val="000000"/>
              </a:solidFill>
              <a:latin typeface="Times New Roman"/>
            </a:endParaRPr>
          </a:p>
        </p:txBody>
      </p:sp>
      <p:sp>
        <p:nvSpPr>
          <p:cNvPr id="338" name=""/>
          <p:cNvSpPr txBox="1"/>
          <p:nvPr/>
        </p:nvSpPr>
        <p:spPr>
          <a:xfrm>
            <a:off x="2947680" y="390348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による高速化</a:t>
            </a:r>
            <a:endParaRPr b="0" lang="en-US" sz="1740" spc="-1" strike="noStrike">
              <a:solidFill>
                <a:srgbClr val="000000"/>
              </a:solidFill>
              <a:latin typeface="Times New Roman"/>
            </a:endParaRPr>
          </a:p>
        </p:txBody>
      </p:sp>
      <p:sp>
        <p:nvSpPr>
          <p:cNvPr id="339" name=""/>
          <p:cNvSpPr/>
          <p:nvPr/>
        </p:nvSpPr>
        <p:spPr>
          <a:xfrm>
            <a:off x="1523880" y="4352760"/>
            <a:ext cx="76320" cy="76680"/>
          </a:xfrm>
          <a:custGeom>
            <a:avLst/>
            <a:gdLst/>
            <a:ahLst/>
            <a:rect l="0" t="0" r="r" b="b"/>
            <a:pathLst>
              <a:path w="212" h="213">
                <a:moveTo>
                  <a:pt x="212" y="107"/>
                </a:moveTo>
                <a:cubicBezTo>
                  <a:pt x="212" y="121"/>
                  <a:pt x="210" y="134"/>
                  <a:pt x="204" y="147"/>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3"/>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3"/>
                  <a:pt x="204" y="66"/>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340" name=""/>
          <p:cNvSpPr txBox="1"/>
          <p:nvPr/>
        </p:nvSpPr>
        <p:spPr>
          <a:xfrm>
            <a:off x="4272840" y="389772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341" name=""/>
          <p:cNvSpPr txBox="1"/>
          <p:nvPr/>
        </p:nvSpPr>
        <p:spPr>
          <a:xfrm>
            <a:off x="1742040" y="423684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重い計算（</a:t>
            </a:r>
            <a:endParaRPr b="0" lang="en-US" sz="1740" spc="-1" strike="noStrike">
              <a:solidFill>
                <a:srgbClr val="000000"/>
              </a:solidFill>
              <a:latin typeface="Times New Roman"/>
            </a:endParaRPr>
          </a:p>
        </p:txBody>
      </p:sp>
      <p:sp>
        <p:nvSpPr>
          <p:cNvPr id="342" name=""/>
          <p:cNvSpPr txBox="1"/>
          <p:nvPr/>
        </p:nvSpPr>
        <p:spPr>
          <a:xfrm>
            <a:off x="2846160" y="423108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343" name=""/>
          <p:cNvSpPr txBox="1"/>
          <p:nvPr/>
        </p:nvSpPr>
        <p:spPr>
          <a:xfrm>
            <a:off x="3062160" y="4236840"/>
            <a:ext cx="39783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推論、自己位置推定、軌道計算）だけを</a:t>
            </a:r>
            <a:endParaRPr b="0" lang="en-US" sz="1740" spc="-1" strike="noStrike">
              <a:solidFill>
                <a:srgbClr val="000000"/>
              </a:solidFill>
              <a:latin typeface="Times New Roman"/>
            </a:endParaRPr>
          </a:p>
        </p:txBody>
      </p:sp>
      <p:sp>
        <p:nvSpPr>
          <p:cNvPr id="344" name=""/>
          <p:cNvSpPr txBox="1"/>
          <p:nvPr/>
        </p:nvSpPr>
        <p:spPr>
          <a:xfrm>
            <a:off x="7038000" y="4231080"/>
            <a:ext cx="7477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1" lang="en-US" sz="1740" spc="-1" strike="noStrike">
                <a:solidFill>
                  <a:srgbClr val="1f2328"/>
                </a:solidFill>
                <a:latin typeface="NotoSans-Semi"/>
                <a:ea typeface="NotoSans-Semi"/>
              </a:rPr>
              <a:t>Jetson</a:t>
            </a:r>
            <a:endParaRPr b="0" lang="en-US" sz="1740" spc="-1" strike="noStrike">
              <a:solidFill>
                <a:srgbClr val="000000"/>
              </a:solidFill>
              <a:latin typeface="Times New Roman"/>
            </a:endParaRPr>
          </a:p>
        </p:txBody>
      </p:sp>
      <p:sp>
        <p:nvSpPr>
          <p:cNvPr id="345" name=""/>
          <p:cNvSpPr txBox="1"/>
          <p:nvPr/>
        </p:nvSpPr>
        <p:spPr>
          <a:xfrm>
            <a:off x="7767360" y="423684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等の</a:t>
            </a:r>
            <a:endParaRPr b="0" lang="en-US" sz="1740" spc="-1" strike="noStrike">
              <a:solidFill>
                <a:srgbClr val="000000"/>
              </a:solidFill>
              <a:latin typeface="Times New Roman"/>
            </a:endParaRPr>
          </a:p>
        </p:txBody>
      </p:sp>
      <p:sp>
        <p:nvSpPr>
          <p:cNvPr id="346" name=""/>
          <p:cNvSpPr txBox="1"/>
          <p:nvPr/>
        </p:nvSpPr>
        <p:spPr>
          <a:xfrm>
            <a:off x="8209080" y="4231080"/>
            <a:ext cx="4654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GPU</a:t>
            </a:r>
            <a:endParaRPr b="0" lang="en-US" sz="1740" spc="-1" strike="noStrike">
              <a:solidFill>
                <a:srgbClr val="000000"/>
              </a:solidFill>
              <a:latin typeface="Times New Roman"/>
            </a:endParaRPr>
          </a:p>
        </p:txBody>
      </p:sp>
      <p:sp>
        <p:nvSpPr>
          <p:cNvPr id="347" name=""/>
          <p:cNvSpPr txBox="1"/>
          <p:nvPr/>
        </p:nvSpPr>
        <p:spPr>
          <a:xfrm>
            <a:off x="8670960" y="423684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へオフロード（肩代わり）</a:t>
            </a:r>
            <a:endParaRPr b="0" lang="en-US" sz="1740" spc="-1" strike="noStrike">
              <a:solidFill>
                <a:srgbClr val="000000"/>
              </a:solidFill>
              <a:latin typeface="Times New Roman"/>
            </a:endParaRPr>
          </a:p>
        </p:txBody>
      </p:sp>
      <p:sp>
        <p:nvSpPr>
          <p:cNvPr id="348" name=""/>
          <p:cNvSpPr txBox="1"/>
          <p:nvPr/>
        </p:nvSpPr>
        <p:spPr>
          <a:xfrm>
            <a:off x="1742040" y="457020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して超高速化する、</a:t>
            </a:r>
            <a:endParaRPr b="0" lang="en-US" sz="1740" spc="-1" strike="noStrike">
              <a:solidFill>
                <a:srgbClr val="000000"/>
              </a:solidFill>
              <a:latin typeface="Times New Roman"/>
            </a:endParaRPr>
          </a:p>
        </p:txBody>
      </p:sp>
      <p:sp>
        <p:nvSpPr>
          <p:cNvPr id="349" name=""/>
          <p:cNvSpPr txBox="1"/>
          <p:nvPr/>
        </p:nvSpPr>
        <p:spPr>
          <a:xfrm>
            <a:off x="3729960" y="4564440"/>
            <a:ext cx="6148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 2</a:t>
            </a:r>
            <a:endParaRPr b="0" lang="en-US" sz="1740" spc="-1" strike="noStrike">
              <a:solidFill>
                <a:srgbClr val="000000"/>
              </a:solidFill>
              <a:latin typeface="Times New Roman"/>
            </a:endParaRPr>
          </a:p>
        </p:txBody>
      </p:sp>
      <p:sp>
        <p:nvSpPr>
          <p:cNvPr id="350" name=""/>
          <p:cNvSpPr/>
          <p:nvPr/>
        </p:nvSpPr>
        <p:spPr>
          <a:xfrm>
            <a:off x="1523880" y="5067000"/>
            <a:ext cx="76320" cy="76680"/>
          </a:xfrm>
          <a:custGeom>
            <a:avLst/>
            <a:gdLst/>
            <a:ahLst/>
            <a:rect l="0" t="0" r="r" b="b"/>
            <a:pathLst>
              <a:path w="212" h="213">
                <a:moveTo>
                  <a:pt x="212" y="106"/>
                </a:moveTo>
                <a:cubicBezTo>
                  <a:pt x="212" y="120"/>
                  <a:pt x="210" y="134"/>
                  <a:pt x="204" y="147"/>
                </a:cubicBezTo>
                <a:cubicBezTo>
                  <a:pt x="199" y="160"/>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351" name=""/>
          <p:cNvSpPr txBox="1"/>
          <p:nvPr/>
        </p:nvSpPr>
        <p:spPr>
          <a:xfrm>
            <a:off x="4344480" y="457020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専用の追加パッケージ群。</a:t>
            </a:r>
            <a:endParaRPr b="0" lang="en-US" sz="1740" spc="-1" strike="noStrike">
              <a:solidFill>
                <a:srgbClr val="000000"/>
              </a:solidFill>
              <a:latin typeface="Times New Roman"/>
            </a:endParaRPr>
          </a:p>
        </p:txBody>
      </p:sp>
      <p:sp>
        <p:nvSpPr>
          <p:cNvPr id="352" name=""/>
          <p:cNvSpPr txBox="1"/>
          <p:nvPr/>
        </p:nvSpPr>
        <p:spPr>
          <a:xfrm>
            <a:off x="1742040" y="495108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結論</a:t>
            </a:r>
            <a:endParaRPr b="0" lang="en-US" sz="1740" spc="-1" strike="noStrike">
              <a:solidFill>
                <a:srgbClr val="000000"/>
              </a:solidFill>
              <a:latin typeface="Times New Roman"/>
            </a:endParaRPr>
          </a:p>
        </p:txBody>
      </p:sp>
      <p:sp>
        <p:nvSpPr>
          <p:cNvPr id="353" name=""/>
          <p:cNvSpPr txBox="1"/>
          <p:nvPr/>
        </p:nvSpPr>
        <p:spPr>
          <a:xfrm>
            <a:off x="2183760" y="494532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354" name=""/>
          <p:cNvSpPr txBox="1"/>
          <p:nvPr/>
        </p:nvSpPr>
        <p:spPr>
          <a:xfrm>
            <a:off x="2302920" y="495108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これまでのロボット開発資産（</a:t>
            </a:r>
            <a:endParaRPr b="0" lang="en-US" sz="1740" spc="-1" strike="noStrike">
              <a:solidFill>
                <a:srgbClr val="000000"/>
              </a:solidFill>
              <a:latin typeface="Times New Roman"/>
            </a:endParaRPr>
          </a:p>
        </p:txBody>
      </p:sp>
      <p:sp>
        <p:nvSpPr>
          <p:cNvPr id="355" name=""/>
          <p:cNvSpPr txBox="1"/>
          <p:nvPr/>
        </p:nvSpPr>
        <p:spPr>
          <a:xfrm>
            <a:off x="5394960" y="4945320"/>
            <a:ext cx="6148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 2</a:t>
            </a:r>
            <a:endParaRPr b="0" lang="en-US" sz="1740" spc="-1" strike="noStrike">
              <a:solidFill>
                <a:srgbClr val="000000"/>
              </a:solidFill>
              <a:latin typeface="Times New Roman"/>
            </a:endParaRPr>
          </a:p>
        </p:txBody>
      </p:sp>
      <p:sp>
        <p:nvSpPr>
          <p:cNvPr id="356" name=""/>
          <p:cNvSpPr txBox="1"/>
          <p:nvPr/>
        </p:nvSpPr>
        <p:spPr>
          <a:xfrm>
            <a:off x="6009840" y="4951080"/>
            <a:ext cx="53042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）はそのまま活かしつつ、「ボトルネックになる脳の</a:t>
            </a:r>
            <a:endParaRPr b="0" lang="en-US" sz="1740" spc="-1" strike="noStrike">
              <a:solidFill>
                <a:srgbClr val="000000"/>
              </a:solidFill>
              <a:latin typeface="Times New Roman"/>
            </a:endParaRPr>
          </a:p>
        </p:txBody>
      </p:sp>
      <p:sp>
        <p:nvSpPr>
          <p:cNvPr id="357" name=""/>
          <p:cNvSpPr txBox="1"/>
          <p:nvPr/>
        </p:nvSpPr>
        <p:spPr>
          <a:xfrm>
            <a:off x="1742040" y="528444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処理」だけを</a:t>
            </a:r>
            <a:endParaRPr b="0" lang="en-US" sz="1740" spc="-1" strike="noStrike">
              <a:solidFill>
                <a:srgbClr val="000000"/>
              </a:solidFill>
              <a:latin typeface="Times New Roman"/>
            </a:endParaRPr>
          </a:p>
        </p:txBody>
      </p:sp>
      <p:sp>
        <p:nvSpPr>
          <p:cNvPr id="358" name=""/>
          <p:cNvSpPr txBox="1"/>
          <p:nvPr/>
        </p:nvSpPr>
        <p:spPr>
          <a:xfrm>
            <a:off x="3067200" y="5278680"/>
            <a:ext cx="8665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NVIDIA </a:t>
            </a:r>
            <a:endParaRPr b="0" lang="en-US" sz="1740" spc="-1" strike="noStrike">
              <a:solidFill>
                <a:srgbClr val="000000"/>
              </a:solidFill>
              <a:latin typeface="Times New Roman"/>
            </a:endParaRPr>
          </a:p>
        </p:txBody>
      </p:sp>
      <p:sp>
        <p:nvSpPr>
          <p:cNvPr id="359" name=""/>
          <p:cNvSpPr txBox="1"/>
          <p:nvPr/>
        </p:nvSpPr>
        <p:spPr>
          <a:xfrm>
            <a:off x="3934440" y="528444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a:t>
            </a:r>
            <a:endParaRPr b="0" lang="en-US" sz="1740" spc="-1" strike="noStrike">
              <a:solidFill>
                <a:srgbClr val="000000"/>
              </a:solidFill>
              <a:latin typeface="Times New Roman"/>
            </a:endParaRPr>
          </a:p>
        </p:txBody>
      </p:sp>
      <p:sp>
        <p:nvSpPr>
          <p:cNvPr id="360" name=""/>
          <p:cNvSpPr txBox="1"/>
          <p:nvPr/>
        </p:nvSpPr>
        <p:spPr>
          <a:xfrm>
            <a:off x="4155480" y="5278680"/>
            <a:ext cx="3301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AI </a:t>
            </a:r>
            <a:endParaRPr b="0" lang="en-US" sz="1740" spc="-1" strike="noStrike">
              <a:solidFill>
                <a:srgbClr val="000000"/>
              </a:solidFill>
              <a:latin typeface="Times New Roman"/>
            </a:endParaRPr>
          </a:p>
        </p:txBody>
      </p:sp>
      <p:sp>
        <p:nvSpPr>
          <p:cNvPr id="361" name=""/>
          <p:cNvSpPr txBox="1"/>
          <p:nvPr/>
        </p:nvSpPr>
        <p:spPr>
          <a:xfrm>
            <a:off x="4486320" y="528444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パワーに置き換える役割を果たす。</a:t>
            </a:r>
            <a:endParaRPr b="0" lang="en-US" sz="1740" spc="-1" strike="noStrike">
              <a:solidFill>
                <a:srgbClr val="000000"/>
              </a:solidFill>
              <a:latin typeface="Times New Roman"/>
            </a:endParaRPr>
          </a:p>
        </p:txBody>
      </p:sp>
      <p:sp>
        <p:nvSpPr>
          <p:cNvPr id="362"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363"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364"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12</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6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6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68" name=""/>
          <p:cNvSpPr txBox="1"/>
          <p:nvPr/>
        </p:nvSpPr>
        <p:spPr>
          <a:xfrm>
            <a:off x="747720" y="2530800"/>
            <a:ext cx="72324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2-3. </a:t>
            </a:r>
            <a:endParaRPr b="0" lang="en-US" sz="2830" spc="-1" strike="noStrike">
              <a:solidFill>
                <a:srgbClr val="000000"/>
              </a:solidFill>
              <a:latin typeface="Times New Roman"/>
            </a:endParaRPr>
          </a:p>
        </p:txBody>
      </p:sp>
      <p:sp>
        <p:nvSpPr>
          <p:cNvPr id="369" name=""/>
          <p:cNvSpPr txBox="1"/>
          <p:nvPr/>
        </p:nvSpPr>
        <p:spPr>
          <a:xfrm>
            <a:off x="1467360" y="2540160"/>
            <a:ext cx="179892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基盤モデル</a:t>
            </a:r>
            <a:endParaRPr b="0" lang="en-US" sz="2830" spc="-1" strike="noStrike">
              <a:solidFill>
                <a:srgbClr val="000000"/>
              </a:solidFill>
              <a:latin typeface="Times New Roman"/>
            </a:endParaRPr>
          </a:p>
        </p:txBody>
      </p:sp>
      <p:sp>
        <p:nvSpPr>
          <p:cNvPr id="370" name=""/>
          <p:cNvSpPr/>
          <p:nvPr/>
        </p:nvSpPr>
        <p:spPr>
          <a:xfrm>
            <a:off x="1085760" y="3390840"/>
            <a:ext cx="76320" cy="76320"/>
          </a:xfrm>
          <a:custGeom>
            <a:avLst/>
            <a:gdLst/>
            <a:ahLst/>
            <a:rect l="0" t="0" r="r" b="b"/>
            <a:pathLst>
              <a:path w="212" h="212">
                <a:moveTo>
                  <a:pt x="212" y="105"/>
                </a:moveTo>
                <a:cubicBezTo>
                  <a:pt x="212" y="120"/>
                  <a:pt x="210" y="133"/>
                  <a:pt x="204" y="146"/>
                </a:cubicBezTo>
                <a:cubicBezTo>
                  <a:pt x="199" y="159"/>
                  <a:pt x="191" y="170"/>
                  <a:pt x="181" y="180"/>
                </a:cubicBezTo>
                <a:cubicBezTo>
                  <a:pt x="171" y="191"/>
                  <a:pt x="160" y="199"/>
                  <a:pt x="147" y="204"/>
                </a:cubicBezTo>
                <a:cubicBezTo>
                  <a:pt x="134" y="210"/>
                  <a:pt x="121" y="212"/>
                  <a:pt x="107" y="212"/>
                </a:cubicBezTo>
                <a:cubicBezTo>
                  <a:pt x="93" y="212"/>
                  <a:pt x="79" y="210"/>
                  <a:pt x="66" y="204"/>
                </a:cubicBezTo>
                <a:cubicBezTo>
                  <a:pt x="53" y="199"/>
                  <a:pt x="41" y="191"/>
                  <a:pt x="31" y="180"/>
                </a:cubicBezTo>
                <a:cubicBezTo>
                  <a:pt x="21" y="170"/>
                  <a:pt x="13" y="159"/>
                  <a:pt x="8" y="146"/>
                </a:cubicBezTo>
                <a:cubicBezTo>
                  <a:pt x="2" y="133"/>
                  <a:pt x="0" y="120"/>
                  <a:pt x="0" y="105"/>
                </a:cubicBezTo>
                <a:cubicBezTo>
                  <a:pt x="0" y="91"/>
                  <a:pt x="2" y="78"/>
                  <a:pt x="8" y="65"/>
                </a:cubicBezTo>
                <a:cubicBezTo>
                  <a:pt x="13" y="52"/>
                  <a:pt x="21" y="41"/>
                  <a:pt x="31" y="31"/>
                </a:cubicBezTo>
                <a:cubicBezTo>
                  <a:pt x="41" y="21"/>
                  <a:pt x="53" y="13"/>
                  <a:pt x="66" y="8"/>
                </a:cubicBezTo>
                <a:cubicBezTo>
                  <a:pt x="79" y="2"/>
                  <a:pt x="93" y="0"/>
                  <a:pt x="107" y="0"/>
                </a:cubicBezTo>
                <a:cubicBezTo>
                  <a:pt x="121" y="0"/>
                  <a:pt x="134" y="2"/>
                  <a:pt x="147" y="8"/>
                </a:cubicBezTo>
                <a:cubicBezTo>
                  <a:pt x="160" y="13"/>
                  <a:pt x="171" y="21"/>
                  <a:pt x="181" y="31"/>
                </a:cubicBezTo>
                <a:cubicBezTo>
                  <a:pt x="191" y="41"/>
                  <a:pt x="199" y="52"/>
                  <a:pt x="204" y="65"/>
                </a:cubicBezTo>
                <a:cubicBezTo>
                  <a:pt x="210" y="78"/>
                  <a:pt x="212" y="91"/>
                  <a:pt x="212" y="105"/>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371" name=""/>
          <p:cNvSpPr txBox="1"/>
          <p:nvPr/>
        </p:nvSpPr>
        <p:spPr>
          <a:xfrm>
            <a:off x="3262320" y="2530800"/>
            <a:ext cx="440208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Project GR00T / Cosmos</a:t>
            </a:r>
            <a:endParaRPr b="0" lang="en-US" sz="2830" spc="-1" strike="noStrike">
              <a:solidFill>
                <a:srgbClr val="000000"/>
              </a:solidFill>
              <a:latin typeface="Times New Roman"/>
            </a:endParaRPr>
          </a:p>
        </p:txBody>
      </p:sp>
      <p:sp>
        <p:nvSpPr>
          <p:cNvPr id="372" name=""/>
          <p:cNvSpPr txBox="1"/>
          <p:nvPr/>
        </p:nvSpPr>
        <p:spPr>
          <a:xfrm>
            <a:off x="1300320" y="3268800"/>
            <a:ext cx="16437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Project GR00T</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373" name=""/>
          <p:cNvSpPr txBox="1"/>
          <p:nvPr/>
        </p:nvSpPr>
        <p:spPr>
          <a:xfrm>
            <a:off x="2912760" y="3274560"/>
            <a:ext cx="83980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ロボットが自然言語による指示や人間の動作から学習するためのマルチモーダル基盤</a:t>
            </a:r>
            <a:endParaRPr b="0" lang="en-US" sz="1740" spc="-1" strike="noStrike">
              <a:solidFill>
                <a:srgbClr val="000000"/>
              </a:solidFill>
              <a:latin typeface="Times New Roman"/>
            </a:endParaRPr>
          </a:p>
        </p:txBody>
      </p:sp>
      <p:sp>
        <p:nvSpPr>
          <p:cNvPr id="374" name=""/>
          <p:cNvSpPr/>
          <p:nvPr/>
        </p:nvSpPr>
        <p:spPr>
          <a:xfrm>
            <a:off x="1085760" y="4114440"/>
            <a:ext cx="76320" cy="76680"/>
          </a:xfrm>
          <a:custGeom>
            <a:avLst/>
            <a:gdLst/>
            <a:ahLst/>
            <a:rect l="0" t="0" r="r" b="b"/>
            <a:pathLst>
              <a:path w="212" h="213">
                <a:moveTo>
                  <a:pt x="212" y="107"/>
                </a:moveTo>
                <a:cubicBezTo>
                  <a:pt x="212" y="121"/>
                  <a:pt x="210" y="135"/>
                  <a:pt x="204" y="148"/>
                </a:cubicBezTo>
                <a:cubicBezTo>
                  <a:pt x="199" y="161"/>
                  <a:pt x="191" y="172"/>
                  <a:pt x="181" y="182"/>
                </a:cubicBezTo>
                <a:cubicBezTo>
                  <a:pt x="171" y="192"/>
                  <a:pt x="160" y="200"/>
                  <a:pt x="147" y="205"/>
                </a:cubicBezTo>
                <a:cubicBezTo>
                  <a:pt x="134" y="210"/>
                  <a:pt x="121" y="213"/>
                  <a:pt x="107" y="213"/>
                </a:cubicBezTo>
                <a:cubicBezTo>
                  <a:pt x="93" y="213"/>
                  <a:pt x="79" y="210"/>
                  <a:pt x="66" y="205"/>
                </a:cubicBezTo>
                <a:cubicBezTo>
                  <a:pt x="53" y="200"/>
                  <a:pt x="41" y="192"/>
                  <a:pt x="31" y="182"/>
                </a:cubicBezTo>
                <a:cubicBezTo>
                  <a:pt x="21" y="172"/>
                  <a:pt x="13" y="161"/>
                  <a:pt x="8" y="148"/>
                </a:cubicBezTo>
                <a:cubicBezTo>
                  <a:pt x="2" y="135"/>
                  <a:pt x="0" y="121"/>
                  <a:pt x="0" y="107"/>
                </a:cubicBezTo>
                <a:cubicBezTo>
                  <a:pt x="0" y="93"/>
                  <a:pt x="2" y="80"/>
                  <a:pt x="8" y="66"/>
                </a:cubicBezTo>
                <a:cubicBezTo>
                  <a:pt x="13" y="53"/>
                  <a:pt x="21" y="41"/>
                  <a:pt x="31" y="31"/>
                </a:cubicBezTo>
                <a:cubicBezTo>
                  <a:pt x="41" y="22"/>
                  <a:pt x="53" y="14"/>
                  <a:pt x="66" y="9"/>
                </a:cubicBezTo>
                <a:cubicBezTo>
                  <a:pt x="79" y="3"/>
                  <a:pt x="93" y="0"/>
                  <a:pt x="107" y="0"/>
                </a:cubicBezTo>
                <a:cubicBezTo>
                  <a:pt x="121" y="0"/>
                  <a:pt x="134" y="3"/>
                  <a:pt x="147" y="9"/>
                </a:cubicBezTo>
                <a:cubicBezTo>
                  <a:pt x="160" y="14"/>
                  <a:pt x="171" y="22"/>
                  <a:pt x="181" y="31"/>
                </a:cubicBezTo>
                <a:cubicBezTo>
                  <a:pt x="191" y="41"/>
                  <a:pt x="199" y="53"/>
                  <a:pt x="204" y="66"/>
                </a:cubicBezTo>
                <a:cubicBezTo>
                  <a:pt x="210" y="80"/>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375" name=""/>
          <p:cNvSpPr txBox="1"/>
          <p:nvPr/>
        </p:nvSpPr>
        <p:spPr>
          <a:xfrm>
            <a:off x="1300320" y="360792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モデル。</a:t>
            </a:r>
            <a:endParaRPr b="0" lang="en-US" sz="1740" spc="-1" strike="noStrike">
              <a:solidFill>
                <a:srgbClr val="000000"/>
              </a:solidFill>
              <a:latin typeface="Times New Roman"/>
            </a:endParaRPr>
          </a:p>
        </p:txBody>
      </p:sp>
      <p:sp>
        <p:nvSpPr>
          <p:cNvPr id="376" name=""/>
          <p:cNvSpPr txBox="1"/>
          <p:nvPr/>
        </p:nvSpPr>
        <p:spPr>
          <a:xfrm>
            <a:off x="1300320" y="3992760"/>
            <a:ext cx="9669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Cosmos</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377" name=""/>
          <p:cNvSpPr txBox="1"/>
          <p:nvPr/>
        </p:nvSpPr>
        <p:spPr>
          <a:xfrm>
            <a:off x="2257560" y="3998520"/>
            <a:ext cx="8839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物理法則を学習したワールドモデル。シミュレーション内での予測や生成に利用される。</a:t>
            </a:r>
            <a:endParaRPr b="0" lang="en-US" sz="1740" spc="-1" strike="noStrike">
              <a:solidFill>
                <a:srgbClr val="000000"/>
              </a:solidFill>
              <a:latin typeface="Times New Roman"/>
            </a:endParaRPr>
          </a:p>
        </p:txBody>
      </p:sp>
      <p:sp>
        <p:nvSpPr>
          <p:cNvPr id="378"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379"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380"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13</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8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84" name=""/>
          <p:cNvSpPr txBox="1"/>
          <p:nvPr/>
        </p:nvSpPr>
        <p:spPr>
          <a:xfrm>
            <a:off x="747720" y="3072960"/>
            <a:ext cx="4428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第</a:t>
            </a:r>
            <a:endParaRPr b="0" lang="en-US" sz="3480" spc="-1" strike="noStrike">
              <a:solidFill>
                <a:srgbClr val="000000"/>
              </a:solidFill>
              <a:latin typeface="Times New Roman"/>
            </a:endParaRPr>
          </a:p>
        </p:txBody>
      </p:sp>
      <p:sp>
        <p:nvSpPr>
          <p:cNvPr id="385" name=""/>
          <p:cNvSpPr txBox="1"/>
          <p:nvPr/>
        </p:nvSpPr>
        <p:spPr>
          <a:xfrm>
            <a:off x="1189440" y="3061440"/>
            <a:ext cx="44172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3</a:t>
            </a:r>
            <a:endParaRPr b="0" lang="en-US" sz="3480" spc="-1" strike="noStrike">
              <a:solidFill>
                <a:srgbClr val="000000"/>
              </a:solidFill>
              <a:latin typeface="Times New Roman"/>
            </a:endParaRPr>
          </a:p>
        </p:txBody>
      </p:sp>
      <p:sp>
        <p:nvSpPr>
          <p:cNvPr id="386" name=""/>
          <p:cNvSpPr txBox="1"/>
          <p:nvPr/>
        </p:nvSpPr>
        <p:spPr>
          <a:xfrm>
            <a:off x="1442160" y="3072960"/>
            <a:ext cx="4428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章</a:t>
            </a:r>
            <a:endParaRPr b="0" lang="en-US" sz="3480" spc="-1" strike="noStrike">
              <a:solidFill>
                <a:srgbClr val="000000"/>
              </a:solidFill>
              <a:latin typeface="Times New Roman"/>
            </a:endParaRPr>
          </a:p>
        </p:txBody>
      </p:sp>
      <p:sp>
        <p:nvSpPr>
          <p:cNvPr id="387" name=""/>
          <p:cNvSpPr txBox="1"/>
          <p:nvPr/>
        </p:nvSpPr>
        <p:spPr>
          <a:xfrm>
            <a:off x="1884240" y="3061440"/>
            <a:ext cx="44172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 </a:t>
            </a:r>
            <a:endParaRPr b="0" lang="en-US" sz="3480" spc="-1" strike="noStrike">
              <a:solidFill>
                <a:srgbClr val="000000"/>
              </a:solidFill>
              <a:latin typeface="Times New Roman"/>
            </a:endParaRPr>
          </a:p>
        </p:txBody>
      </p:sp>
      <p:sp>
        <p:nvSpPr>
          <p:cNvPr id="388" name=""/>
          <p:cNvSpPr txBox="1"/>
          <p:nvPr/>
        </p:nvSpPr>
        <p:spPr>
          <a:xfrm>
            <a:off x="2122200" y="3072960"/>
            <a:ext cx="22104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開発パスと</a:t>
            </a:r>
            <a:endParaRPr b="0" lang="en-US" sz="3480" spc="-1" strike="noStrike">
              <a:solidFill>
                <a:srgbClr val="000000"/>
              </a:solidFill>
              <a:latin typeface="Times New Roman"/>
            </a:endParaRPr>
          </a:p>
        </p:txBody>
      </p:sp>
      <p:sp>
        <p:nvSpPr>
          <p:cNvPr id="389" name=""/>
          <p:cNvSpPr txBox="1"/>
          <p:nvPr/>
        </p:nvSpPr>
        <p:spPr>
          <a:xfrm>
            <a:off x="4331880" y="3061440"/>
            <a:ext cx="148392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 </a:t>
            </a:r>
            <a:r>
              <a:rPr b="1" lang="en-US" sz="3480" spc="-1" strike="noStrike">
                <a:solidFill>
                  <a:srgbClr val="224466"/>
                </a:solidFill>
                <a:latin typeface="NotoSans-Semi"/>
                <a:ea typeface="NotoSans-Semi"/>
              </a:rPr>
              <a:t>ROS 2 </a:t>
            </a:r>
            <a:endParaRPr b="0" lang="en-US" sz="3480" spc="-1" strike="noStrike">
              <a:solidFill>
                <a:srgbClr val="000000"/>
              </a:solidFill>
              <a:latin typeface="Times New Roman"/>
            </a:endParaRPr>
          </a:p>
        </p:txBody>
      </p:sp>
      <p:sp>
        <p:nvSpPr>
          <p:cNvPr id="390" name=""/>
          <p:cNvSpPr txBox="1"/>
          <p:nvPr/>
        </p:nvSpPr>
        <p:spPr>
          <a:xfrm>
            <a:off x="5806800" y="3072960"/>
            <a:ext cx="309456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連携アプローチ</a:t>
            </a:r>
            <a:endParaRPr b="0" lang="en-US" sz="3480" spc="-1" strike="noStrike">
              <a:solidFill>
                <a:srgbClr val="000000"/>
              </a:solidFill>
              <a:latin typeface="Times New Roman"/>
            </a:endParaRPr>
          </a:p>
        </p:txBody>
      </p:sp>
      <p:sp>
        <p:nvSpPr>
          <p:cNvPr id="391"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392"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393"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14</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9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9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97" name=""/>
          <p:cNvSpPr txBox="1"/>
          <p:nvPr/>
        </p:nvSpPr>
        <p:spPr>
          <a:xfrm>
            <a:off x="747720" y="2254680"/>
            <a:ext cx="72324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3-1. </a:t>
            </a:r>
            <a:endParaRPr b="0" lang="en-US" sz="2830" spc="-1" strike="noStrike">
              <a:solidFill>
                <a:srgbClr val="000000"/>
              </a:solidFill>
              <a:latin typeface="Times New Roman"/>
            </a:endParaRPr>
          </a:p>
        </p:txBody>
      </p:sp>
      <p:sp>
        <p:nvSpPr>
          <p:cNvPr id="398" name=""/>
          <p:cNvSpPr txBox="1"/>
          <p:nvPr/>
        </p:nvSpPr>
        <p:spPr>
          <a:xfrm>
            <a:off x="1467360" y="2264040"/>
            <a:ext cx="143928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開発パス</a:t>
            </a:r>
            <a:endParaRPr b="0" lang="en-US" sz="2830" spc="-1" strike="noStrike">
              <a:solidFill>
                <a:srgbClr val="000000"/>
              </a:solidFill>
              <a:latin typeface="Times New Roman"/>
            </a:endParaRPr>
          </a:p>
        </p:txBody>
      </p:sp>
      <p:sp>
        <p:nvSpPr>
          <p:cNvPr id="399" name=""/>
          <p:cNvSpPr txBox="1"/>
          <p:nvPr/>
        </p:nvSpPr>
        <p:spPr>
          <a:xfrm>
            <a:off x="2903400" y="2254680"/>
            <a:ext cx="48654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Simulation First Approach</a:t>
            </a:r>
            <a:endParaRPr b="0" lang="en-US" sz="2830" spc="-1" strike="noStrike">
              <a:solidFill>
                <a:srgbClr val="000000"/>
              </a:solidFill>
              <a:latin typeface="Times New Roman"/>
            </a:endParaRPr>
          </a:p>
        </p:txBody>
      </p:sp>
      <p:sp>
        <p:nvSpPr>
          <p:cNvPr id="400" name=""/>
          <p:cNvSpPr txBox="1"/>
          <p:nvPr/>
        </p:nvSpPr>
        <p:spPr>
          <a:xfrm>
            <a:off x="747720" y="3008160"/>
            <a:ext cx="4641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実機レスから始める効率的なロボット開発手法</a:t>
            </a:r>
            <a:endParaRPr b="0" lang="en-US" sz="1740" spc="-1" strike="noStrike">
              <a:solidFill>
                <a:srgbClr val="000000"/>
              </a:solidFill>
              <a:latin typeface="Times New Roman"/>
            </a:endParaRPr>
          </a:p>
        </p:txBody>
      </p:sp>
      <p:sp>
        <p:nvSpPr>
          <p:cNvPr id="401" name=""/>
          <p:cNvSpPr txBox="1"/>
          <p:nvPr/>
        </p:nvSpPr>
        <p:spPr>
          <a:xfrm>
            <a:off x="1056960" y="3488040"/>
            <a:ext cx="20019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1. </a:t>
            </a:r>
            <a:r>
              <a:rPr b="1" lang="en-US" sz="1740" spc="-1" strike="noStrike">
                <a:solidFill>
                  <a:srgbClr val="1f2328"/>
                </a:solidFill>
                <a:latin typeface="NotoSans-Semi"/>
                <a:ea typeface="NotoSans-Semi"/>
              </a:rPr>
              <a:t>Isaac Sim / Lab</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402" name=""/>
          <p:cNvSpPr txBox="1"/>
          <p:nvPr/>
        </p:nvSpPr>
        <p:spPr>
          <a:xfrm>
            <a:off x="3024720" y="3493800"/>
            <a:ext cx="37573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仮想空間での学習、検証、データ生成</a:t>
            </a:r>
            <a:endParaRPr b="0" lang="en-US" sz="1740" spc="-1" strike="noStrike">
              <a:solidFill>
                <a:srgbClr val="000000"/>
              </a:solidFill>
              <a:latin typeface="Times New Roman"/>
            </a:endParaRPr>
          </a:p>
        </p:txBody>
      </p:sp>
      <p:sp>
        <p:nvSpPr>
          <p:cNvPr id="403" name=""/>
          <p:cNvSpPr txBox="1"/>
          <p:nvPr/>
        </p:nvSpPr>
        <p:spPr>
          <a:xfrm>
            <a:off x="1056960" y="3868920"/>
            <a:ext cx="14349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2. </a:t>
            </a:r>
            <a:r>
              <a:rPr b="1" lang="en-US" sz="1740" spc="-1" strike="noStrike">
                <a:solidFill>
                  <a:srgbClr val="1f2328"/>
                </a:solidFill>
                <a:latin typeface="NotoSans-Semi"/>
                <a:ea typeface="NotoSans-Semi"/>
              </a:rPr>
              <a:t>Isaac ROS</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404" name=""/>
          <p:cNvSpPr txBox="1"/>
          <p:nvPr/>
        </p:nvSpPr>
        <p:spPr>
          <a:xfrm>
            <a:off x="2473200" y="387468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実機へのデプロイ、エッジ</a:t>
            </a:r>
            <a:endParaRPr b="0" lang="en-US" sz="1740" spc="-1" strike="noStrike">
              <a:solidFill>
                <a:srgbClr val="000000"/>
              </a:solidFill>
              <a:latin typeface="Times New Roman"/>
            </a:endParaRPr>
          </a:p>
        </p:txBody>
      </p:sp>
      <p:sp>
        <p:nvSpPr>
          <p:cNvPr id="405" name=""/>
          <p:cNvSpPr txBox="1"/>
          <p:nvPr/>
        </p:nvSpPr>
        <p:spPr>
          <a:xfrm>
            <a:off x="5123520" y="38689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406" name=""/>
          <p:cNvSpPr txBox="1"/>
          <p:nvPr/>
        </p:nvSpPr>
        <p:spPr>
          <a:xfrm>
            <a:off x="5339520" y="387468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の実装</a:t>
            </a:r>
            <a:endParaRPr b="0" lang="en-US" sz="1740" spc="-1" strike="noStrike">
              <a:solidFill>
                <a:srgbClr val="000000"/>
              </a:solidFill>
              <a:latin typeface="Times New Roman"/>
            </a:endParaRPr>
          </a:p>
        </p:txBody>
      </p:sp>
      <p:sp>
        <p:nvSpPr>
          <p:cNvPr id="407" name=""/>
          <p:cNvSpPr txBox="1"/>
          <p:nvPr/>
        </p:nvSpPr>
        <p:spPr>
          <a:xfrm>
            <a:off x="1056960" y="4259520"/>
            <a:ext cx="26175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3. </a:t>
            </a:r>
            <a:r>
              <a:rPr b="1" lang="en-US" sz="1740" spc="-1" strike="noStrike">
                <a:solidFill>
                  <a:srgbClr val="1f2328"/>
                </a:solidFill>
                <a:latin typeface="NotoSans-Semi"/>
                <a:ea typeface="NotoSans-Semi"/>
              </a:rPr>
              <a:t>Omniverse / Cosmos</a:t>
            </a:r>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408" name=""/>
          <p:cNvSpPr txBox="1"/>
          <p:nvPr/>
        </p:nvSpPr>
        <p:spPr>
          <a:xfrm>
            <a:off x="3635280" y="4265280"/>
            <a:ext cx="3315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デジタルツイン構築、高度な推論</a:t>
            </a:r>
            <a:endParaRPr b="0" lang="en-US" sz="1740" spc="-1" strike="noStrike">
              <a:solidFill>
                <a:srgbClr val="000000"/>
              </a:solidFill>
              <a:latin typeface="Times New Roman"/>
            </a:endParaRPr>
          </a:p>
        </p:txBody>
      </p:sp>
      <p:sp>
        <p:nvSpPr>
          <p:cNvPr id="409"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410"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411"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15</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1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1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15" name=""/>
          <p:cNvSpPr txBox="1"/>
          <p:nvPr/>
        </p:nvSpPr>
        <p:spPr>
          <a:xfrm>
            <a:off x="747720" y="740160"/>
            <a:ext cx="147744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3-2. Sim </a:t>
            </a:r>
            <a:endParaRPr b="0" lang="en-US" sz="2830" spc="-1" strike="noStrike">
              <a:solidFill>
                <a:srgbClr val="000000"/>
              </a:solidFill>
              <a:latin typeface="Times New Roman"/>
            </a:endParaRPr>
          </a:p>
        </p:txBody>
      </p:sp>
      <p:sp>
        <p:nvSpPr>
          <p:cNvPr id="416" name=""/>
          <p:cNvSpPr txBox="1"/>
          <p:nvPr/>
        </p:nvSpPr>
        <p:spPr>
          <a:xfrm>
            <a:off x="2207160" y="749520"/>
            <a:ext cx="36036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と</a:t>
            </a:r>
            <a:endParaRPr b="0" lang="en-US" sz="2830" spc="-1" strike="noStrike">
              <a:solidFill>
                <a:srgbClr val="000000"/>
              </a:solidFill>
              <a:latin typeface="Times New Roman"/>
            </a:endParaRPr>
          </a:p>
        </p:txBody>
      </p:sp>
      <p:sp>
        <p:nvSpPr>
          <p:cNvPr id="417" name=""/>
          <p:cNvSpPr txBox="1"/>
          <p:nvPr/>
        </p:nvSpPr>
        <p:spPr>
          <a:xfrm>
            <a:off x="2566440" y="740160"/>
            <a:ext cx="9090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r>
              <a:rPr b="1" lang="en-US" sz="2830" spc="-1" strike="noStrike">
                <a:solidFill>
                  <a:srgbClr val="1f2328"/>
                </a:solidFill>
                <a:latin typeface="NotoSans-Semi"/>
                <a:ea typeface="NotoSans-Semi"/>
              </a:rPr>
              <a:t>ROS </a:t>
            </a:r>
            <a:endParaRPr b="0" lang="en-US" sz="2830" spc="-1" strike="noStrike">
              <a:solidFill>
                <a:srgbClr val="000000"/>
              </a:solidFill>
              <a:latin typeface="Times New Roman"/>
            </a:endParaRPr>
          </a:p>
        </p:txBody>
      </p:sp>
      <p:sp>
        <p:nvSpPr>
          <p:cNvPr id="418" name=""/>
          <p:cNvSpPr txBox="1"/>
          <p:nvPr/>
        </p:nvSpPr>
        <p:spPr>
          <a:xfrm>
            <a:off x="3465720" y="749520"/>
            <a:ext cx="25182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の連携パターン</a:t>
            </a:r>
            <a:endParaRPr b="0" lang="en-US" sz="2830" spc="-1" strike="noStrike">
              <a:solidFill>
                <a:srgbClr val="000000"/>
              </a:solidFill>
              <a:latin typeface="Times New Roman"/>
            </a:endParaRPr>
          </a:p>
        </p:txBody>
      </p:sp>
      <p:sp>
        <p:nvSpPr>
          <p:cNvPr id="419" name=""/>
          <p:cNvSpPr txBox="1"/>
          <p:nvPr/>
        </p:nvSpPr>
        <p:spPr>
          <a:xfrm>
            <a:off x="5978520" y="740160"/>
            <a:ext cx="35226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Bridge vs MoveIt 2</a:t>
            </a:r>
            <a:endParaRPr b="0" lang="en-US" sz="2830" spc="-1" strike="noStrike">
              <a:solidFill>
                <a:srgbClr val="000000"/>
              </a:solidFill>
              <a:latin typeface="Times New Roman"/>
            </a:endParaRPr>
          </a:p>
        </p:txBody>
      </p:sp>
      <p:sp>
        <p:nvSpPr>
          <p:cNvPr id="420" name=""/>
          <p:cNvSpPr txBox="1"/>
          <p:nvPr/>
        </p:nvSpPr>
        <p:spPr>
          <a:xfrm>
            <a:off x="747720" y="148392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シミュレーションと</a:t>
            </a:r>
            <a:endParaRPr b="0" lang="en-US" sz="1740" spc="-1" strike="noStrike">
              <a:solidFill>
                <a:srgbClr val="000000"/>
              </a:solidFill>
              <a:latin typeface="Times New Roman"/>
            </a:endParaRPr>
          </a:p>
        </p:txBody>
      </p:sp>
      <p:sp>
        <p:nvSpPr>
          <p:cNvPr id="421" name=""/>
          <p:cNvSpPr txBox="1"/>
          <p:nvPr/>
        </p:nvSpPr>
        <p:spPr>
          <a:xfrm>
            <a:off x="2735640" y="1478160"/>
            <a:ext cx="432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a:t>
            </a:r>
            <a:endParaRPr b="0" lang="en-US" sz="1740" spc="-1" strike="noStrike">
              <a:solidFill>
                <a:srgbClr val="000000"/>
              </a:solidFill>
              <a:latin typeface="Times New Roman"/>
            </a:endParaRPr>
          </a:p>
        </p:txBody>
      </p:sp>
      <p:sp>
        <p:nvSpPr>
          <p:cNvPr id="422" name=""/>
          <p:cNvSpPr txBox="1"/>
          <p:nvPr/>
        </p:nvSpPr>
        <p:spPr>
          <a:xfrm>
            <a:off x="3166560" y="148392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の連携には、目的ごとに異なる</a:t>
            </a:r>
            <a:endParaRPr b="0" lang="en-US" sz="1740" spc="-1" strike="noStrike">
              <a:solidFill>
                <a:srgbClr val="000000"/>
              </a:solidFill>
              <a:latin typeface="Times New Roman"/>
            </a:endParaRPr>
          </a:p>
        </p:txBody>
      </p:sp>
      <p:sp>
        <p:nvSpPr>
          <p:cNvPr id="423" name=""/>
          <p:cNvSpPr txBox="1"/>
          <p:nvPr/>
        </p:nvSpPr>
        <p:spPr>
          <a:xfrm>
            <a:off x="6258600" y="147816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2</a:t>
            </a:r>
            <a:endParaRPr b="0" lang="en-US" sz="1740" spc="-1" strike="noStrike">
              <a:solidFill>
                <a:srgbClr val="000000"/>
              </a:solidFill>
              <a:latin typeface="Times New Roman"/>
            </a:endParaRPr>
          </a:p>
        </p:txBody>
      </p:sp>
      <p:sp>
        <p:nvSpPr>
          <p:cNvPr id="424" name=""/>
          <p:cNvSpPr txBox="1"/>
          <p:nvPr/>
        </p:nvSpPr>
        <p:spPr>
          <a:xfrm>
            <a:off x="6384960" y="148392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つのアプローチが存在します。</a:t>
            </a:r>
            <a:endParaRPr b="0" lang="en-US" sz="1740" spc="-1" strike="noStrike">
              <a:solidFill>
                <a:srgbClr val="000000"/>
              </a:solidFill>
              <a:latin typeface="Times New Roman"/>
            </a:endParaRPr>
          </a:p>
        </p:txBody>
      </p:sp>
      <p:sp>
        <p:nvSpPr>
          <p:cNvPr id="425" name=""/>
          <p:cNvSpPr txBox="1"/>
          <p:nvPr/>
        </p:nvSpPr>
        <p:spPr>
          <a:xfrm>
            <a:off x="747720" y="2016720"/>
            <a:ext cx="121392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パターン</a:t>
            </a:r>
            <a:endParaRPr b="0" lang="en-US" sz="2390" spc="-1" strike="noStrike">
              <a:solidFill>
                <a:srgbClr val="000000"/>
              </a:solidFill>
              <a:latin typeface="Times New Roman"/>
            </a:endParaRPr>
          </a:p>
        </p:txBody>
      </p:sp>
      <p:sp>
        <p:nvSpPr>
          <p:cNvPr id="426" name=""/>
          <p:cNvSpPr txBox="1"/>
          <p:nvPr/>
        </p:nvSpPr>
        <p:spPr>
          <a:xfrm>
            <a:off x="1962720" y="2008800"/>
            <a:ext cx="239040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A: ROS 2 Bridge </a:t>
            </a:r>
            <a:endParaRPr b="0" lang="en-US" sz="2390" spc="-1" strike="noStrike">
              <a:solidFill>
                <a:srgbClr val="000000"/>
              </a:solidFill>
              <a:latin typeface="Times New Roman"/>
            </a:endParaRPr>
          </a:p>
        </p:txBody>
      </p:sp>
      <p:sp>
        <p:nvSpPr>
          <p:cNvPr id="427" name=""/>
          <p:cNvSpPr/>
          <p:nvPr/>
        </p:nvSpPr>
        <p:spPr>
          <a:xfrm>
            <a:off x="1085760" y="2695320"/>
            <a:ext cx="76320" cy="76680"/>
          </a:xfrm>
          <a:custGeom>
            <a:avLst/>
            <a:gdLst/>
            <a:ahLst/>
            <a:rect l="0" t="0" r="r" b="b"/>
            <a:pathLst>
              <a:path w="212" h="213">
                <a:moveTo>
                  <a:pt x="212" y="107"/>
                </a:moveTo>
                <a:cubicBezTo>
                  <a:pt x="212" y="121"/>
                  <a:pt x="210" y="135"/>
                  <a:pt x="204" y="148"/>
                </a:cubicBezTo>
                <a:cubicBezTo>
                  <a:pt x="199" y="161"/>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1"/>
                  <a:pt x="8" y="148"/>
                </a:cubicBezTo>
                <a:cubicBezTo>
                  <a:pt x="2" y="135"/>
                  <a:pt x="0" y="121"/>
                  <a:pt x="0" y="107"/>
                </a:cubicBezTo>
                <a:cubicBezTo>
                  <a:pt x="0" y="93"/>
                  <a:pt x="2" y="80"/>
                  <a:pt x="8" y="67"/>
                </a:cubicBezTo>
                <a:cubicBezTo>
                  <a:pt x="13" y="54"/>
                  <a:pt x="21" y="42"/>
                  <a:pt x="31" y="32"/>
                </a:cubicBezTo>
                <a:cubicBezTo>
                  <a:pt x="41" y="22"/>
                  <a:pt x="53" y="15"/>
                  <a:pt x="66" y="9"/>
                </a:cubicBezTo>
                <a:cubicBezTo>
                  <a:pt x="79" y="3"/>
                  <a:pt x="93" y="0"/>
                  <a:pt x="107" y="0"/>
                </a:cubicBezTo>
                <a:cubicBezTo>
                  <a:pt x="121" y="0"/>
                  <a:pt x="134" y="3"/>
                  <a:pt x="147" y="9"/>
                </a:cubicBezTo>
                <a:cubicBezTo>
                  <a:pt x="160" y="15"/>
                  <a:pt x="171" y="22"/>
                  <a:pt x="181" y="32"/>
                </a:cubicBezTo>
                <a:cubicBezTo>
                  <a:pt x="191" y="42"/>
                  <a:pt x="199" y="54"/>
                  <a:pt x="204" y="67"/>
                </a:cubicBezTo>
                <a:cubicBezTo>
                  <a:pt x="210" y="80"/>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428" name=""/>
          <p:cNvSpPr txBox="1"/>
          <p:nvPr/>
        </p:nvSpPr>
        <p:spPr>
          <a:xfrm>
            <a:off x="4323240" y="2016720"/>
            <a:ext cx="303336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連携（全体検証向け）</a:t>
            </a:r>
            <a:endParaRPr b="0" lang="en-US" sz="2390" spc="-1" strike="noStrike">
              <a:solidFill>
                <a:srgbClr val="000000"/>
              </a:solidFill>
              <a:latin typeface="Times New Roman"/>
            </a:endParaRPr>
          </a:p>
        </p:txBody>
      </p:sp>
      <p:sp>
        <p:nvSpPr>
          <p:cNvPr id="429" name=""/>
          <p:cNvSpPr txBox="1"/>
          <p:nvPr/>
        </p:nvSpPr>
        <p:spPr>
          <a:xfrm>
            <a:off x="1300320" y="257940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仕組み</a:t>
            </a:r>
            <a:endParaRPr b="0" lang="en-US" sz="1740" spc="-1" strike="noStrike">
              <a:solidFill>
                <a:srgbClr val="000000"/>
              </a:solidFill>
              <a:latin typeface="Times New Roman"/>
            </a:endParaRPr>
          </a:p>
        </p:txBody>
      </p:sp>
      <p:sp>
        <p:nvSpPr>
          <p:cNvPr id="430" name=""/>
          <p:cNvSpPr txBox="1"/>
          <p:nvPr/>
        </p:nvSpPr>
        <p:spPr>
          <a:xfrm>
            <a:off x="1962720" y="2573640"/>
            <a:ext cx="10980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0" lang="en-US" sz="1740" spc="-1" strike="noStrike">
                <a:solidFill>
                  <a:srgbClr val="1f2328"/>
                </a:solidFill>
                <a:latin typeface="NotoSans"/>
                <a:ea typeface="NotoSans"/>
              </a:rPr>
              <a:t>Isaac Sim</a:t>
            </a:r>
            <a:endParaRPr b="0" lang="en-US" sz="1740" spc="-1" strike="noStrike">
              <a:solidFill>
                <a:srgbClr val="000000"/>
              </a:solidFill>
              <a:latin typeface="Times New Roman"/>
            </a:endParaRPr>
          </a:p>
        </p:txBody>
      </p:sp>
      <p:sp>
        <p:nvSpPr>
          <p:cNvPr id="431" name=""/>
          <p:cNvSpPr txBox="1"/>
          <p:nvPr/>
        </p:nvSpPr>
        <p:spPr>
          <a:xfrm>
            <a:off x="3058560" y="2579400"/>
            <a:ext cx="2873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内の仮想ロボットと、外部の</a:t>
            </a:r>
            <a:endParaRPr b="0" lang="en-US" sz="1740" spc="-1" strike="noStrike">
              <a:solidFill>
                <a:srgbClr val="000000"/>
              </a:solidFill>
              <a:latin typeface="Times New Roman"/>
            </a:endParaRPr>
          </a:p>
        </p:txBody>
      </p:sp>
      <p:sp>
        <p:nvSpPr>
          <p:cNvPr id="432" name=""/>
          <p:cNvSpPr txBox="1"/>
          <p:nvPr/>
        </p:nvSpPr>
        <p:spPr>
          <a:xfrm>
            <a:off x="5929920" y="2573640"/>
            <a:ext cx="432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a:t>
            </a:r>
            <a:endParaRPr b="0" lang="en-US" sz="1740" spc="-1" strike="noStrike">
              <a:solidFill>
                <a:srgbClr val="000000"/>
              </a:solidFill>
              <a:latin typeface="Times New Roman"/>
            </a:endParaRPr>
          </a:p>
        </p:txBody>
      </p:sp>
      <p:sp>
        <p:nvSpPr>
          <p:cNvPr id="433" name=""/>
          <p:cNvSpPr txBox="1"/>
          <p:nvPr/>
        </p:nvSpPr>
        <p:spPr>
          <a:xfrm>
            <a:off x="6360840" y="257940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ネットワークを「</a:t>
            </a:r>
            <a:endParaRPr b="0" lang="en-US" sz="1740" spc="-1" strike="noStrike">
              <a:solidFill>
                <a:srgbClr val="000000"/>
              </a:solidFill>
              <a:latin typeface="Times New Roman"/>
            </a:endParaRPr>
          </a:p>
        </p:txBody>
      </p:sp>
      <p:sp>
        <p:nvSpPr>
          <p:cNvPr id="434" name=""/>
          <p:cNvSpPr txBox="1"/>
          <p:nvPr/>
        </p:nvSpPr>
        <p:spPr>
          <a:xfrm>
            <a:off x="8127720" y="2573640"/>
            <a:ext cx="6879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Bridge</a:t>
            </a:r>
            <a:endParaRPr b="0" lang="en-US" sz="1740" spc="-1" strike="noStrike">
              <a:solidFill>
                <a:srgbClr val="000000"/>
              </a:solidFill>
              <a:latin typeface="Times New Roman"/>
            </a:endParaRPr>
          </a:p>
        </p:txBody>
      </p:sp>
      <p:sp>
        <p:nvSpPr>
          <p:cNvPr id="435" name=""/>
          <p:cNvSpPr txBox="1"/>
          <p:nvPr/>
        </p:nvSpPr>
        <p:spPr>
          <a:xfrm>
            <a:off x="8815680" y="2579400"/>
            <a:ext cx="24314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ノード」で中継・通信さ</a:t>
            </a:r>
            <a:endParaRPr b="0" lang="en-US" sz="1740" spc="-1" strike="noStrike">
              <a:solidFill>
                <a:srgbClr val="000000"/>
              </a:solidFill>
              <a:latin typeface="Times New Roman"/>
            </a:endParaRPr>
          </a:p>
        </p:txBody>
      </p:sp>
      <p:sp>
        <p:nvSpPr>
          <p:cNvPr id="436" name=""/>
          <p:cNvSpPr/>
          <p:nvPr/>
        </p:nvSpPr>
        <p:spPr>
          <a:xfrm>
            <a:off x="1085760" y="3409920"/>
            <a:ext cx="76320" cy="76320"/>
          </a:xfrm>
          <a:custGeom>
            <a:avLst/>
            <a:gdLst/>
            <a:ahLst/>
            <a:rect l="0" t="0" r="r" b="b"/>
            <a:pathLst>
              <a:path w="212" h="212">
                <a:moveTo>
                  <a:pt x="212" y="105"/>
                </a:moveTo>
                <a:cubicBezTo>
                  <a:pt x="212" y="119"/>
                  <a:pt x="210" y="134"/>
                  <a:pt x="204" y="147"/>
                </a:cubicBezTo>
                <a:cubicBezTo>
                  <a:pt x="199" y="160"/>
                  <a:pt x="191" y="171"/>
                  <a:pt x="181" y="181"/>
                </a:cubicBezTo>
                <a:cubicBezTo>
                  <a:pt x="171" y="191"/>
                  <a:pt x="160" y="199"/>
                  <a:pt x="147" y="204"/>
                </a:cubicBezTo>
                <a:cubicBezTo>
                  <a:pt x="134" y="210"/>
                  <a:pt x="121" y="212"/>
                  <a:pt x="107" y="212"/>
                </a:cubicBezTo>
                <a:cubicBezTo>
                  <a:pt x="93" y="212"/>
                  <a:pt x="79" y="210"/>
                  <a:pt x="66" y="204"/>
                </a:cubicBezTo>
                <a:cubicBezTo>
                  <a:pt x="53" y="199"/>
                  <a:pt x="41" y="191"/>
                  <a:pt x="31" y="181"/>
                </a:cubicBezTo>
                <a:cubicBezTo>
                  <a:pt x="21" y="171"/>
                  <a:pt x="13" y="160"/>
                  <a:pt x="8" y="147"/>
                </a:cubicBezTo>
                <a:cubicBezTo>
                  <a:pt x="2" y="134"/>
                  <a:pt x="0" y="119"/>
                  <a:pt x="0" y="105"/>
                </a:cubicBezTo>
                <a:cubicBezTo>
                  <a:pt x="0" y="91"/>
                  <a:pt x="2" y="78"/>
                  <a:pt x="8" y="65"/>
                </a:cubicBezTo>
                <a:cubicBezTo>
                  <a:pt x="13" y="52"/>
                  <a:pt x="21" y="41"/>
                  <a:pt x="31" y="31"/>
                </a:cubicBezTo>
                <a:cubicBezTo>
                  <a:pt x="41" y="21"/>
                  <a:pt x="53" y="13"/>
                  <a:pt x="66" y="8"/>
                </a:cubicBezTo>
                <a:cubicBezTo>
                  <a:pt x="79" y="2"/>
                  <a:pt x="93" y="0"/>
                  <a:pt x="107" y="0"/>
                </a:cubicBezTo>
                <a:cubicBezTo>
                  <a:pt x="121" y="0"/>
                  <a:pt x="134" y="2"/>
                  <a:pt x="147" y="8"/>
                </a:cubicBezTo>
                <a:cubicBezTo>
                  <a:pt x="160" y="13"/>
                  <a:pt x="171" y="21"/>
                  <a:pt x="181" y="31"/>
                </a:cubicBezTo>
                <a:cubicBezTo>
                  <a:pt x="191" y="41"/>
                  <a:pt x="199" y="52"/>
                  <a:pt x="204" y="65"/>
                </a:cubicBezTo>
                <a:cubicBezTo>
                  <a:pt x="210" y="78"/>
                  <a:pt x="212" y="91"/>
                  <a:pt x="212" y="105"/>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437" name=""/>
          <p:cNvSpPr txBox="1"/>
          <p:nvPr/>
        </p:nvSpPr>
        <p:spPr>
          <a:xfrm>
            <a:off x="1300320" y="291276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せる手法。</a:t>
            </a:r>
            <a:endParaRPr b="0" lang="en-US" sz="1740" spc="-1" strike="noStrike">
              <a:solidFill>
                <a:srgbClr val="000000"/>
              </a:solidFill>
              <a:latin typeface="Times New Roman"/>
            </a:endParaRPr>
          </a:p>
        </p:txBody>
      </p:sp>
      <p:sp>
        <p:nvSpPr>
          <p:cNvPr id="438" name=""/>
          <p:cNvSpPr txBox="1"/>
          <p:nvPr/>
        </p:nvSpPr>
        <p:spPr>
          <a:xfrm>
            <a:off x="1300320" y="329364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特徴</a:t>
            </a:r>
            <a:endParaRPr b="0" lang="en-US" sz="1740" spc="-1" strike="noStrike">
              <a:solidFill>
                <a:srgbClr val="000000"/>
              </a:solidFill>
              <a:latin typeface="Times New Roman"/>
            </a:endParaRPr>
          </a:p>
        </p:txBody>
      </p:sp>
      <p:sp>
        <p:nvSpPr>
          <p:cNvPr id="439" name=""/>
          <p:cNvSpPr txBox="1"/>
          <p:nvPr/>
        </p:nvSpPr>
        <p:spPr>
          <a:xfrm>
            <a:off x="1742040" y="328788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440" name=""/>
          <p:cNvSpPr txBox="1"/>
          <p:nvPr/>
        </p:nvSpPr>
        <p:spPr>
          <a:xfrm>
            <a:off x="1861200" y="329364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カメラ画像や</a:t>
            </a:r>
            <a:endParaRPr b="0" lang="en-US" sz="1740" spc="-1" strike="noStrike">
              <a:solidFill>
                <a:srgbClr val="000000"/>
              </a:solidFill>
              <a:latin typeface="Times New Roman"/>
            </a:endParaRPr>
          </a:p>
        </p:txBody>
      </p:sp>
      <p:sp>
        <p:nvSpPr>
          <p:cNvPr id="441" name=""/>
          <p:cNvSpPr txBox="1"/>
          <p:nvPr/>
        </p:nvSpPr>
        <p:spPr>
          <a:xfrm>
            <a:off x="3186360" y="3287880"/>
            <a:ext cx="6134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LiDAR</a:t>
            </a:r>
            <a:endParaRPr b="0" lang="en-US" sz="1740" spc="-1" strike="noStrike">
              <a:solidFill>
                <a:srgbClr val="000000"/>
              </a:solidFill>
              <a:latin typeface="Times New Roman"/>
            </a:endParaRPr>
          </a:p>
        </p:txBody>
      </p:sp>
      <p:sp>
        <p:nvSpPr>
          <p:cNvPr id="442" name=""/>
          <p:cNvSpPr txBox="1"/>
          <p:nvPr/>
        </p:nvSpPr>
        <p:spPr>
          <a:xfrm>
            <a:off x="3794400" y="3293640"/>
            <a:ext cx="75139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データをシミュレータから実機と同じ名前で配信し、ハードインザループに</a:t>
            </a:r>
            <a:endParaRPr b="0" lang="en-US" sz="1740" spc="-1" strike="noStrike">
              <a:solidFill>
                <a:srgbClr val="000000"/>
              </a:solidFill>
              <a:latin typeface="Times New Roman"/>
            </a:endParaRPr>
          </a:p>
        </p:txBody>
      </p:sp>
      <p:sp>
        <p:nvSpPr>
          <p:cNvPr id="443" name=""/>
          <p:cNvSpPr txBox="1"/>
          <p:nvPr/>
        </p:nvSpPr>
        <p:spPr>
          <a:xfrm>
            <a:off x="1300320" y="362700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近い純粋な結合テストが可能。</a:t>
            </a:r>
            <a:endParaRPr b="0" lang="en-US" sz="1740" spc="-1" strike="noStrike">
              <a:solidFill>
                <a:srgbClr val="000000"/>
              </a:solidFill>
              <a:latin typeface="Times New Roman"/>
            </a:endParaRPr>
          </a:p>
        </p:txBody>
      </p:sp>
      <p:sp>
        <p:nvSpPr>
          <p:cNvPr id="444" name=""/>
          <p:cNvSpPr txBox="1"/>
          <p:nvPr/>
        </p:nvSpPr>
        <p:spPr>
          <a:xfrm>
            <a:off x="747720" y="4159800"/>
            <a:ext cx="121392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パターン</a:t>
            </a:r>
            <a:endParaRPr b="0" lang="en-US" sz="2390" spc="-1" strike="noStrike">
              <a:solidFill>
                <a:srgbClr val="000000"/>
              </a:solidFill>
              <a:latin typeface="Times New Roman"/>
            </a:endParaRPr>
          </a:p>
        </p:txBody>
      </p:sp>
      <p:sp>
        <p:nvSpPr>
          <p:cNvPr id="445" name=""/>
          <p:cNvSpPr txBox="1"/>
          <p:nvPr/>
        </p:nvSpPr>
        <p:spPr>
          <a:xfrm>
            <a:off x="1962720" y="4151880"/>
            <a:ext cx="177480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B: MoveIt 2 </a:t>
            </a:r>
            <a:endParaRPr b="0" lang="en-US" sz="2390" spc="-1" strike="noStrike">
              <a:solidFill>
                <a:srgbClr val="000000"/>
              </a:solidFill>
              <a:latin typeface="Times New Roman"/>
            </a:endParaRPr>
          </a:p>
        </p:txBody>
      </p:sp>
      <p:sp>
        <p:nvSpPr>
          <p:cNvPr id="446" name=""/>
          <p:cNvSpPr/>
          <p:nvPr/>
        </p:nvSpPr>
        <p:spPr>
          <a:xfrm>
            <a:off x="1085760" y="4838400"/>
            <a:ext cx="76320" cy="76680"/>
          </a:xfrm>
          <a:custGeom>
            <a:avLst/>
            <a:gdLst/>
            <a:ahLst/>
            <a:rect l="0" t="0" r="r" b="b"/>
            <a:pathLst>
              <a:path w="212" h="213">
                <a:moveTo>
                  <a:pt x="212" y="106"/>
                </a:moveTo>
                <a:cubicBezTo>
                  <a:pt x="212" y="120"/>
                  <a:pt x="210" y="134"/>
                  <a:pt x="204" y="147"/>
                </a:cubicBezTo>
                <a:cubicBezTo>
                  <a:pt x="199" y="160"/>
                  <a:pt x="191" y="172"/>
                  <a:pt x="181" y="182"/>
                </a:cubicBezTo>
                <a:cubicBezTo>
                  <a:pt x="171" y="192"/>
                  <a:pt x="160" y="200"/>
                  <a:pt x="147" y="205"/>
                </a:cubicBezTo>
                <a:cubicBezTo>
                  <a:pt x="134" y="210"/>
                  <a:pt x="121" y="213"/>
                  <a:pt x="107" y="213"/>
                </a:cubicBezTo>
                <a:cubicBezTo>
                  <a:pt x="93" y="213"/>
                  <a:pt x="79" y="210"/>
                  <a:pt x="66" y="205"/>
                </a:cubicBezTo>
                <a:cubicBezTo>
                  <a:pt x="53" y="200"/>
                  <a:pt x="41" y="192"/>
                  <a:pt x="31" y="182"/>
                </a:cubicBezTo>
                <a:cubicBezTo>
                  <a:pt x="21" y="172"/>
                  <a:pt x="13" y="160"/>
                  <a:pt x="8" y="147"/>
                </a:cubicBezTo>
                <a:cubicBezTo>
                  <a:pt x="2" y="134"/>
                  <a:pt x="0" y="120"/>
                  <a:pt x="0" y="106"/>
                </a:cubicBezTo>
                <a:cubicBezTo>
                  <a:pt x="0" y="92"/>
                  <a:pt x="2" y="79"/>
                  <a:pt x="8" y="66"/>
                </a:cubicBezTo>
                <a:cubicBezTo>
                  <a:pt x="13" y="53"/>
                  <a:pt x="21" y="41"/>
                  <a:pt x="31" y="31"/>
                </a:cubicBezTo>
                <a:cubicBezTo>
                  <a:pt x="41" y="21"/>
                  <a:pt x="53" y="14"/>
                  <a:pt x="66" y="8"/>
                </a:cubicBezTo>
                <a:cubicBezTo>
                  <a:pt x="79" y="3"/>
                  <a:pt x="93" y="0"/>
                  <a:pt x="107" y="0"/>
                </a:cubicBezTo>
                <a:cubicBezTo>
                  <a:pt x="121" y="0"/>
                  <a:pt x="134" y="3"/>
                  <a:pt x="147" y="8"/>
                </a:cubicBezTo>
                <a:cubicBezTo>
                  <a:pt x="160" y="14"/>
                  <a:pt x="171" y="21"/>
                  <a:pt x="181" y="31"/>
                </a:cubicBezTo>
                <a:cubicBezTo>
                  <a:pt x="191" y="41"/>
                  <a:pt x="199" y="53"/>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447" name=""/>
          <p:cNvSpPr txBox="1"/>
          <p:nvPr/>
        </p:nvSpPr>
        <p:spPr>
          <a:xfrm>
            <a:off x="3700440" y="4159800"/>
            <a:ext cx="363996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連携（実稼働・制御向け）</a:t>
            </a:r>
            <a:endParaRPr b="0" lang="en-US" sz="2390" spc="-1" strike="noStrike">
              <a:solidFill>
                <a:srgbClr val="000000"/>
              </a:solidFill>
              <a:latin typeface="Times New Roman"/>
            </a:endParaRPr>
          </a:p>
        </p:txBody>
      </p:sp>
      <p:sp>
        <p:nvSpPr>
          <p:cNvPr id="448" name=""/>
          <p:cNvSpPr txBox="1"/>
          <p:nvPr/>
        </p:nvSpPr>
        <p:spPr>
          <a:xfrm>
            <a:off x="1300320" y="472248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仕組み</a:t>
            </a:r>
            <a:endParaRPr b="0" lang="en-US" sz="1740" spc="-1" strike="noStrike">
              <a:solidFill>
                <a:srgbClr val="000000"/>
              </a:solidFill>
              <a:latin typeface="Times New Roman"/>
            </a:endParaRPr>
          </a:p>
        </p:txBody>
      </p:sp>
      <p:sp>
        <p:nvSpPr>
          <p:cNvPr id="449" name=""/>
          <p:cNvSpPr txBox="1"/>
          <p:nvPr/>
        </p:nvSpPr>
        <p:spPr>
          <a:xfrm>
            <a:off x="1962720" y="4716720"/>
            <a:ext cx="11437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0" lang="en-US" sz="1740" spc="-1" strike="noStrike">
                <a:solidFill>
                  <a:srgbClr val="1f2328"/>
                </a:solidFill>
                <a:latin typeface="NotoSans"/>
                <a:ea typeface="NotoSans"/>
              </a:rPr>
              <a:t>Isaac ROS</a:t>
            </a:r>
            <a:endParaRPr b="0" lang="en-US" sz="1740" spc="-1" strike="noStrike">
              <a:solidFill>
                <a:srgbClr val="000000"/>
              </a:solidFill>
              <a:latin typeface="Times New Roman"/>
            </a:endParaRPr>
          </a:p>
        </p:txBody>
      </p:sp>
      <p:sp>
        <p:nvSpPr>
          <p:cNvPr id="450" name=""/>
          <p:cNvSpPr/>
          <p:nvPr/>
        </p:nvSpPr>
        <p:spPr>
          <a:xfrm>
            <a:off x="4429080" y="4762440"/>
            <a:ext cx="1057320" cy="285840"/>
          </a:xfrm>
          <a:custGeom>
            <a:avLst/>
            <a:gdLst/>
            <a:ahLst/>
            <a:rect l="0" t="0" r="r" b="b"/>
            <a:pathLst>
              <a:path w="2937" h="794">
                <a:moveTo>
                  <a:pt x="0" y="635"/>
                </a:moveTo>
                <a:lnTo>
                  <a:pt x="0" y="158"/>
                </a:lnTo>
                <a:cubicBezTo>
                  <a:pt x="0" y="148"/>
                  <a:pt x="1" y="138"/>
                  <a:pt x="3" y="127"/>
                </a:cubicBezTo>
                <a:cubicBezTo>
                  <a:pt x="5" y="117"/>
                  <a:pt x="8" y="107"/>
                  <a:pt x="12" y="98"/>
                </a:cubicBezTo>
                <a:cubicBezTo>
                  <a:pt x="16" y="88"/>
                  <a:pt x="21" y="79"/>
                  <a:pt x="26" y="70"/>
                </a:cubicBezTo>
                <a:cubicBezTo>
                  <a:pt x="32" y="62"/>
                  <a:pt x="39" y="54"/>
                  <a:pt x="46" y="46"/>
                </a:cubicBezTo>
                <a:cubicBezTo>
                  <a:pt x="53" y="39"/>
                  <a:pt x="62" y="32"/>
                  <a:pt x="70" y="26"/>
                </a:cubicBezTo>
                <a:cubicBezTo>
                  <a:pt x="79" y="21"/>
                  <a:pt x="88" y="16"/>
                  <a:pt x="98" y="12"/>
                </a:cubicBezTo>
                <a:cubicBezTo>
                  <a:pt x="107" y="8"/>
                  <a:pt x="117" y="5"/>
                  <a:pt x="127" y="3"/>
                </a:cubicBezTo>
                <a:cubicBezTo>
                  <a:pt x="138" y="1"/>
                  <a:pt x="148" y="0"/>
                  <a:pt x="158" y="0"/>
                </a:cubicBezTo>
                <a:lnTo>
                  <a:pt x="2779" y="0"/>
                </a:lnTo>
                <a:cubicBezTo>
                  <a:pt x="2789" y="0"/>
                  <a:pt x="2799" y="1"/>
                  <a:pt x="2810" y="3"/>
                </a:cubicBezTo>
                <a:cubicBezTo>
                  <a:pt x="2820" y="5"/>
                  <a:pt x="2830" y="8"/>
                  <a:pt x="2839" y="12"/>
                </a:cubicBezTo>
                <a:cubicBezTo>
                  <a:pt x="2849" y="16"/>
                  <a:pt x="2858" y="21"/>
                  <a:pt x="2867" y="26"/>
                </a:cubicBezTo>
                <a:cubicBezTo>
                  <a:pt x="2876" y="32"/>
                  <a:pt x="2884" y="39"/>
                  <a:pt x="2891" y="46"/>
                </a:cubicBezTo>
                <a:cubicBezTo>
                  <a:pt x="2898" y="54"/>
                  <a:pt x="2905" y="62"/>
                  <a:pt x="2911" y="70"/>
                </a:cubicBezTo>
                <a:cubicBezTo>
                  <a:pt x="2917" y="79"/>
                  <a:pt x="2921" y="88"/>
                  <a:pt x="2925" y="98"/>
                </a:cubicBezTo>
                <a:cubicBezTo>
                  <a:pt x="2929" y="107"/>
                  <a:pt x="2932" y="117"/>
                  <a:pt x="2934" y="127"/>
                </a:cubicBezTo>
                <a:cubicBezTo>
                  <a:pt x="2936" y="138"/>
                  <a:pt x="2937" y="148"/>
                  <a:pt x="2937" y="158"/>
                </a:cubicBezTo>
                <a:lnTo>
                  <a:pt x="2937" y="635"/>
                </a:lnTo>
                <a:cubicBezTo>
                  <a:pt x="2937" y="645"/>
                  <a:pt x="2936" y="656"/>
                  <a:pt x="2934" y="667"/>
                </a:cubicBezTo>
                <a:cubicBezTo>
                  <a:pt x="2932" y="677"/>
                  <a:pt x="2929" y="687"/>
                  <a:pt x="2925" y="696"/>
                </a:cubicBezTo>
                <a:cubicBezTo>
                  <a:pt x="2921" y="706"/>
                  <a:pt x="2917" y="715"/>
                  <a:pt x="2911" y="724"/>
                </a:cubicBezTo>
                <a:cubicBezTo>
                  <a:pt x="2905" y="733"/>
                  <a:pt x="2898" y="741"/>
                  <a:pt x="2891" y="748"/>
                </a:cubicBezTo>
                <a:cubicBezTo>
                  <a:pt x="2884" y="755"/>
                  <a:pt x="2876" y="762"/>
                  <a:pt x="2867" y="768"/>
                </a:cubicBezTo>
                <a:cubicBezTo>
                  <a:pt x="2858" y="773"/>
                  <a:pt x="2849" y="778"/>
                  <a:pt x="2839" y="782"/>
                </a:cubicBezTo>
                <a:cubicBezTo>
                  <a:pt x="2830" y="786"/>
                  <a:pt x="2820" y="789"/>
                  <a:pt x="2810" y="791"/>
                </a:cubicBezTo>
                <a:cubicBezTo>
                  <a:pt x="2799" y="793"/>
                  <a:pt x="2789" y="794"/>
                  <a:pt x="2779" y="794"/>
                </a:cubicBezTo>
                <a:lnTo>
                  <a:pt x="158" y="794"/>
                </a:lnTo>
                <a:cubicBezTo>
                  <a:pt x="148" y="794"/>
                  <a:pt x="138" y="793"/>
                  <a:pt x="127" y="791"/>
                </a:cubicBezTo>
                <a:cubicBezTo>
                  <a:pt x="117" y="789"/>
                  <a:pt x="107" y="786"/>
                  <a:pt x="98" y="782"/>
                </a:cubicBezTo>
                <a:cubicBezTo>
                  <a:pt x="88" y="778"/>
                  <a:pt x="79" y="773"/>
                  <a:pt x="70" y="768"/>
                </a:cubicBezTo>
                <a:cubicBezTo>
                  <a:pt x="62" y="762"/>
                  <a:pt x="53" y="755"/>
                  <a:pt x="46" y="748"/>
                </a:cubicBezTo>
                <a:cubicBezTo>
                  <a:pt x="39" y="741"/>
                  <a:pt x="32" y="733"/>
                  <a:pt x="26" y="724"/>
                </a:cubicBezTo>
                <a:cubicBezTo>
                  <a:pt x="21" y="715"/>
                  <a:pt x="16" y="706"/>
                  <a:pt x="12" y="696"/>
                </a:cubicBezTo>
                <a:cubicBezTo>
                  <a:pt x="8" y="687"/>
                  <a:pt x="5" y="677"/>
                  <a:pt x="3" y="667"/>
                </a:cubicBezTo>
                <a:cubicBezTo>
                  <a:pt x="1" y="656"/>
                  <a:pt x="0" y="645"/>
                  <a:pt x="0" y="635"/>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451" name=""/>
          <p:cNvSpPr txBox="1"/>
          <p:nvPr/>
        </p:nvSpPr>
        <p:spPr>
          <a:xfrm>
            <a:off x="3105000" y="472248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パッケージ（</a:t>
            </a:r>
            <a:endParaRPr b="0" lang="en-US" sz="1740" spc="-1" strike="noStrike">
              <a:solidFill>
                <a:srgbClr val="000000"/>
              </a:solidFill>
              <a:latin typeface="Times New Roman"/>
            </a:endParaRPr>
          </a:p>
        </p:txBody>
      </p:sp>
      <p:sp>
        <p:nvSpPr>
          <p:cNvPr id="452" name=""/>
          <p:cNvSpPr txBox="1"/>
          <p:nvPr/>
        </p:nvSpPr>
        <p:spPr>
          <a:xfrm>
            <a:off x="4505040" y="4795920"/>
            <a:ext cx="900000" cy="212400"/>
          </a:xfrm>
          <a:prstGeom prst="rect">
            <a:avLst/>
          </a:prstGeom>
          <a:noFill/>
          <a:ln w="0">
            <a:noFill/>
          </a:ln>
        </p:spPr>
        <p:txBody>
          <a:bodyPr wrap="none" lIns="0" rIns="0" tIns="0" bIns="0" anchor="t">
            <a:noAutofit/>
          </a:bodyPr>
          <a:p>
            <a:r>
              <a:rPr b="0" lang="en-US" sz="1480" spc="-1" strike="noStrike">
                <a:solidFill>
                  <a:srgbClr val="1f2328"/>
                </a:solidFill>
                <a:latin typeface="Courier New"/>
                <a:ea typeface="Courier New"/>
              </a:rPr>
              <a:t>cuMotion</a:t>
            </a:r>
            <a:endParaRPr b="0" lang="en-US" sz="1480" spc="-1" strike="noStrike">
              <a:solidFill>
                <a:srgbClr val="000000"/>
              </a:solidFill>
              <a:latin typeface="Times New Roman"/>
            </a:endParaRPr>
          </a:p>
        </p:txBody>
      </p:sp>
      <p:sp>
        <p:nvSpPr>
          <p:cNvPr id="453" name=""/>
          <p:cNvSpPr txBox="1"/>
          <p:nvPr/>
        </p:nvSpPr>
        <p:spPr>
          <a:xfrm>
            <a:off x="5482080" y="472248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等）を、</a:t>
            </a:r>
            <a:endParaRPr b="0" lang="en-US" sz="1740" spc="-1" strike="noStrike">
              <a:solidFill>
                <a:srgbClr val="000000"/>
              </a:solidFill>
              <a:latin typeface="Times New Roman"/>
            </a:endParaRPr>
          </a:p>
        </p:txBody>
      </p:sp>
      <p:sp>
        <p:nvSpPr>
          <p:cNvPr id="454" name=""/>
          <p:cNvSpPr txBox="1"/>
          <p:nvPr/>
        </p:nvSpPr>
        <p:spPr>
          <a:xfrm>
            <a:off x="6365520" y="4716720"/>
            <a:ext cx="432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a:t>
            </a:r>
            <a:endParaRPr b="0" lang="en-US" sz="1740" spc="-1" strike="noStrike">
              <a:solidFill>
                <a:srgbClr val="000000"/>
              </a:solidFill>
              <a:latin typeface="Times New Roman"/>
            </a:endParaRPr>
          </a:p>
        </p:txBody>
      </p:sp>
      <p:sp>
        <p:nvSpPr>
          <p:cNvPr id="455" name=""/>
          <p:cNvSpPr txBox="1"/>
          <p:nvPr/>
        </p:nvSpPr>
        <p:spPr>
          <a:xfrm>
            <a:off x="6796440" y="472248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標準の</a:t>
            </a:r>
            <a:endParaRPr b="0" lang="en-US" sz="1740" spc="-1" strike="noStrike">
              <a:solidFill>
                <a:srgbClr val="000000"/>
              </a:solidFill>
              <a:latin typeface="Times New Roman"/>
            </a:endParaRPr>
          </a:p>
        </p:txBody>
      </p:sp>
      <p:sp>
        <p:nvSpPr>
          <p:cNvPr id="456" name=""/>
          <p:cNvSpPr/>
          <p:nvPr/>
        </p:nvSpPr>
        <p:spPr>
          <a:xfrm>
            <a:off x="7515000" y="4762440"/>
            <a:ext cx="1057680" cy="285840"/>
          </a:xfrm>
          <a:custGeom>
            <a:avLst/>
            <a:gdLst/>
            <a:ahLst/>
            <a:rect l="0" t="0" r="r" b="b"/>
            <a:pathLst>
              <a:path w="2938" h="794">
                <a:moveTo>
                  <a:pt x="0" y="635"/>
                </a:moveTo>
                <a:lnTo>
                  <a:pt x="0" y="158"/>
                </a:lnTo>
                <a:cubicBezTo>
                  <a:pt x="0" y="148"/>
                  <a:pt x="1" y="138"/>
                  <a:pt x="3" y="127"/>
                </a:cubicBezTo>
                <a:cubicBezTo>
                  <a:pt x="5" y="117"/>
                  <a:pt x="8" y="107"/>
                  <a:pt x="12" y="98"/>
                </a:cubicBezTo>
                <a:cubicBezTo>
                  <a:pt x="16" y="88"/>
                  <a:pt x="21" y="79"/>
                  <a:pt x="27" y="70"/>
                </a:cubicBezTo>
                <a:cubicBezTo>
                  <a:pt x="33" y="62"/>
                  <a:pt x="39" y="54"/>
                  <a:pt x="47" y="46"/>
                </a:cubicBezTo>
                <a:cubicBezTo>
                  <a:pt x="54" y="39"/>
                  <a:pt x="62" y="32"/>
                  <a:pt x="71" y="26"/>
                </a:cubicBezTo>
                <a:cubicBezTo>
                  <a:pt x="79" y="21"/>
                  <a:pt x="88" y="16"/>
                  <a:pt x="98" y="12"/>
                </a:cubicBezTo>
                <a:cubicBezTo>
                  <a:pt x="108" y="8"/>
                  <a:pt x="118" y="5"/>
                  <a:pt x="128" y="3"/>
                </a:cubicBezTo>
                <a:cubicBezTo>
                  <a:pt x="138" y="1"/>
                  <a:pt x="148" y="0"/>
                  <a:pt x="159" y="0"/>
                </a:cubicBezTo>
                <a:lnTo>
                  <a:pt x="2779" y="0"/>
                </a:lnTo>
                <a:cubicBezTo>
                  <a:pt x="2790" y="0"/>
                  <a:pt x="2800" y="1"/>
                  <a:pt x="2810" y="3"/>
                </a:cubicBezTo>
                <a:cubicBezTo>
                  <a:pt x="2820" y="5"/>
                  <a:pt x="2830" y="8"/>
                  <a:pt x="2840" y="12"/>
                </a:cubicBezTo>
                <a:cubicBezTo>
                  <a:pt x="2850" y="16"/>
                  <a:pt x="2859" y="21"/>
                  <a:pt x="2867" y="26"/>
                </a:cubicBezTo>
                <a:cubicBezTo>
                  <a:pt x="2876" y="32"/>
                  <a:pt x="2884" y="39"/>
                  <a:pt x="2892" y="46"/>
                </a:cubicBezTo>
                <a:cubicBezTo>
                  <a:pt x="2899" y="54"/>
                  <a:pt x="2905" y="62"/>
                  <a:pt x="2911" y="70"/>
                </a:cubicBezTo>
                <a:cubicBezTo>
                  <a:pt x="2917" y="79"/>
                  <a:pt x="2922" y="88"/>
                  <a:pt x="2926" y="98"/>
                </a:cubicBezTo>
                <a:cubicBezTo>
                  <a:pt x="2930" y="107"/>
                  <a:pt x="2933" y="117"/>
                  <a:pt x="2935" y="127"/>
                </a:cubicBezTo>
                <a:cubicBezTo>
                  <a:pt x="2937" y="138"/>
                  <a:pt x="2938" y="148"/>
                  <a:pt x="2938" y="158"/>
                </a:cubicBezTo>
                <a:lnTo>
                  <a:pt x="2938" y="635"/>
                </a:lnTo>
                <a:cubicBezTo>
                  <a:pt x="2938" y="645"/>
                  <a:pt x="2937" y="656"/>
                  <a:pt x="2935" y="667"/>
                </a:cubicBezTo>
                <a:cubicBezTo>
                  <a:pt x="2933" y="677"/>
                  <a:pt x="2930" y="687"/>
                  <a:pt x="2926" y="696"/>
                </a:cubicBezTo>
                <a:cubicBezTo>
                  <a:pt x="2922" y="706"/>
                  <a:pt x="2917" y="715"/>
                  <a:pt x="2911" y="724"/>
                </a:cubicBezTo>
                <a:cubicBezTo>
                  <a:pt x="2905" y="733"/>
                  <a:pt x="2899" y="741"/>
                  <a:pt x="2892" y="748"/>
                </a:cubicBezTo>
                <a:cubicBezTo>
                  <a:pt x="2884" y="755"/>
                  <a:pt x="2876" y="762"/>
                  <a:pt x="2867" y="768"/>
                </a:cubicBezTo>
                <a:cubicBezTo>
                  <a:pt x="2859" y="773"/>
                  <a:pt x="2850" y="778"/>
                  <a:pt x="2840" y="782"/>
                </a:cubicBezTo>
                <a:cubicBezTo>
                  <a:pt x="2830" y="786"/>
                  <a:pt x="2820" y="789"/>
                  <a:pt x="2810" y="791"/>
                </a:cubicBezTo>
                <a:cubicBezTo>
                  <a:pt x="2800" y="793"/>
                  <a:pt x="2790" y="794"/>
                  <a:pt x="2779" y="794"/>
                </a:cubicBezTo>
                <a:lnTo>
                  <a:pt x="159" y="794"/>
                </a:lnTo>
                <a:cubicBezTo>
                  <a:pt x="148" y="794"/>
                  <a:pt x="138" y="793"/>
                  <a:pt x="128" y="791"/>
                </a:cubicBezTo>
                <a:cubicBezTo>
                  <a:pt x="118" y="789"/>
                  <a:pt x="108" y="786"/>
                  <a:pt x="98" y="782"/>
                </a:cubicBezTo>
                <a:cubicBezTo>
                  <a:pt x="88" y="778"/>
                  <a:pt x="79" y="773"/>
                  <a:pt x="71" y="768"/>
                </a:cubicBezTo>
                <a:cubicBezTo>
                  <a:pt x="62" y="762"/>
                  <a:pt x="54" y="755"/>
                  <a:pt x="47" y="748"/>
                </a:cubicBezTo>
                <a:cubicBezTo>
                  <a:pt x="39" y="741"/>
                  <a:pt x="33" y="733"/>
                  <a:pt x="27" y="724"/>
                </a:cubicBezTo>
                <a:cubicBezTo>
                  <a:pt x="21" y="715"/>
                  <a:pt x="16" y="706"/>
                  <a:pt x="12" y="696"/>
                </a:cubicBezTo>
                <a:cubicBezTo>
                  <a:pt x="8" y="687"/>
                  <a:pt x="5" y="677"/>
                  <a:pt x="3" y="667"/>
                </a:cubicBezTo>
                <a:cubicBezTo>
                  <a:pt x="1" y="656"/>
                  <a:pt x="0" y="645"/>
                  <a:pt x="0" y="635"/>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457" name=""/>
          <p:cNvSpPr txBox="1"/>
          <p:nvPr/>
        </p:nvSpPr>
        <p:spPr>
          <a:xfrm>
            <a:off x="7459200" y="47167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458" name=""/>
          <p:cNvSpPr txBox="1"/>
          <p:nvPr/>
        </p:nvSpPr>
        <p:spPr>
          <a:xfrm>
            <a:off x="7591680" y="4795920"/>
            <a:ext cx="900000" cy="212400"/>
          </a:xfrm>
          <a:prstGeom prst="rect">
            <a:avLst/>
          </a:prstGeom>
          <a:noFill/>
          <a:ln w="0">
            <a:noFill/>
          </a:ln>
        </p:spPr>
        <p:txBody>
          <a:bodyPr wrap="none" lIns="0" rIns="0" tIns="0" bIns="0" anchor="t">
            <a:noAutofit/>
          </a:bodyPr>
          <a:p>
            <a:r>
              <a:rPr b="0" lang="en-US" sz="1480" spc="-1" strike="noStrike">
                <a:solidFill>
                  <a:srgbClr val="1f2328"/>
                </a:solidFill>
                <a:latin typeface="Courier New"/>
                <a:ea typeface="Courier New"/>
              </a:rPr>
              <a:t>MoveIt 2</a:t>
            </a:r>
            <a:endParaRPr b="0" lang="en-US" sz="1480" spc="-1" strike="noStrike">
              <a:solidFill>
                <a:srgbClr val="000000"/>
              </a:solidFill>
              <a:latin typeface="Times New Roman"/>
            </a:endParaRPr>
          </a:p>
        </p:txBody>
      </p:sp>
      <p:sp>
        <p:nvSpPr>
          <p:cNvPr id="459" name=""/>
          <p:cNvSpPr txBox="1"/>
          <p:nvPr/>
        </p:nvSpPr>
        <p:spPr>
          <a:xfrm>
            <a:off x="8568360" y="47167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460" name=""/>
          <p:cNvSpPr txBox="1"/>
          <p:nvPr/>
        </p:nvSpPr>
        <p:spPr>
          <a:xfrm>
            <a:off x="8625600" y="4722480"/>
            <a:ext cx="24314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プラグインとして組み込</a:t>
            </a:r>
            <a:endParaRPr b="0" lang="en-US" sz="1740" spc="-1" strike="noStrike">
              <a:solidFill>
                <a:srgbClr val="000000"/>
              </a:solidFill>
              <a:latin typeface="Times New Roman"/>
            </a:endParaRPr>
          </a:p>
        </p:txBody>
      </p:sp>
      <p:sp>
        <p:nvSpPr>
          <p:cNvPr id="461" name=""/>
          <p:cNvSpPr/>
          <p:nvPr/>
        </p:nvSpPr>
        <p:spPr>
          <a:xfrm>
            <a:off x="1085760" y="5572080"/>
            <a:ext cx="76320" cy="76320"/>
          </a:xfrm>
          <a:custGeom>
            <a:avLst/>
            <a:gdLst/>
            <a:ahLst/>
            <a:rect l="0" t="0" r="r" b="b"/>
            <a:pathLst>
              <a:path w="212" h="212">
                <a:moveTo>
                  <a:pt x="212" y="106"/>
                </a:moveTo>
                <a:cubicBezTo>
                  <a:pt x="212" y="120"/>
                  <a:pt x="210" y="134"/>
                  <a:pt x="204" y="147"/>
                </a:cubicBezTo>
                <a:cubicBezTo>
                  <a:pt x="199" y="160"/>
                  <a:pt x="191" y="171"/>
                  <a:pt x="181" y="181"/>
                </a:cubicBezTo>
                <a:cubicBezTo>
                  <a:pt x="171" y="191"/>
                  <a:pt x="160" y="199"/>
                  <a:pt x="147" y="204"/>
                </a:cubicBezTo>
                <a:cubicBezTo>
                  <a:pt x="134" y="210"/>
                  <a:pt x="121" y="212"/>
                  <a:pt x="107" y="212"/>
                </a:cubicBezTo>
                <a:cubicBezTo>
                  <a:pt x="93" y="212"/>
                  <a:pt x="79" y="210"/>
                  <a:pt x="66" y="204"/>
                </a:cubicBezTo>
                <a:cubicBezTo>
                  <a:pt x="53" y="199"/>
                  <a:pt x="41" y="191"/>
                  <a:pt x="31" y="181"/>
                </a:cubicBezTo>
                <a:cubicBezTo>
                  <a:pt x="21" y="171"/>
                  <a:pt x="13" y="160"/>
                  <a:pt x="8" y="147"/>
                </a:cubicBezTo>
                <a:cubicBezTo>
                  <a:pt x="2" y="134"/>
                  <a:pt x="0" y="120"/>
                  <a:pt x="0" y="106"/>
                </a:cubicBezTo>
                <a:cubicBezTo>
                  <a:pt x="0" y="92"/>
                  <a:pt x="2" y="79"/>
                  <a:pt x="8" y="66"/>
                </a:cubicBezTo>
                <a:cubicBezTo>
                  <a:pt x="13" y="53"/>
                  <a:pt x="21" y="42"/>
                  <a:pt x="31" y="32"/>
                </a:cubicBezTo>
                <a:cubicBezTo>
                  <a:pt x="41" y="21"/>
                  <a:pt x="53" y="13"/>
                  <a:pt x="66" y="8"/>
                </a:cubicBezTo>
                <a:cubicBezTo>
                  <a:pt x="79" y="2"/>
                  <a:pt x="93" y="0"/>
                  <a:pt x="107" y="0"/>
                </a:cubicBezTo>
                <a:cubicBezTo>
                  <a:pt x="121" y="0"/>
                  <a:pt x="134" y="2"/>
                  <a:pt x="147" y="8"/>
                </a:cubicBezTo>
                <a:cubicBezTo>
                  <a:pt x="160" y="13"/>
                  <a:pt x="171" y="21"/>
                  <a:pt x="181" y="32"/>
                </a:cubicBezTo>
                <a:cubicBezTo>
                  <a:pt x="191" y="42"/>
                  <a:pt x="199" y="53"/>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462" name=""/>
          <p:cNvSpPr txBox="1"/>
          <p:nvPr/>
        </p:nvSpPr>
        <p:spPr>
          <a:xfrm>
            <a:off x="1300320" y="506556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む。</a:t>
            </a:r>
            <a:endParaRPr b="0" lang="en-US" sz="1740" spc="-1" strike="noStrike">
              <a:solidFill>
                <a:srgbClr val="000000"/>
              </a:solidFill>
              <a:latin typeface="Times New Roman"/>
            </a:endParaRPr>
          </a:p>
        </p:txBody>
      </p:sp>
      <p:sp>
        <p:nvSpPr>
          <p:cNvPr id="463" name=""/>
          <p:cNvSpPr txBox="1"/>
          <p:nvPr/>
        </p:nvSpPr>
        <p:spPr>
          <a:xfrm>
            <a:off x="1300320" y="545580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特徴</a:t>
            </a:r>
            <a:endParaRPr b="0" lang="en-US" sz="1740" spc="-1" strike="noStrike">
              <a:solidFill>
                <a:srgbClr val="000000"/>
              </a:solidFill>
              <a:latin typeface="Times New Roman"/>
            </a:endParaRPr>
          </a:p>
        </p:txBody>
      </p:sp>
      <p:sp>
        <p:nvSpPr>
          <p:cNvPr id="464" name=""/>
          <p:cNvSpPr txBox="1"/>
          <p:nvPr/>
        </p:nvSpPr>
        <p:spPr>
          <a:xfrm>
            <a:off x="1742040" y="545004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465" name=""/>
          <p:cNvSpPr txBox="1"/>
          <p:nvPr/>
        </p:nvSpPr>
        <p:spPr>
          <a:xfrm>
            <a:off x="1861200" y="545580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シミュレータを介さず、実機の</a:t>
            </a:r>
            <a:endParaRPr b="0" lang="en-US" sz="1740" spc="-1" strike="noStrike">
              <a:solidFill>
                <a:srgbClr val="000000"/>
              </a:solidFill>
              <a:latin typeface="Times New Roman"/>
            </a:endParaRPr>
          </a:p>
        </p:txBody>
      </p:sp>
      <p:sp>
        <p:nvSpPr>
          <p:cNvPr id="466" name=""/>
          <p:cNvSpPr txBox="1"/>
          <p:nvPr/>
        </p:nvSpPr>
        <p:spPr>
          <a:xfrm>
            <a:off x="4953240" y="5450040"/>
            <a:ext cx="6148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 2</a:t>
            </a:r>
            <a:endParaRPr b="0" lang="en-US" sz="1740" spc="-1" strike="noStrike">
              <a:solidFill>
                <a:srgbClr val="000000"/>
              </a:solidFill>
              <a:latin typeface="Times New Roman"/>
            </a:endParaRPr>
          </a:p>
        </p:txBody>
      </p:sp>
      <p:sp>
        <p:nvSpPr>
          <p:cNvPr id="467" name=""/>
          <p:cNvSpPr txBox="1"/>
          <p:nvPr/>
        </p:nvSpPr>
        <p:spPr>
          <a:xfrm>
            <a:off x="5568120" y="5455800"/>
            <a:ext cx="3315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環境内で最適化された軌道計算を</a:t>
            </a:r>
            <a:endParaRPr b="0" lang="en-US" sz="1740" spc="-1" strike="noStrike">
              <a:solidFill>
                <a:srgbClr val="000000"/>
              </a:solidFill>
              <a:latin typeface="Times New Roman"/>
            </a:endParaRPr>
          </a:p>
        </p:txBody>
      </p:sp>
      <p:sp>
        <p:nvSpPr>
          <p:cNvPr id="468" name=""/>
          <p:cNvSpPr txBox="1"/>
          <p:nvPr/>
        </p:nvSpPr>
        <p:spPr>
          <a:xfrm>
            <a:off x="8880840" y="5450040"/>
            <a:ext cx="456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GPU</a:t>
            </a:r>
            <a:endParaRPr b="0" lang="en-US" sz="1740" spc="-1" strike="noStrike">
              <a:solidFill>
                <a:srgbClr val="000000"/>
              </a:solidFill>
              <a:latin typeface="Times New Roman"/>
            </a:endParaRPr>
          </a:p>
        </p:txBody>
      </p:sp>
      <p:sp>
        <p:nvSpPr>
          <p:cNvPr id="469" name=""/>
          <p:cNvSpPr txBox="1"/>
          <p:nvPr/>
        </p:nvSpPr>
        <p:spPr>
          <a:xfrm>
            <a:off x="9336600" y="545580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でミリ秒単位にて完</a:t>
            </a:r>
            <a:endParaRPr b="0" lang="en-US" sz="1740" spc="-1" strike="noStrike">
              <a:solidFill>
                <a:srgbClr val="000000"/>
              </a:solidFill>
              <a:latin typeface="Times New Roman"/>
            </a:endParaRPr>
          </a:p>
        </p:txBody>
      </p:sp>
      <p:sp>
        <p:nvSpPr>
          <p:cNvPr id="470" name=""/>
          <p:cNvSpPr txBox="1"/>
          <p:nvPr/>
        </p:nvSpPr>
        <p:spPr>
          <a:xfrm>
            <a:off x="1300320" y="5789160"/>
            <a:ext cx="2873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結させる本番デプロイ構成。</a:t>
            </a:r>
            <a:endParaRPr b="0" lang="en-US" sz="1740" spc="-1" strike="noStrike">
              <a:solidFill>
                <a:srgbClr val="000000"/>
              </a:solidFill>
              <a:latin typeface="Times New Roman"/>
            </a:endParaRPr>
          </a:p>
        </p:txBody>
      </p:sp>
      <p:sp>
        <p:nvSpPr>
          <p:cNvPr id="471"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472"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473"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16</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7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7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77" name=""/>
          <p:cNvSpPr txBox="1"/>
          <p:nvPr/>
        </p:nvSpPr>
        <p:spPr>
          <a:xfrm>
            <a:off x="747720" y="3072960"/>
            <a:ext cx="4428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第</a:t>
            </a:r>
            <a:endParaRPr b="0" lang="en-US" sz="3480" spc="-1" strike="noStrike">
              <a:solidFill>
                <a:srgbClr val="000000"/>
              </a:solidFill>
              <a:latin typeface="Times New Roman"/>
            </a:endParaRPr>
          </a:p>
        </p:txBody>
      </p:sp>
      <p:sp>
        <p:nvSpPr>
          <p:cNvPr id="478" name=""/>
          <p:cNvSpPr txBox="1"/>
          <p:nvPr/>
        </p:nvSpPr>
        <p:spPr>
          <a:xfrm>
            <a:off x="1189440" y="3061440"/>
            <a:ext cx="44172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4</a:t>
            </a:r>
            <a:endParaRPr b="0" lang="en-US" sz="3480" spc="-1" strike="noStrike">
              <a:solidFill>
                <a:srgbClr val="000000"/>
              </a:solidFill>
              <a:latin typeface="Times New Roman"/>
            </a:endParaRPr>
          </a:p>
        </p:txBody>
      </p:sp>
      <p:sp>
        <p:nvSpPr>
          <p:cNvPr id="479" name=""/>
          <p:cNvSpPr txBox="1"/>
          <p:nvPr/>
        </p:nvSpPr>
        <p:spPr>
          <a:xfrm>
            <a:off x="1442160" y="3072960"/>
            <a:ext cx="44280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章</a:t>
            </a:r>
            <a:endParaRPr b="0" lang="en-US" sz="3480" spc="-1" strike="noStrike">
              <a:solidFill>
                <a:srgbClr val="000000"/>
              </a:solidFill>
              <a:latin typeface="Times New Roman"/>
            </a:endParaRPr>
          </a:p>
        </p:txBody>
      </p:sp>
      <p:sp>
        <p:nvSpPr>
          <p:cNvPr id="480" name=""/>
          <p:cNvSpPr txBox="1"/>
          <p:nvPr/>
        </p:nvSpPr>
        <p:spPr>
          <a:xfrm>
            <a:off x="1884240" y="3061440"/>
            <a:ext cx="441720" cy="602280"/>
          </a:xfrm>
          <a:prstGeom prst="rect">
            <a:avLst/>
          </a:prstGeom>
          <a:noFill/>
          <a:ln w="0">
            <a:noFill/>
          </a:ln>
        </p:spPr>
        <p:txBody>
          <a:bodyPr wrap="none" lIns="0" rIns="0" tIns="0" bIns="0" anchor="t">
            <a:noAutofit/>
          </a:bodyPr>
          <a:p>
            <a:r>
              <a:rPr b="1" lang="en-US" sz="3480" spc="-1" strike="noStrike">
                <a:solidFill>
                  <a:srgbClr val="224466"/>
                </a:solidFill>
                <a:latin typeface="NotoSans-Semi"/>
                <a:ea typeface="NotoSans-Semi"/>
              </a:rPr>
              <a:t>: </a:t>
            </a:r>
            <a:endParaRPr b="0" lang="en-US" sz="3480" spc="-1" strike="noStrike">
              <a:solidFill>
                <a:srgbClr val="000000"/>
              </a:solidFill>
              <a:latin typeface="Times New Roman"/>
            </a:endParaRPr>
          </a:p>
        </p:txBody>
      </p:sp>
      <p:sp>
        <p:nvSpPr>
          <p:cNvPr id="481" name=""/>
          <p:cNvSpPr txBox="1"/>
          <p:nvPr/>
        </p:nvSpPr>
        <p:spPr>
          <a:xfrm>
            <a:off x="2122200" y="3072960"/>
            <a:ext cx="3536280" cy="577800"/>
          </a:xfrm>
          <a:prstGeom prst="rect">
            <a:avLst/>
          </a:prstGeom>
          <a:noFill/>
          <a:ln w="0">
            <a:noFill/>
          </a:ln>
        </p:spPr>
        <p:txBody>
          <a:bodyPr wrap="none" lIns="0" rIns="0" tIns="0" bIns="0" anchor="t">
            <a:noAutofit/>
          </a:bodyPr>
          <a:p>
            <a:r>
              <a:rPr b="0" lang="zh-CN" sz="3480" spc="-1" strike="noStrike">
                <a:solidFill>
                  <a:srgbClr val="224466"/>
                </a:solidFill>
                <a:latin typeface="DroidSansFallback"/>
                <a:ea typeface="DroidSansFallback"/>
              </a:rPr>
              <a:t>実践ユースケース</a:t>
            </a:r>
            <a:endParaRPr b="0" lang="en-US" sz="3480" spc="-1" strike="noStrike">
              <a:solidFill>
                <a:srgbClr val="000000"/>
              </a:solidFill>
              <a:latin typeface="Times New Roman"/>
            </a:endParaRPr>
          </a:p>
        </p:txBody>
      </p:sp>
      <p:sp>
        <p:nvSpPr>
          <p:cNvPr id="482"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483"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484"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17</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8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8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88" name=""/>
          <p:cNvSpPr txBox="1"/>
          <p:nvPr/>
        </p:nvSpPr>
        <p:spPr>
          <a:xfrm>
            <a:off x="747720" y="1749600"/>
            <a:ext cx="25092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4-1. Isaac Sim </a:t>
            </a:r>
            <a:endParaRPr b="0" lang="en-US" sz="2830" spc="-1" strike="noStrike">
              <a:solidFill>
                <a:srgbClr val="000000"/>
              </a:solidFill>
              <a:latin typeface="Times New Roman"/>
            </a:endParaRPr>
          </a:p>
        </p:txBody>
      </p:sp>
      <p:sp>
        <p:nvSpPr>
          <p:cNvPr id="489" name=""/>
          <p:cNvSpPr txBox="1"/>
          <p:nvPr/>
        </p:nvSpPr>
        <p:spPr>
          <a:xfrm>
            <a:off x="3211200" y="1758960"/>
            <a:ext cx="28782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アプローチ手法の</a:t>
            </a:r>
            <a:endParaRPr b="0" lang="en-US" sz="2830" spc="-1" strike="noStrike">
              <a:solidFill>
                <a:srgbClr val="000000"/>
              </a:solidFill>
              <a:latin typeface="Times New Roman"/>
            </a:endParaRPr>
          </a:p>
        </p:txBody>
      </p:sp>
      <p:sp>
        <p:nvSpPr>
          <p:cNvPr id="490" name=""/>
          <p:cNvSpPr txBox="1"/>
          <p:nvPr/>
        </p:nvSpPr>
        <p:spPr>
          <a:xfrm>
            <a:off x="6083280" y="1749600"/>
            <a:ext cx="168768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r>
              <a:rPr b="1" lang="en-US" sz="2830" spc="-1" strike="noStrike">
                <a:solidFill>
                  <a:srgbClr val="1f2328"/>
                </a:solidFill>
                <a:latin typeface="NotoSans-Semi"/>
                <a:ea typeface="NotoSans-Semi"/>
              </a:rPr>
              <a:t>Use Case</a:t>
            </a:r>
            <a:endParaRPr b="0" lang="en-US" sz="2830" spc="-1" strike="noStrike">
              <a:solidFill>
                <a:srgbClr val="000000"/>
              </a:solidFill>
              <a:latin typeface="Times New Roman"/>
            </a:endParaRPr>
          </a:p>
        </p:txBody>
      </p:sp>
      <p:sp>
        <p:nvSpPr>
          <p:cNvPr id="491" name=""/>
          <p:cNvSpPr txBox="1"/>
          <p:nvPr/>
        </p:nvSpPr>
        <p:spPr>
          <a:xfrm>
            <a:off x="747720" y="250308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目的に応じて</a:t>
            </a:r>
            <a:endParaRPr b="0" lang="en-US" sz="1740" spc="-1" strike="noStrike">
              <a:solidFill>
                <a:srgbClr val="000000"/>
              </a:solidFill>
              <a:latin typeface="Times New Roman"/>
            </a:endParaRPr>
          </a:p>
        </p:txBody>
      </p:sp>
      <p:sp>
        <p:nvSpPr>
          <p:cNvPr id="492" name=""/>
          <p:cNvSpPr txBox="1"/>
          <p:nvPr/>
        </p:nvSpPr>
        <p:spPr>
          <a:xfrm>
            <a:off x="2072880" y="249732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3</a:t>
            </a:r>
            <a:endParaRPr b="0" lang="en-US" sz="1740" spc="-1" strike="noStrike">
              <a:solidFill>
                <a:srgbClr val="000000"/>
              </a:solidFill>
              <a:latin typeface="Times New Roman"/>
            </a:endParaRPr>
          </a:p>
        </p:txBody>
      </p:sp>
      <p:sp>
        <p:nvSpPr>
          <p:cNvPr id="493" name=""/>
          <p:cNvSpPr txBox="1"/>
          <p:nvPr/>
        </p:nvSpPr>
        <p:spPr>
          <a:xfrm>
            <a:off x="2199240" y="2503080"/>
            <a:ext cx="3315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つの主要なアプローチを選択可能</a:t>
            </a:r>
            <a:endParaRPr b="0" lang="en-US" sz="1740" spc="-1" strike="noStrike">
              <a:solidFill>
                <a:srgbClr val="000000"/>
              </a:solidFill>
              <a:latin typeface="Times New Roman"/>
            </a:endParaRPr>
          </a:p>
        </p:txBody>
      </p:sp>
      <p:sp>
        <p:nvSpPr>
          <p:cNvPr id="494" name=""/>
          <p:cNvSpPr txBox="1"/>
          <p:nvPr/>
        </p:nvSpPr>
        <p:spPr>
          <a:xfrm>
            <a:off x="1056960" y="2983320"/>
            <a:ext cx="33033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1. </a:t>
            </a:r>
            <a:r>
              <a:rPr b="1" lang="en-US" sz="1740" spc="-1" strike="noStrike">
                <a:solidFill>
                  <a:srgbClr val="1f2328"/>
                </a:solidFill>
                <a:latin typeface="NotoSans-Semi"/>
                <a:ea typeface="NotoSans-Semi"/>
              </a:rPr>
              <a:t>Synthetic Data Generation (</a:t>
            </a:r>
            <a:endParaRPr b="0" lang="en-US" sz="1740" spc="-1" strike="noStrike">
              <a:solidFill>
                <a:srgbClr val="000000"/>
              </a:solidFill>
              <a:latin typeface="Times New Roman"/>
            </a:endParaRPr>
          </a:p>
        </p:txBody>
      </p:sp>
      <p:sp>
        <p:nvSpPr>
          <p:cNvPr id="495" name=""/>
          <p:cNvSpPr txBox="1"/>
          <p:nvPr/>
        </p:nvSpPr>
        <p:spPr>
          <a:xfrm>
            <a:off x="4275000" y="298908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合成データ生成</a:t>
            </a:r>
            <a:endParaRPr b="0" lang="en-US" sz="1740" spc="-1" strike="noStrike">
              <a:solidFill>
                <a:srgbClr val="000000"/>
              </a:solidFill>
              <a:latin typeface="Times New Roman"/>
            </a:endParaRPr>
          </a:p>
        </p:txBody>
      </p:sp>
      <p:sp>
        <p:nvSpPr>
          <p:cNvPr id="496" name=""/>
          <p:cNvSpPr/>
          <p:nvPr/>
        </p:nvSpPr>
        <p:spPr>
          <a:xfrm>
            <a:off x="1523880" y="3428640"/>
            <a:ext cx="76320" cy="76680"/>
          </a:xfrm>
          <a:custGeom>
            <a:avLst/>
            <a:gdLst/>
            <a:ahLst/>
            <a:rect l="0" t="0" r="r" b="b"/>
            <a:pathLst>
              <a:path w="212" h="213">
                <a:moveTo>
                  <a:pt x="212" y="107"/>
                </a:moveTo>
                <a:cubicBezTo>
                  <a:pt x="212" y="121"/>
                  <a:pt x="210" y="135"/>
                  <a:pt x="204" y="148"/>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6"/>
                </a:cubicBezTo>
                <a:cubicBezTo>
                  <a:pt x="13" y="53"/>
                  <a:pt x="21" y="41"/>
                  <a:pt x="31" y="31"/>
                </a:cubicBezTo>
                <a:cubicBezTo>
                  <a:pt x="41" y="22"/>
                  <a:pt x="52" y="14"/>
                  <a:pt x="65" y="9"/>
                </a:cubicBezTo>
                <a:cubicBezTo>
                  <a:pt x="78" y="3"/>
                  <a:pt x="92" y="0"/>
                  <a:pt x="107" y="0"/>
                </a:cubicBezTo>
                <a:cubicBezTo>
                  <a:pt x="121" y="0"/>
                  <a:pt x="134" y="3"/>
                  <a:pt x="147" y="9"/>
                </a:cubicBezTo>
                <a:cubicBezTo>
                  <a:pt x="160" y="14"/>
                  <a:pt x="172" y="22"/>
                  <a:pt x="182" y="31"/>
                </a:cubicBezTo>
                <a:cubicBezTo>
                  <a:pt x="191" y="41"/>
                  <a:pt x="199" y="53"/>
                  <a:pt x="204" y="66"/>
                </a:cubicBezTo>
                <a:cubicBezTo>
                  <a:pt x="210" y="80"/>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497" name=""/>
          <p:cNvSpPr txBox="1"/>
          <p:nvPr/>
        </p:nvSpPr>
        <p:spPr>
          <a:xfrm>
            <a:off x="5821200" y="298332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498" name=""/>
          <p:cNvSpPr txBox="1"/>
          <p:nvPr/>
        </p:nvSpPr>
        <p:spPr>
          <a:xfrm>
            <a:off x="1742040" y="330696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499" name=""/>
          <p:cNvSpPr txBox="1"/>
          <p:nvPr/>
        </p:nvSpPr>
        <p:spPr>
          <a:xfrm>
            <a:off x="1958040" y="3312720"/>
            <a:ext cx="57463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モデル学習用のラベル付き大量データを仮想空間で生成。</a:t>
            </a:r>
            <a:endParaRPr b="0" lang="en-US" sz="1740" spc="-1" strike="noStrike">
              <a:solidFill>
                <a:srgbClr val="000000"/>
              </a:solidFill>
              <a:latin typeface="Times New Roman"/>
            </a:endParaRPr>
          </a:p>
        </p:txBody>
      </p:sp>
      <p:sp>
        <p:nvSpPr>
          <p:cNvPr id="500" name=""/>
          <p:cNvSpPr txBox="1"/>
          <p:nvPr/>
        </p:nvSpPr>
        <p:spPr>
          <a:xfrm>
            <a:off x="7700400" y="330696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501" name=""/>
          <p:cNvSpPr txBox="1"/>
          <p:nvPr/>
        </p:nvSpPr>
        <p:spPr>
          <a:xfrm>
            <a:off x="7824240" y="331272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例</a:t>
            </a:r>
            <a:endParaRPr b="0" lang="en-US" sz="1740" spc="-1" strike="noStrike">
              <a:solidFill>
                <a:srgbClr val="000000"/>
              </a:solidFill>
              <a:latin typeface="Times New Roman"/>
            </a:endParaRPr>
          </a:p>
        </p:txBody>
      </p:sp>
      <p:sp>
        <p:nvSpPr>
          <p:cNvPr id="502" name=""/>
          <p:cNvSpPr txBox="1"/>
          <p:nvPr/>
        </p:nvSpPr>
        <p:spPr>
          <a:xfrm>
            <a:off x="8044920" y="330696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503" name=""/>
          <p:cNvSpPr txBox="1"/>
          <p:nvPr/>
        </p:nvSpPr>
        <p:spPr>
          <a:xfrm>
            <a:off x="8161560" y="3312720"/>
            <a:ext cx="3094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認識精度向上、事故データ収集</a:t>
            </a:r>
            <a:endParaRPr b="0" lang="en-US" sz="1740" spc="-1" strike="noStrike">
              <a:solidFill>
                <a:srgbClr val="000000"/>
              </a:solidFill>
              <a:latin typeface="Times New Roman"/>
            </a:endParaRPr>
          </a:p>
        </p:txBody>
      </p:sp>
      <p:sp>
        <p:nvSpPr>
          <p:cNvPr id="504" name=""/>
          <p:cNvSpPr txBox="1"/>
          <p:nvPr/>
        </p:nvSpPr>
        <p:spPr>
          <a:xfrm>
            <a:off x="11253600" y="330696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505" name=""/>
          <p:cNvSpPr txBox="1"/>
          <p:nvPr/>
        </p:nvSpPr>
        <p:spPr>
          <a:xfrm>
            <a:off x="1056960" y="3697560"/>
            <a:ext cx="30639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2. </a:t>
            </a:r>
            <a:r>
              <a:rPr b="1" lang="en-US" sz="1740" spc="-1" strike="noStrike">
                <a:solidFill>
                  <a:srgbClr val="1f2328"/>
                </a:solidFill>
                <a:latin typeface="NotoSans-Semi"/>
                <a:ea typeface="NotoSans-Semi"/>
              </a:rPr>
              <a:t>Reinforcement Learning (</a:t>
            </a:r>
            <a:endParaRPr b="0" lang="en-US" sz="1740" spc="-1" strike="noStrike">
              <a:solidFill>
                <a:srgbClr val="000000"/>
              </a:solidFill>
              <a:latin typeface="Times New Roman"/>
            </a:endParaRPr>
          </a:p>
        </p:txBody>
      </p:sp>
      <p:sp>
        <p:nvSpPr>
          <p:cNvPr id="506" name=""/>
          <p:cNvSpPr txBox="1"/>
          <p:nvPr/>
        </p:nvSpPr>
        <p:spPr>
          <a:xfrm>
            <a:off x="4046400" y="370332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強化学習</a:t>
            </a:r>
            <a:endParaRPr b="0" lang="en-US" sz="1740" spc="-1" strike="noStrike">
              <a:solidFill>
                <a:srgbClr val="000000"/>
              </a:solidFill>
              <a:latin typeface="Times New Roman"/>
            </a:endParaRPr>
          </a:p>
        </p:txBody>
      </p:sp>
      <p:sp>
        <p:nvSpPr>
          <p:cNvPr id="507" name=""/>
          <p:cNvSpPr/>
          <p:nvPr/>
        </p:nvSpPr>
        <p:spPr>
          <a:xfrm>
            <a:off x="1523880" y="4152600"/>
            <a:ext cx="76320" cy="76680"/>
          </a:xfrm>
          <a:custGeom>
            <a:avLst/>
            <a:gdLst/>
            <a:ahLst/>
            <a:rect l="0" t="0" r="r" b="b"/>
            <a:pathLst>
              <a:path w="212" h="213">
                <a:moveTo>
                  <a:pt x="212" y="106"/>
                </a:moveTo>
                <a:cubicBezTo>
                  <a:pt x="212" y="120"/>
                  <a:pt x="210" y="134"/>
                  <a:pt x="204" y="147"/>
                </a:cubicBezTo>
                <a:cubicBezTo>
                  <a:pt x="199" y="160"/>
                  <a:pt x="191" y="171"/>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508" name=""/>
          <p:cNvSpPr/>
          <p:nvPr/>
        </p:nvSpPr>
        <p:spPr>
          <a:xfrm>
            <a:off x="1742760" y="4076640"/>
            <a:ext cx="1162440" cy="285840"/>
          </a:xfrm>
          <a:custGeom>
            <a:avLst/>
            <a:gdLst/>
            <a:ahLst/>
            <a:rect l="0" t="0" r="r" b="b"/>
            <a:pathLst>
              <a:path w="3229" h="794">
                <a:moveTo>
                  <a:pt x="0" y="636"/>
                </a:moveTo>
                <a:lnTo>
                  <a:pt x="0" y="158"/>
                </a:lnTo>
                <a:cubicBezTo>
                  <a:pt x="0" y="148"/>
                  <a:pt x="1" y="138"/>
                  <a:pt x="3" y="127"/>
                </a:cubicBezTo>
                <a:cubicBezTo>
                  <a:pt x="5" y="117"/>
                  <a:pt x="8" y="107"/>
                  <a:pt x="12" y="98"/>
                </a:cubicBezTo>
                <a:cubicBezTo>
                  <a:pt x="16" y="88"/>
                  <a:pt x="21" y="79"/>
                  <a:pt x="27" y="70"/>
                </a:cubicBezTo>
                <a:cubicBezTo>
                  <a:pt x="33" y="62"/>
                  <a:pt x="40" y="54"/>
                  <a:pt x="47" y="46"/>
                </a:cubicBezTo>
                <a:cubicBezTo>
                  <a:pt x="54" y="39"/>
                  <a:pt x="62" y="32"/>
                  <a:pt x="71" y="26"/>
                </a:cubicBezTo>
                <a:cubicBezTo>
                  <a:pt x="80" y="21"/>
                  <a:pt x="89" y="16"/>
                  <a:pt x="98" y="12"/>
                </a:cubicBezTo>
                <a:cubicBezTo>
                  <a:pt x="108" y="8"/>
                  <a:pt x="118" y="5"/>
                  <a:pt x="128" y="3"/>
                </a:cubicBezTo>
                <a:cubicBezTo>
                  <a:pt x="138" y="1"/>
                  <a:pt x="149" y="0"/>
                  <a:pt x="159" y="0"/>
                </a:cubicBezTo>
                <a:lnTo>
                  <a:pt x="3070" y="0"/>
                </a:lnTo>
                <a:cubicBezTo>
                  <a:pt x="3080" y="0"/>
                  <a:pt x="3090" y="1"/>
                  <a:pt x="3101" y="3"/>
                </a:cubicBezTo>
                <a:cubicBezTo>
                  <a:pt x="3111" y="5"/>
                  <a:pt x="3121" y="8"/>
                  <a:pt x="3130" y="12"/>
                </a:cubicBezTo>
                <a:cubicBezTo>
                  <a:pt x="3140" y="16"/>
                  <a:pt x="3149" y="21"/>
                  <a:pt x="3158" y="26"/>
                </a:cubicBezTo>
                <a:cubicBezTo>
                  <a:pt x="3166" y="32"/>
                  <a:pt x="3174" y="39"/>
                  <a:pt x="3182" y="46"/>
                </a:cubicBezTo>
                <a:cubicBezTo>
                  <a:pt x="3189" y="54"/>
                  <a:pt x="3196" y="62"/>
                  <a:pt x="3202" y="70"/>
                </a:cubicBezTo>
                <a:cubicBezTo>
                  <a:pt x="3207" y="79"/>
                  <a:pt x="3212" y="88"/>
                  <a:pt x="3216" y="98"/>
                </a:cubicBezTo>
                <a:cubicBezTo>
                  <a:pt x="3220" y="107"/>
                  <a:pt x="3223" y="117"/>
                  <a:pt x="3225" y="127"/>
                </a:cubicBezTo>
                <a:cubicBezTo>
                  <a:pt x="3228" y="138"/>
                  <a:pt x="3229" y="148"/>
                  <a:pt x="3229" y="158"/>
                </a:cubicBezTo>
                <a:lnTo>
                  <a:pt x="3229" y="636"/>
                </a:lnTo>
                <a:cubicBezTo>
                  <a:pt x="3229" y="646"/>
                  <a:pt x="3228" y="656"/>
                  <a:pt x="3225" y="667"/>
                </a:cubicBezTo>
                <a:cubicBezTo>
                  <a:pt x="3223" y="677"/>
                  <a:pt x="3220" y="687"/>
                  <a:pt x="3216" y="696"/>
                </a:cubicBezTo>
                <a:cubicBezTo>
                  <a:pt x="3212" y="706"/>
                  <a:pt x="3207" y="715"/>
                  <a:pt x="3202" y="724"/>
                </a:cubicBezTo>
                <a:cubicBezTo>
                  <a:pt x="3196" y="733"/>
                  <a:pt x="3189" y="741"/>
                  <a:pt x="3182" y="748"/>
                </a:cubicBezTo>
                <a:cubicBezTo>
                  <a:pt x="3174" y="755"/>
                  <a:pt x="3166" y="762"/>
                  <a:pt x="3158" y="768"/>
                </a:cubicBezTo>
                <a:cubicBezTo>
                  <a:pt x="3149" y="773"/>
                  <a:pt x="3140" y="778"/>
                  <a:pt x="3130" y="782"/>
                </a:cubicBezTo>
                <a:cubicBezTo>
                  <a:pt x="3121" y="786"/>
                  <a:pt x="3111" y="789"/>
                  <a:pt x="3101" y="791"/>
                </a:cubicBezTo>
                <a:cubicBezTo>
                  <a:pt x="3090" y="793"/>
                  <a:pt x="3080" y="794"/>
                  <a:pt x="3070" y="794"/>
                </a:cubicBezTo>
                <a:lnTo>
                  <a:pt x="159" y="794"/>
                </a:lnTo>
                <a:cubicBezTo>
                  <a:pt x="149" y="794"/>
                  <a:pt x="138" y="793"/>
                  <a:pt x="128" y="791"/>
                </a:cubicBezTo>
                <a:cubicBezTo>
                  <a:pt x="118" y="789"/>
                  <a:pt x="108" y="786"/>
                  <a:pt x="98" y="782"/>
                </a:cubicBezTo>
                <a:cubicBezTo>
                  <a:pt x="89" y="778"/>
                  <a:pt x="80" y="773"/>
                  <a:pt x="71" y="768"/>
                </a:cubicBezTo>
                <a:cubicBezTo>
                  <a:pt x="62" y="762"/>
                  <a:pt x="54" y="755"/>
                  <a:pt x="47" y="748"/>
                </a:cubicBezTo>
                <a:cubicBezTo>
                  <a:pt x="40" y="741"/>
                  <a:pt x="33" y="733"/>
                  <a:pt x="27" y="724"/>
                </a:cubicBezTo>
                <a:cubicBezTo>
                  <a:pt x="21" y="715"/>
                  <a:pt x="16" y="706"/>
                  <a:pt x="12" y="696"/>
                </a:cubicBezTo>
                <a:cubicBezTo>
                  <a:pt x="8" y="687"/>
                  <a:pt x="5" y="677"/>
                  <a:pt x="3" y="667"/>
                </a:cubicBezTo>
                <a:cubicBezTo>
                  <a:pt x="1" y="656"/>
                  <a:pt x="0" y="646"/>
                  <a:pt x="0" y="636"/>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509" name=""/>
          <p:cNvSpPr txBox="1"/>
          <p:nvPr/>
        </p:nvSpPr>
        <p:spPr>
          <a:xfrm>
            <a:off x="4929840" y="369756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510" name=""/>
          <p:cNvSpPr txBox="1"/>
          <p:nvPr/>
        </p:nvSpPr>
        <p:spPr>
          <a:xfrm>
            <a:off x="1816920" y="4110120"/>
            <a:ext cx="1012680" cy="212400"/>
          </a:xfrm>
          <a:prstGeom prst="rect">
            <a:avLst/>
          </a:prstGeom>
          <a:noFill/>
          <a:ln w="0">
            <a:noFill/>
          </a:ln>
        </p:spPr>
        <p:txBody>
          <a:bodyPr wrap="none" lIns="0" rIns="0" tIns="0" bIns="0" anchor="t">
            <a:noAutofit/>
          </a:bodyPr>
          <a:p>
            <a:r>
              <a:rPr b="0" lang="en-US" sz="1480" spc="-1" strike="noStrike">
                <a:solidFill>
                  <a:srgbClr val="1f2328"/>
                </a:solidFill>
                <a:latin typeface="Courier New"/>
                <a:ea typeface="Courier New"/>
              </a:rPr>
              <a:t>Isaac Lab</a:t>
            </a:r>
            <a:endParaRPr b="0" lang="en-US" sz="1480" spc="-1" strike="noStrike">
              <a:solidFill>
                <a:srgbClr val="000000"/>
              </a:solidFill>
              <a:latin typeface="Times New Roman"/>
            </a:endParaRPr>
          </a:p>
        </p:txBody>
      </p:sp>
      <p:sp>
        <p:nvSpPr>
          <p:cNvPr id="511" name=""/>
          <p:cNvSpPr txBox="1"/>
          <p:nvPr/>
        </p:nvSpPr>
        <p:spPr>
          <a:xfrm>
            <a:off x="2906640" y="40309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512" name=""/>
          <p:cNvSpPr txBox="1"/>
          <p:nvPr/>
        </p:nvSpPr>
        <p:spPr>
          <a:xfrm>
            <a:off x="2963880" y="4036680"/>
            <a:ext cx="44204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等を用い試行錯誤から制御ポリシーを学習。</a:t>
            </a:r>
            <a:endParaRPr b="0" lang="en-US" sz="1740" spc="-1" strike="noStrike">
              <a:solidFill>
                <a:srgbClr val="000000"/>
              </a:solidFill>
              <a:latin typeface="Times New Roman"/>
            </a:endParaRPr>
          </a:p>
        </p:txBody>
      </p:sp>
      <p:sp>
        <p:nvSpPr>
          <p:cNvPr id="513" name=""/>
          <p:cNvSpPr txBox="1"/>
          <p:nvPr/>
        </p:nvSpPr>
        <p:spPr>
          <a:xfrm>
            <a:off x="7381080" y="40309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514" name=""/>
          <p:cNvSpPr txBox="1"/>
          <p:nvPr/>
        </p:nvSpPr>
        <p:spPr>
          <a:xfrm>
            <a:off x="7504920" y="403668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例</a:t>
            </a:r>
            <a:endParaRPr b="0" lang="en-US" sz="1740" spc="-1" strike="noStrike">
              <a:solidFill>
                <a:srgbClr val="000000"/>
              </a:solidFill>
              <a:latin typeface="Times New Roman"/>
            </a:endParaRPr>
          </a:p>
        </p:txBody>
      </p:sp>
      <p:sp>
        <p:nvSpPr>
          <p:cNvPr id="515" name=""/>
          <p:cNvSpPr txBox="1"/>
          <p:nvPr/>
        </p:nvSpPr>
        <p:spPr>
          <a:xfrm>
            <a:off x="7725600" y="40309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516" name=""/>
          <p:cNvSpPr txBox="1"/>
          <p:nvPr/>
        </p:nvSpPr>
        <p:spPr>
          <a:xfrm>
            <a:off x="7842240" y="403668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接触操作、不整地歩行</a:t>
            </a:r>
            <a:endParaRPr b="0" lang="en-US" sz="1740" spc="-1" strike="noStrike">
              <a:solidFill>
                <a:srgbClr val="000000"/>
              </a:solidFill>
              <a:latin typeface="Times New Roman"/>
            </a:endParaRPr>
          </a:p>
        </p:txBody>
      </p:sp>
      <p:sp>
        <p:nvSpPr>
          <p:cNvPr id="517" name=""/>
          <p:cNvSpPr txBox="1"/>
          <p:nvPr/>
        </p:nvSpPr>
        <p:spPr>
          <a:xfrm>
            <a:off x="10050840" y="40309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518" name=""/>
          <p:cNvSpPr txBox="1"/>
          <p:nvPr/>
        </p:nvSpPr>
        <p:spPr>
          <a:xfrm>
            <a:off x="1056960" y="4430880"/>
            <a:ext cx="16970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3. </a:t>
            </a:r>
            <a:r>
              <a:rPr b="1" lang="en-US" sz="1740" spc="-1" strike="noStrike">
                <a:solidFill>
                  <a:srgbClr val="1f2328"/>
                </a:solidFill>
                <a:latin typeface="NotoSans-Semi"/>
                <a:ea typeface="NotoSans-Semi"/>
              </a:rPr>
              <a:t>Digital Twin (</a:t>
            </a:r>
            <a:endParaRPr b="0" lang="en-US" sz="1740" spc="-1" strike="noStrike">
              <a:solidFill>
                <a:srgbClr val="000000"/>
              </a:solidFill>
              <a:latin typeface="Times New Roman"/>
            </a:endParaRPr>
          </a:p>
        </p:txBody>
      </p:sp>
      <p:sp>
        <p:nvSpPr>
          <p:cNvPr id="519" name=""/>
          <p:cNvSpPr txBox="1"/>
          <p:nvPr/>
        </p:nvSpPr>
        <p:spPr>
          <a:xfrm>
            <a:off x="2707200" y="443664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デジタルツイン</a:t>
            </a:r>
            <a:endParaRPr b="0" lang="en-US" sz="1740" spc="-1" strike="noStrike">
              <a:solidFill>
                <a:srgbClr val="000000"/>
              </a:solidFill>
              <a:latin typeface="Times New Roman"/>
            </a:endParaRPr>
          </a:p>
        </p:txBody>
      </p:sp>
      <p:sp>
        <p:nvSpPr>
          <p:cNvPr id="520" name=""/>
          <p:cNvSpPr/>
          <p:nvPr/>
        </p:nvSpPr>
        <p:spPr>
          <a:xfrm>
            <a:off x="1523880" y="4886280"/>
            <a:ext cx="76320" cy="76320"/>
          </a:xfrm>
          <a:custGeom>
            <a:avLst/>
            <a:gdLst/>
            <a:ahLst/>
            <a:rect l="0" t="0" r="r" b="b"/>
            <a:pathLst>
              <a:path w="212" h="212">
                <a:moveTo>
                  <a:pt x="212" y="106"/>
                </a:moveTo>
                <a:cubicBezTo>
                  <a:pt x="212" y="120"/>
                  <a:pt x="210" y="134"/>
                  <a:pt x="204" y="147"/>
                </a:cubicBezTo>
                <a:cubicBezTo>
                  <a:pt x="199" y="160"/>
                  <a:pt x="191" y="171"/>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2"/>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2"/>
                  <a:pt x="199" y="53"/>
                  <a:pt x="204" y="66"/>
                </a:cubicBezTo>
                <a:cubicBezTo>
                  <a:pt x="210" y="79"/>
                  <a:pt x="212" y="92"/>
                  <a:pt x="212" y="106"/>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521" name=""/>
          <p:cNvSpPr txBox="1"/>
          <p:nvPr/>
        </p:nvSpPr>
        <p:spPr>
          <a:xfrm>
            <a:off x="4253040" y="443088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522" name=""/>
          <p:cNvSpPr txBox="1"/>
          <p:nvPr/>
        </p:nvSpPr>
        <p:spPr>
          <a:xfrm>
            <a:off x="1742040" y="4770000"/>
            <a:ext cx="50832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現実の工場を仮想に再現しレイアウト検証を実施。</a:t>
            </a:r>
            <a:endParaRPr b="0" lang="en-US" sz="1740" spc="-1" strike="noStrike">
              <a:solidFill>
                <a:srgbClr val="000000"/>
              </a:solidFill>
              <a:latin typeface="Times New Roman"/>
            </a:endParaRPr>
          </a:p>
        </p:txBody>
      </p:sp>
      <p:sp>
        <p:nvSpPr>
          <p:cNvPr id="523" name=""/>
          <p:cNvSpPr txBox="1"/>
          <p:nvPr/>
        </p:nvSpPr>
        <p:spPr>
          <a:xfrm>
            <a:off x="6822000" y="476424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524" name=""/>
          <p:cNvSpPr txBox="1"/>
          <p:nvPr/>
        </p:nvSpPr>
        <p:spPr>
          <a:xfrm>
            <a:off x="6945480" y="477000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例</a:t>
            </a:r>
            <a:endParaRPr b="0" lang="en-US" sz="1740" spc="-1" strike="noStrike">
              <a:solidFill>
                <a:srgbClr val="000000"/>
              </a:solidFill>
              <a:latin typeface="Times New Roman"/>
            </a:endParaRPr>
          </a:p>
        </p:txBody>
      </p:sp>
      <p:sp>
        <p:nvSpPr>
          <p:cNvPr id="525" name=""/>
          <p:cNvSpPr txBox="1"/>
          <p:nvPr/>
        </p:nvSpPr>
        <p:spPr>
          <a:xfrm>
            <a:off x="7166520" y="476424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526" name=""/>
          <p:cNvSpPr txBox="1"/>
          <p:nvPr/>
        </p:nvSpPr>
        <p:spPr>
          <a:xfrm>
            <a:off x="7283160" y="4770000"/>
            <a:ext cx="39783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サイクルタイム検証、複数ロボット連携</a:t>
            </a:r>
            <a:endParaRPr b="0" lang="en-US" sz="1740" spc="-1" strike="noStrike">
              <a:solidFill>
                <a:srgbClr val="000000"/>
              </a:solidFill>
              <a:latin typeface="Times New Roman"/>
            </a:endParaRPr>
          </a:p>
        </p:txBody>
      </p:sp>
      <p:sp>
        <p:nvSpPr>
          <p:cNvPr id="527" name=""/>
          <p:cNvSpPr txBox="1"/>
          <p:nvPr/>
        </p:nvSpPr>
        <p:spPr>
          <a:xfrm>
            <a:off x="11258640" y="476424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528"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529"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530"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18</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34" name=""/>
          <p:cNvSpPr txBox="1"/>
          <p:nvPr/>
        </p:nvSpPr>
        <p:spPr>
          <a:xfrm>
            <a:off x="747720" y="1683000"/>
            <a:ext cx="314640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4-2. GR00T-Mimic </a:t>
            </a:r>
            <a:endParaRPr b="0" lang="en-US" sz="2830" spc="-1" strike="noStrike">
              <a:solidFill>
                <a:srgbClr val="000000"/>
              </a:solidFill>
              <a:latin typeface="Times New Roman"/>
            </a:endParaRPr>
          </a:p>
        </p:txBody>
      </p:sp>
      <p:sp>
        <p:nvSpPr>
          <p:cNvPr id="535" name=""/>
          <p:cNvSpPr txBox="1"/>
          <p:nvPr/>
        </p:nvSpPr>
        <p:spPr>
          <a:xfrm>
            <a:off x="3835080" y="1692360"/>
            <a:ext cx="359748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による合成データ生成</a:t>
            </a:r>
            <a:endParaRPr b="0" lang="en-US" sz="2830" spc="-1" strike="noStrike">
              <a:solidFill>
                <a:srgbClr val="000000"/>
              </a:solidFill>
              <a:latin typeface="Times New Roman"/>
            </a:endParaRPr>
          </a:p>
        </p:txBody>
      </p:sp>
      <p:sp>
        <p:nvSpPr>
          <p:cNvPr id="536" name=""/>
          <p:cNvSpPr txBox="1"/>
          <p:nvPr/>
        </p:nvSpPr>
        <p:spPr>
          <a:xfrm>
            <a:off x="747720" y="2436480"/>
            <a:ext cx="8839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人間の少数の動作データから、ロボット向けの大量の合成学習データを生成する仕組み。</a:t>
            </a:r>
            <a:endParaRPr b="0" lang="en-US" sz="1740" spc="-1" strike="noStrike">
              <a:solidFill>
                <a:srgbClr val="000000"/>
              </a:solidFill>
              <a:latin typeface="Times New Roman"/>
            </a:endParaRPr>
          </a:p>
        </p:txBody>
      </p:sp>
      <p:sp>
        <p:nvSpPr>
          <p:cNvPr id="537" name=""/>
          <p:cNvSpPr txBox="1"/>
          <p:nvPr/>
        </p:nvSpPr>
        <p:spPr>
          <a:xfrm>
            <a:off x="1056960" y="2907000"/>
            <a:ext cx="4905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1. </a:t>
            </a:r>
            <a:r>
              <a:rPr b="1" lang="en-US" sz="1740" spc="-1" strike="noStrike">
                <a:solidFill>
                  <a:srgbClr val="1f2328"/>
                </a:solidFill>
                <a:latin typeface="NotoSans-Semi"/>
                <a:ea typeface="NotoSans-Semi"/>
              </a:rPr>
              <a:t>Demonstration Recording</a:t>
            </a:r>
            <a:r>
              <a:rPr b="0" lang="en-US" sz="1740" spc="-1" strike="noStrike">
                <a:solidFill>
                  <a:srgbClr val="1f2328"/>
                </a:solidFill>
                <a:latin typeface="NotoSans"/>
                <a:ea typeface="NotoSans"/>
              </a:rPr>
              <a:t>: Apple Vision Pro</a:t>
            </a:r>
            <a:endParaRPr b="0" lang="en-US" sz="1740" spc="-1" strike="noStrike">
              <a:solidFill>
                <a:srgbClr val="000000"/>
              </a:solidFill>
              <a:latin typeface="Times New Roman"/>
            </a:endParaRPr>
          </a:p>
        </p:txBody>
      </p:sp>
      <p:sp>
        <p:nvSpPr>
          <p:cNvPr id="538" name=""/>
          <p:cNvSpPr txBox="1"/>
          <p:nvPr/>
        </p:nvSpPr>
        <p:spPr>
          <a:xfrm>
            <a:off x="5883120" y="2912760"/>
            <a:ext cx="5525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等を使用し、シミュレーション内のロボットを遠隔操作</a:t>
            </a:r>
            <a:endParaRPr b="0" lang="en-US" sz="1740" spc="-1" strike="noStrike">
              <a:solidFill>
                <a:srgbClr val="000000"/>
              </a:solidFill>
              <a:latin typeface="Times New Roman"/>
            </a:endParaRPr>
          </a:p>
        </p:txBody>
      </p:sp>
      <p:sp>
        <p:nvSpPr>
          <p:cNvPr id="539" name=""/>
          <p:cNvSpPr txBox="1"/>
          <p:nvPr/>
        </p:nvSpPr>
        <p:spPr>
          <a:xfrm>
            <a:off x="1300320" y="324612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して「手本」を記録。</a:t>
            </a:r>
            <a:endParaRPr b="0" lang="en-US" sz="1740" spc="-1" strike="noStrike">
              <a:solidFill>
                <a:srgbClr val="000000"/>
              </a:solidFill>
              <a:latin typeface="Times New Roman"/>
            </a:endParaRPr>
          </a:p>
        </p:txBody>
      </p:sp>
      <p:sp>
        <p:nvSpPr>
          <p:cNvPr id="540" name=""/>
          <p:cNvSpPr txBox="1"/>
          <p:nvPr/>
        </p:nvSpPr>
        <p:spPr>
          <a:xfrm>
            <a:off x="1056960" y="3630960"/>
            <a:ext cx="50392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2. </a:t>
            </a:r>
            <a:r>
              <a:rPr b="1" lang="en-US" sz="1740" spc="-1" strike="noStrike">
                <a:solidFill>
                  <a:srgbClr val="1f2328"/>
                </a:solidFill>
                <a:latin typeface="NotoSans-Semi"/>
                <a:ea typeface="NotoSans-Semi"/>
              </a:rPr>
              <a:t>Synthetic Motion Generation</a:t>
            </a:r>
            <a:r>
              <a:rPr b="0" lang="en-US" sz="1740" spc="-1" strike="noStrike">
                <a:solidFill>
                  <a:srgbClr val="1f2328"/>
                </a:solidFill>
                <a:latin typeface="NotoSans"/>
                <a:ea typeface="NotoSans"/>
              </a:rPr>
              <a:t>: </a:t>
            </a:r>
            <a:r>
              <a:rPr b="1" lang="en-US" sz="1740" spc="-1" strike="noStrike">
                <a:solidFill>
                  <a:srgbClr val="1f2328"/>
                </a:solidFill>
                <a:latin typeface="NotoSans-Semi"/>
                <a:ea typeface="NotoSans-Semi"/>
              </a:rPr>
              <a:t>GR00T-Mimic </a:t>
            </a:r>
            <a:endParaRPr b="0" lang="en-US" sz="1740" spc="-1" strike="noStrike">
              <a:solidFill>
                <a:srgbClr val="000000"/>
              </a:solidFill>
              <a:latin typeface="Times New Roman"/>
            </a:endParaRPr>
          </a:p>
        </p:txBody>
      </p:sp>
      <p:sp>
        <p:nvSpPr>
          <p:cNvPr id="541" name=""/>
          <p:cNvSpPr txBox="1"/>
          <p:nvPr/>
        </p:nvSpPr>
        <p:spPr>
          <a:xfrm>
            <a:off x="5978880" y="3636720"/>
            <a:ext cx="50832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が物理的に正しい多様な動作パターンを自動生成。</a:t>
            </a:r>
            <a:endParaRPr b="0" lang="en-US" sz="1740" spc="-1" strike="noStrike">
              <a:solidFill>
                <a:srgbClr val="000000"/>
              </a:solidFill>
              <a:latin typeface="Times New Roman"/>
            </a:endParaRPr>
          </a:p>
        </p:txBody>
      </p:sp>
      <p:sp>
        <p:nvSpPr>
          <p:cNvPr id="542" name=""/>
          <p:cNvSpPr txBox="1"/>
          <p:nvPr/>
        </p:nvSpPr>
        <p:spPr>
          <a:xfrm>
            <a:off x="1056960" y="4011840"/>
            <a:ext cx="34556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3. </a:t>
            </a:r>
            <a:r>
              <a:rPr b="1" lang="en-US" sz="1740" spc="-1" strike="noStrike">
                <a:solidFill>
                  <a:srgbClr val="1f2328"/>
                </a:solidFill>
                <a:latin typeface="NotoSans-Semi"/>
                <a:ea typeface="NotoSans-Semi"/>
              </a:rPr>
              <a:t>Data Augmentation</a:t>
            </a:r>
            <a:r>
              <a:rPr b="0" lang="en-US" sz="1740" spc="-1" strike="noStrike">
                <a:solidFill>
                  <a:srgbClr val="1f2328"/>
                </a:solidFill>
                <a:latin typeface="NotoSans"/>
                <a:ea typeface="NotoSans"/>
              </a:rPr>
              <a:t>: </a:t>
            </a:r>
            <a:r>
              <a:rPr b="1" lang="en-US" sz="1740" spc="-1" strike="noStrike">
                <a:solidFill>
                  <a:srgbClr val="1f2328"/>
                </a:solidFill>
                <a:latin typeface="NotoSans-Semi"/>
                <a:ea typeface="NotoSans-Semi"/>
              </a:rPr>
              <a:t>Cosmos </a:t>
            </a:r>
            <a:endParaRPr b="0" lang="en-US" sz="1740" spc="-1" strike="noStrike">
              <a:solidFill>
                <a:srgbClr val="000000"/>
              </a:solidFill>
              <a:latin typeface="Times New Roman"/>
            </a:endParaRPr>
          </a:p>
        </p:txBody>
      </p:sp>
      <p:sp>
        <p:nvSpPr>
          <p:cNvPr id="543" name=""/>
          <p:cNvSpPr txBox="1"/>
          <p:nvPr/>
        </p:nvSpPr>
        <p:spPr>
          <a:xfrm>
            <a:off x="4446000" y="4017600"/>
            <a:ext cx="50832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等で環境条件（背景・照明）を変えてデータ拡張。</a:t>
            </a:r>
            <a:endParaRPr b="0" lang="en-US" sz="1740" spc="-1" strike="noStrike">
              <a:solidFill>
                <a:srgbClr val="000000"/>
              </a:solidFill>
              <a:latin typeface="Times New Roman"/>
            </a:endParaRPr>
          </a:p>
        </p:txBody>
      </p:sp>
      <p:sp>
        <p:nvSpPr>
          <p:cNvPr id="544" name=""/>
          <p:cNvSpPr txBox="1"/>
          <p:nvPr/>
        </p:nvSpPr>
        <p:spPr>
          <a:xfrm>
            <a:off x="747720" y="450360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メリット</a:t>
            </a:r>
            <a:endParaRPr b="0" lang="en-US" sz="1740" spc="-1" strike="noStrike">
              <a:solidFill>
                <a:srgbClr val="000000"/>
              </a:solidFill>
              <a:latin typeface="Times New Roman"/>
            </a:endParaRPr>
          </a:p>
        </p:txBody>
      </p:sp>
      <p:sp>
        <p:nvSpPr>
          <p:cNvPr id="545" name=""/>
          <p:cNvSpPr txBox="1"/>
          <p:nvPr/>
        </p:nvSpPr>
        <p:spPr>
          <a:xfrm>
            <a:off x="1631160" y="449784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546" name=""/>
          <p:cNvSpPr txBox="1"/>
          <p:nvPr/>
        </p:nvSpPr>
        <p:spPr>
          <a:xfrm>
            <a:off x="1750320" y="4503600"/>
            <a:ext cx="53042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実機でのティーチング時間を劇的に削減し、模倣学習</a:t>
            </a:r>
            <a:endParaRPr b="0" lang="en-US" sz="1740" spc="-1" strike="noStrike">
              <a:solidFill>
                <a:srgbClr val="000000"/>
              </a:solidFill>
              <a:latin typeface="Times New Roman"/>
            </a:endParaRPr>
          </a:p>
        </p:txBody>
      </p:sp>
      <p:sp>
        <p:nvSpPr>
          <p:cNvPr id="547" name=""/>
          <p:cNvSpPr txBox="1"/>
          <p:nvPr/>
        </p:nvSpPr>
        <p:spPr>
          <a:xfrm>
            <a:off x="7050960" y="4497840"/>
            <a:ext cx="2061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(Imitation Learning)</a:t>
            </a:r>
            <a:endParaRPr b="0" lang="en-US" sz="1740" spc="-1" strike="noStrike">
              <a:solidFill>
                <a:srgbClr val="000000"/>
              </a:solidFill>
              <a:latin typeface="Times New Roman"/>
            </a:endParaRPr>
          </a:p>
        </p:txBody>
      </p:sp>
      <p:sp>
        <p:nvSpPr>
          <p:cNvPr id="548" name=""/>
          <p:cNvSpPr txBox="1"/>
          <p:nvPr/>
        </p:nvSpPr>
        <p:spPr>
          <a:xfrm>
            <a:off x="9110880" y="450360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に必須となる高品質な</a:t>
            </a:r>
            <a:endParaRPr b="0" lang="en-US" sz="1740" spc="-1" strike="noStrike">
              <a:solidFill>
                <a:srgbClr val="000000"/>
              </a:solidFill>
              <a:latin typeface="Times New Roman"/>
            </a:endParaRPr>
          </a:p>
        </p:txBody>
      </p:sp>
      <p:sp>
        <p:nvSpPr>
          <p:cNvPr id="549" name=""/>
          <p:cNvSpPr txBox="1"/>
          <p:nvPr/>
        </p:nvSpPr>
        <p:spPr>
          <a:xfrm>
            <a:off x="747720" y="483696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データを短時間で大量に用意可能。</a:t>
            </a:r>
            <a:endParaRPr b="0" lang="en-US" sz="1740" spc="-1" strike="noStrike">
              <a:solidFill>
                <a:srgbClr val="000000"/>
              </a:solidFill>
              <a:latin typeface="Times New Roman"/>
            </a:endParaRPr>
          </a:p>
        </p:txBody>
      </p:sp>
      <p:sp>
        <p:nvSpPr>
          <p:cNvPr id="550"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551"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552"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19</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5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5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56" name=""/>
          <p:cNvSpPr txBox="1"/>
          <p:nvPr/>
        </p:nvSpPr>
        <p:spPr>
          <a:xfrm>
            <a:off x="747720" y="1397160"/>
            <a:ext cx="257004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4-3. Isaac ROS </a:t>
            </a:r>
            <a:endParaRPr b="0" lang="en-US" sz="2830" spc="-1" strike="noStrike">
              <a:solidFill>
                <a:srgbClr val="000000"/>
              </a:solidFill>
              <a:latin typeface="Times New Roman"/>
            </a:endParaRPr>
          </a:p>
        </p:txBody>
      </p:sp>
      <p:sp>
        <p:nvSpPr>
          <p:cNvPr id="557" name=""/>
          <p:cNvSpPr txBox="1"/>
          <p:nvPr/>
        </p:nvSpPr>
        <p:spPr>
          <a:xfrm>
            <a:off x="3277800" y="1406520"/>
            <a:ext cx="28782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マニピュレータの</a:t>
            </a:r>
            <a:endParaRPr b="0" lang="en-US" sz="2830" spc="-1" strike="noStrike">
              <a:solidFill>
                <a:srgbClr val="000000"/>
              </a:solidFill>
              <a:latin typeface="Times New Roman"/>
            </a:endParaRPr>
          </a:p>
        </p:txBody>
      </p:sp>
      <p:sp>
        <p:nvSpPr>
          <p:cNvPr id="558" name=""/>
          <p:cNvSpPr txBox="1"/>
          <p:nvPr/>
        </p:nvSpPr>
        <p:spPr>
          <a:xfrm>
            <a:off x="6149520" y="1397160"/>
            <a:ext cx="168768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r>
              <a:rPr b="1" lang="en-US" sz="2830" spc="-1" strike="noStrike">
                <a:solidFill>
                  <a:srgbClr val="1f2328"/>
                </a:solidFill>
                <a:latin typeface="NotoSans-Semi"/>
                <a:ea typeface="NotoSans-Semi"/>
              </a:rPr>
              <a:t>Use Case</a:t>
            </a:r>
            <a:endParaRPr b="0" lang="en-US" sz="2830" spc="-1" strike="noStrike">
              <a:solidFill>
                <a:srgbClr val="000000"/>
              </a:solidFill>
              <a:latin typeface="Times New Roman"/>
            </a:endParaRPr>
          </a:p>
        </p:txBody>
      </p:sp>
      <p:sp>
        <p:nvSpPr>
          <p:cNvPr id="559" name=""/>
          <p:cNvSpPr txBox="1"/>
          <p:nvPr/>
        </p:nvSpPr>
        <p:spPr>
          <a:xfrm>
            <a:off x="747720" y="214128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自律的な障害物回避と</a:t>
            </a:r>
            <a:endParaRPr b="0" lang="en-US" sz="1740" spc="-1" strike="noStrike">
              <a:solidFill>
                <a:srgbClr val="000000"/>
              </a:solidFill>
              <a:latin typeface="Times New Roman"/>
            </a:endParaRPr>
          </a:p>
        </p:txBody>
      </p:sp>
      <p:sp>
        <p:nvSpPr>
          <p:cNvPr id="560" name=""/>
          <p:cNvSpPr/>
          <p:nvPr/>
        </p:nvSpPr>
        <p:spPr>
          <a:xfrm>
            <a:off x="1085760" y="2742840"/>
            <a:ext cx="76320" cy="76680"/>
          </a:xfrm>
          <a:custGeom>
            <a:avLst/>
            <a:gdLst/>
            <a:ahLst/>
            <a:rect l="0" t="0" r="r" b="b"/>
            <a:pathLst>
              <a:path w="212" h="213">
                <a:moveTo>
                  <a:pt x="212" y="107"/>
                </a:moveTo>
                <a:cubicBezTo>
                  <a:pt x="212" y="121"/>
                  <a:pt x="210" y="135"/>
                  <a:pt x="204" y="148"/>
                </a:cubicBezTo>
                <a:cubicBezTo>
                  <a:pt x="199" y="161"/>
                  <a:pt x="191" y="172"/>
                  <a:pt x="181" y="182"/>
                </a:cubicBezTo>
                <a:cubicBezTo>
                  <a:pt x="171" y="192"/>
                  <a:pt x="160" y="200"/>
                  <a:pt x="147" y="205"/>
                </a:cubicBezTo>
                <a:cubicBezTo>
                  <a:pt x="134" y="210"/>
                  <a:pt x="121" y="213"/>
                  <a:pt x="107" y="213"/>
                </a:cubicBezTo>
                <a:cubicBezTo>
                  <a:pt x="93" y="213"/>
                  <a:pt x="79" y="210"/>
                  <a:pt x="66" y="205"/>
                </a:cubicBezTo>
                <a:cubicBezTo>
                  <a:pt x="53" y="200"/>
                  <a:pt x="41" y="192"/>
                  <a:pt x="31" y="182"/>
                </a:cubicBezTo>
                <a:cubicBezTo>
                  <a:pt x="21" y="172"/>
                  <a:pt x="13" y="161"/>
                  <a:pt x="8" y="148"/>
                </a:cubicBezTo>
                <a:cubicBezTo>
                  <a:pt x="2" y="135"/>
                  <a:pt x="0" y="121"/>
                  <a:pt x="0" y="107"/>
                </a:cubicBezTo>
                <a:cubicBezTo>
                  <a:pt x="0" y="93"/>
                  <a:pt x="2" y="79"/>
                  <a:pt x="8" y="66"/>
                </a:cubicBezTo>
                <a:cubicBezTo>
                  <a:pt x="13" y="53"/>
                  <a:pt x="21" y="41"/>
                  <a:pt x="31" y="31"/>
                </a:cubicBezTo>
                <a:cubicBezTo>
                  <a:pt x="41" y="22"/>
                  <a:pt x="53" y="14"/>
                  <a:pt x="66" y="9"/>
                </a:cubicBezTo>
                <a:cubicBezTo>
                  <a:pt x="79" y="3"/>
                  <a:pt x="93" y="0"/>
                  <a:pt x="107" y="0"/>
                </a:cubicBezTo>
                <a:cubicBezTo>
                  <a:pt x="121" y="0"/>
                  <a:pt x="134" y="3"/>
                  <a:pt x="147" y="9"/>
                </a:cubicBezTo>
                <a:cubicBezTo>
                  <a:pt x="160" y="14"/>
                  <a:pt x="171" y="22"/>
                  <a:pt x="181" y="31"/>
                </a:cubicBezTo>
                <a:cubicBezTo>
                  <a:pt x="191" y="41"/>
                  <a:pt x="199" y="53"/>
                  <a:pt x="204" y="66"/>
                </a:cubicBezTo>
                <a:cubicBezTo>
                  <a:pt x="210" y="79"/>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61" name=""/>
          <p:cNvSpPr txBox="1"/>
          <p:nvPr/>
        </p:nvSpPr>
        <p:spPr>
          <a:xfrm>
            <a:off x="2956320" y="2135520"/>
            <a:ext cx="13204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Pick &amp; Place</a:t>
            </a:r>
            <a:endParaRPr b="0" lang="en-US" sz="1740" spc="-1" strike="noStrike">
              <a:solidFill>
                <a:srgbClr val="000000"/>
              </a:solidFill>
              <a:latin typeface="Times New Roman"/>
            </a:endParaRPr>
          </a:p>
        </p:txBody>
      </p:sp>
      <p:sp>
        <p:nvSpPr>
          <p:cNvPr id="562" name=""/>
          <p:cNvSpPr txBox="1"/>
          <p:nvPr/>
        </p:nvSpPr>
        <p:spPr>
          <a:xfrm>
            <a:off x="1300320" y="2621160"/>
            <a:ext cx="21481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STEP 1: Perception (</a:t>
            </a:r>
            <a:endParaRPr b="0" lang="en-US" sz="1740" spc="-1" strike="noStrike">
              <a:solidFill>
                <a:srgbClr val="000000"/>
              </a:solidFill>
              <a:latin typeface="Times New Roman"/>
            </a:endParaRPr>
          </a:p>
        </p:txBody>
      </p:sp>
      <p:sp>
        <p:nvSpPr>
          <p:cNvPr id="563" name=""/>
          <p:cNvSpPr txBox="1"/>
          <p:nvPr/>
        </p:nvSpPr>
        <p:spPr>
          <a:xfrm>
            <a:off x="3404520" y="262692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環境・対象認識</a:t>
            </a:r>
            <a:endParaRPr b="0" lang="en-US" sz="1740" spc="-1" strike="noStrike">
              <a:solidFill>
                <a:srgbClr val="000000"/>
              </a:solidFill>
              <a:latin typeface="Times New Roman"/>
            </a:endParaRPr>
          </a:p>
        </p:txBody>
      </p:sp>
      <p:sp>
        <p:nvSpPr>
          <p:cNvPr id="564" name=""/>
          <p:cNvSpPr/>
          <p:nvPr/>
        </p:nvSpPr>
        <p:spPr>
          <a:xfrm>
            <a:off x="1523880" y="3076560"/>
            <a:ext cx="76320" cy="76320"/>
          </a:xfrm>
          <a:custGeom>
            <a:avLst/>
            <a:gdLst/>
            <a:ahLst/>
            <a:rect l="0" t="0" r="r" b="b"/>
            <a:pathLst>
              <a:path w="212" h="212">
                <a:moveTo>
                  <a:pt x="212" y="105"/>
                </a:moveTo>
                <a:cubicBezTo>
                  <a:pt x="212" y="119"/>
                  <a:pt x="210" y="133"/>
                  <a:pt x="204" y="146"/>
                </a:cubicBezTo>
                <a:cubicBezTo>
                  <a:pt x="199" y="159"/>
                  <a:pt x="191" y="170"/>
                  <a:pt x="182" y="180"/>
                </a:cubicBezTo>
                <a:cubicBezTo>
                  <a:pt x="172" y="190"/>
                  <a:pt x="160" y="198"/>
                  <a:pt x="147" y="203"/>
                </a:cubicBezTo>
                <a:cubicBezTo>
                  <a:pt x="134" y="209"/>
                  <a:pt x="121" y="212"/>
                  <a:pt x="107" y="212"/>
                </a:cubicBezTo>
                <a:cubicBezTo>
                  <a:pt x="92" y="212"/>
                  <a:pt x="78" y="209"/>
                  <a:pt x="65" y="203"/>
                </a:cubicBezTo>
                <a:cubicBezTo>
                  <a:pt x="52" y="198"/>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0"/>
                  <a:pt x="199" y="52"/>
                  <a:pt x="204" y="65"/>
                </a:cubicBezTo>
                <a:cubicBezTo>
                  <a:pt x="210" y="78"/>
                  <a:pt x="212" y="91"/>
                  <a:pt x="212" y="105"/>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565" name=""/>
          <p:cNvSpPr/>
          <p:nvPr/>
        </p:nvSpPr>
        <p:spPr>
          <a:xfrm>
            <a:off x="1742760" y="3000240"/>
            <a:ext cx="829080" cy="286200"/>
          </a:xfrm>
          <a:custGeom>
            <a:avLst/>
            <a:gdLst/>
            <a:ahLst/>
            <a:rect l="0" t="0" r="r" b="b"/>
            <a:pathLst>
              <a:path w="2303" h="795">
                <a:moveTo>
                  <a:pt x="0" y="635"/>
                </a:moveTo>
                <a:lnTo>
                  <a:pt x="0" y="159"/>
                </a:lnTo>
                <a:cubicBezTo>
                  <a:pt x="0" y="148"/>
                  <a:pt x="1" y="138"/>
                  <a:pt x="3" y="128"/>
                </a:cubicBezTo>
                <a:cubicBezTo>
                  <a:pt x="5" y="117"/>
                  <a:pt x="8" y="108"/>
                  <a:pt x="12" y="98"/>
                </a:cubicBezTo>
                <a:cubicBezTo>
                  <a:pt x="16" y="88"/>
                  <a:pt x="21" y="79"/>
                  <a:pt x="27" y="70"/>
                </a:cubicBezTo>
                <a:cubicBezTo>
                  <a:pt x="33" y="62"/>
                  <a:pt x="40" y="54"/>
                  <a:pt x="47" y="46"/>
                </a:cubicBezTo>
                <a:cubicBezTo>
                  <a:pt x="54" y="39"/>
                  <a:pt x="62" y="32"/>
                  <a:pt x="71" y="27"/>
                </a:cubicBezTo>
                <a:cubicBezTo>
                  <a:pt x="80" y="21"/>
                  <a:pt x="89" y="16"/>
                  <a:pt x="98" y="12"/>
                </a:cubicBezTo>
                <a:cubicBezTo>
                  <a:pt x="108" y="8"/>
                  <a:pt x="118" y="5"/>
                  <a:pt x="128" y="3"/>
                </a:cubicBezTo>
                <a:cubicBezTo>
                  <a:pt x="138" y="1"/>
                  <a:pt x="149" y="0"/>
                  <a:pt x="159" y="0"/>
                </a:cubicBezTo>
                <a:lnTo>
                  <a:pt x="2144" y="0"/>
                </a:lnTo>
                <a:cubicBezTo>
                  <a:pt x="2155" y="0"/>
                  <a:pt x="2165" y="1"/>
                  <a:pt x="2175" y="3"/>
                </a:cubicBezTo>
                <a:cubicBezTo>
                  <a:pt x="2186" y="5"/>
                  <a:pt x="2196" y="8"/>
                  <a:pt x="2205" y="12"/>
                </a:cubicBezTo>
                <a:cubicBezTo>
                  <a:pt x="2215" y="16"/>
                  <a:pt x="2224" y="21"/>
                  <a:pt x="2233" y="27"/>
                </a:cubicBezTo>
                <a:cubicBezTo>
                  <a:pt x="2241" y="32"/>
                  <a:pt x="2249" y="39"/>
                  <a:pt x="2257" y="46"/>
                </a:cubicBezTo>
                <a:cubicBezTo>
                  <a:pt x="2264" y="54"/>
                  <a:pt x="2271" y="62"/>
                  <a:pt x="2276" y="70"/>
                </a:cubicBezTo>
                <a:cubicBezTo>
                  <a:pt x="2282" y="79"/>
                  <a:pt x="2287" y="88"/>
                  <a:pt x="2291" y="98"/>
                </a:cubicBezTo>
                <a:cubicBezTo>
                  <a:pt x="2295" y="108"/>
                  <a:pt x="2298" y="117"/>
                  <a:pt x="2300" y="128"/>
                </a:cubicBezTo>
                <a:cubicBezTo>
                  <a:pt x="2302" y="138"/>
                  <a:pt x="2303" y="148"/>
                  <a:pt x="2303" y="159"/>
                </a:cubicBezTo>
                <a:lnTo>
                  <a:pt x="2303" y="635"/>
                </a:lnTo>
                <a:cubicBezTo>
                  <a:pt x="2303" y="645"/>
                  <a:pt x="2302" y="656"/>
                  <a:pt x="2300" y="666"/>
                </a:cubicBezTo>
                <a:cubicBezTo>
                  <a:pt x="2298" y="676"/>
                  <a:pt x="2295" y="686"/>
                  <a:pt x="2291" y="696"/>
                </a:cubicBezTo>
                <a:cubicBezTo>
                  <a:pt x="2287" y="705"/>
                  <a:pt x="2282" y="714"/>
                  <a:pt x="2276" y="723"/>
                </a:cubicBezTo>
                <a:cubicBezTo>
                  <a:pt x="2271" y="732"/>
                  <a:pt x="2264" y="740"/>
                  <a:pt x="2257" y="747"/>
                </a:cubicBezTo>
                <a:cubicBezTo>
                  <a:pt x="2249" y="754"/>
                  <a:pt x="2241" y="761"/>
                  <a:pt x="2233" y="767"/>
                </a:cubicBezTo>
                <a:cubicBezTo>
                  <a:pt x="2224" y="773"/>
                  <a:pt x="2215" y="778"/>
                  <a:pt x="2205" y="782"/>
                </a:cubicBezTo>
                <a:cubicBezTo>
                  <a:pt x="2196" y="787"/>
                  <a:pt x="2186" y="790"/>
                  <a:pt x="2175" y="792"/>
                </a:cubicBezTo>
                <a:cubicBezTo>
                  <a:pt x="2165" y="794"/>
                  <a:pt x="2155" y="795"/>
                  <a:pt x="2144" y="795"/>
                </a:cubicBezTo>
                <a:lnTo>
                  <a:pt x="159" y="795"/>
                </a:lnTo>
                <a:cubicBezTo>
                  <a:pt x="149" y="795"/>
                  <a:pt x="138" y="794"/>
                  <a:pt x="128" y="792"/>
                </a:cubicBezTo>
                <a:cubicBezTo>
                  <a:pt x="118" y="790"/>
                  <a:pt x="108" y="787"/>
                  <a:pt x="98" y="782"/>
                </a:cubicBezTo>
                <a:cubicBezTo>
                  <a:pt x="89" y="778"/>
                  <a:pt x="80" y="773"/>
                  <a:pt x="71" y="767"/>
                </a:cubicBezTo>
                <a:cubicBezTo>
                  <a:pt x="62" y="761"/>
                  <a:pt x="54" y="754"/>
                  <a:pt x="47" y="747"/>
                </a:cubicBezTo>
                <a:cubicBezTo>
                  <a:pt x="40" y="740"/>
                  <a:pt x="33" y="732"/>
                  <a:pt x="27" y="723"/>
                </a:cubicBezTo>
                <a:cubicBezTo>
                  <a:pt x="21" y="714"/>
                  <a:pt x="16" y="705"/>
                  <a:pt x="12" y="696"/>
                </a:cubicBezTo>
                <a:cubicBezTo>
                  <a:pt x="8" y="686"/>
                  <a:pt x="5" y="676"/>
                  <a:pt x="3" y="666"/>
                </a:cubicBezTo>
                <a:cubicBezTo>
                  <a:pt x="1" y="656"/>
                  <a:pt x="0" y="645"/>
                  <a:pt x="0" y="635"/>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566" name=""/>
          <p:cNvSpPr txBox="1"/>
          <p:nvPr/>
        </p:nvSpPr>
        <p:spPr>
          <a:xfrm>
            <a:off x="4950360" y="262116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567" name=""/>
          <p:cNvSpPr txBox="1"/>
          <p:nvPr/>
        </p:nvSpPr>
        <p:spPr>
          <a:xfrm>
            <a:off x="1816920" y="3033720"/>
            <a:ext cx="674280" cy="212400"/>
          </a:xfrm>
          <a:prstGeom prst="rect">
            <a:avLst/>
          </a:prstGeom>
          <a:noFill/>
          <a:ln w="0">
            <a:noFill/>
          </a:ln>
        </p:spPr>
        <p:txBody>
          <a:bodyPr wrap="none" lIns="0" rIns="0" tIns="0" bIns="0" anchor="t">
            <a:noAutofit/>
          </a:bodyPr>
          <a:p>
            <a:r>
              <a:rPr b="0" lang="en-US" sz="1480" spc="-1" strike="noStrike">
                <a:solidFill>
                  <a:srgbClr val="1f2328"/>
                </a:solidFill>
                <a:latin typeface="Courier New"/>
                <a:ea typeface="Courier New"/>
              </a:rPr>
              <a:t>nvblox</a:t>
            </a:r>
            <a:endParaRPr b="0" lang="en-US" sz="1480" spc="-1" strike="noStrike">
              <a:solidFill>
                <a:srgbClr val="000000"/>
              </a:solidFill>
              <a:latin typeface="Times New Roman"/>
            </a:endParaRPr>
          </a:p>
        </p:txBody>
      </p:sp>
      <p:sp>
        <p:nvSpPr>
          <p:cNvPr id="568" name=""/>
          <p:cNvSpPr txBox="1"/>
          <p:nvPr/>
        </p:nvSpPr>
        <p:spPr>
          <a:xfrm>
            <a:off x="2568240" y="2954520"/>
            <a:ext cx="4107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(3D</a:t>
            </a:r>
            <a:endParaRPr b="0" lang="en-US" sz="1740" spc="-1" strike="noStrike">
              <a:solidFill>
                <a:srgbClr val="000000"/>
              </a:solidFill>
              <a:latin typeface="Times New Roman"/>
            </a:endParaRPr>
          </a:p>
        </p:txBody>
      </p:sp>
      <p:sp>
        <p:nvSpPr>
          <p:cNvPr id="569" name=""/>
          <p:cNvSpPr txBox="1"/>
          <p:nvPr/>
        </p:nvSpPr>
        <p:spPr>
          <a:xfrm>
            <a:off x="2979720" y="296028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深度地図生成</a:t>
            </a:r>
            <a:endParaRPr b="0" lang="en-US" sz="1740" spc="-1" strike="noStrike">
              <a:solidFill>
                <a:srgbClr val="000000"/>
              </a:solidFill>
              <a:latin typeface="Times New Roman"/>
            </a:endParaRPr>
          </a:p>
        </p:txBody>
      </p:sp>
      <p:sp>
        <p:nvSpPr>
          <p:cNvPr id="570" name=""/>
          <p:cNvSpPr/>
          <p:nvPr/>
        </p:nvSpPr>
        <p:spPr>
          <a:xfrm>
            <a:off x="4571640" y="3000240"/>
            <a:ext cx="1724400" cy="286200"/>
          </a:xfrm>
          <a:custGeom>
            <a:avLst/>
            <a:gdLst/>
            <a:ahLst/>
            <a:rect l="0" t="0" r="r" b="b"/>
            <a:pathLst>
              <a:path w="4790" h="795">
                <a:moveTo>
                  <a:pt x="0" y="635"/>
                </a:moveTo>
                <a:lnTo>
                  <a:pt x="0" y="159"/>
                </a:lnTo>
                <a:cubicBezTo>
                  <a:pt x="0" y="148"/>
                  <a:pt x="2" y="138"/>
                  <a:pt x="4" y="128"/>
                </a:cubicBezTo>
                <a:cubicBezTo>
                  <a:pt x="6" y="117"/>
                  <a:pt x="9" y="108"/>
                  <a:pt x="13" y="98"/>
                </a:cubicBezTo>
                <a:cubicBezTo>
                  <a:pt x="17" y="88"/>
                  <a:pt x="21" y="79"/>
                  <a:pt x="27" y="70"/>
                </a:cubicBezTo>
                <a:cubicBezTo>
                  <a:pt x="33" y="62"/>
                  <a:pt x="40" y="54"/>
                  <a:pt x="47" y="46"/>
                </a:cubicBezTo>
                <a:cubicBezTo>
                  <a:pt x="54" y="39"/>
                  <a:pt x="62" y="32"/>
                  <a:pt x="71" y="27"/>
                </a:cubicBezTo>
                <a:cubicBezTo>
                  <a:pt x="80" y="21"/>
                  <a:pt x="89" y="16"/>
                  <a:pt x="98" y="12"/>
                </a:cubicBezTo>
                <a:cubicBezTo>
                  <a:pt x="108" y="8"/>
                  <a:pt x="118" y="5"/>
                  <a:pt x="128" y="3"/>
                </a:cubicBezTo>
                <a:cubicBezTo>
                  <a:pt x="139" y="1"/>
                  <a:pt x="149" y="0"/>
                  <a:pt x="159" y="0"/>
                </a:cubicBezTo>
                <a:lnTo>
                  <a:pt x="4632" y="0"/>
                </a:lnTo>
                <a:cubicBezTo>
                  <a:pt x="4642" y="0"/>
                  <a:pt x="4652" y="1"/>
                  <a:pt x="4663" y="3"/>
                </a:cubicBezTo>
                <a:cubicBezTo>
                  <a:pt x="4673" y="5"/>
                  <a:pt x="4683" y="8"/>
                  <a:pt x="4692" y="12"/>
                </a:cubicBezTo>
                <a:cubicBezTo>
                  <a:pt x="4702" y="16"/>
                  <a:pt x="4711" y="21"/>
                  <a:pt x="4720" y="27"/>
                </a:cubicBezTo>
                <a:cubicBezTo>
                  <a:pt x="4729" y="32"/>
                  <a:pt x="4737" y="39"/>
                  <a:pt x="4744" y="46"/>
                </a:cubicBezTo>
                <a:cubicBezTo>
                  <a:pt x="4751" y="54"/>
                  <a:pt x="4758" y="62"/>
                  <a:pt x="4764" y="70"/>
                </a:cubicBezTo>
                <a:cubicBezTo>
                  <a:pt x="4769" y="79"/>
                  <a:pt x="4774" y="88"/>
                  <a:pt x="4778" y="98"/>
                </a:cubicBezTo>
                <a:cubicBezTo>
                  <a:pt x="4782" y="108"/>
                  <a:pt x="4785" y="117"/>
                  <a:pt x="4787" y="128"/>
                </a:cubicBezTo>
                <a:cubicBezTo>
                  <a:pt x="4789" y="138"/>
                  <a:pt x="4790" y="148"/>
                  <a:pt x="4790" y="159"/>
                </a:cubicBezTo>
                <a:lnTo>
                  <a:pt x="4790" y="635"/>
                </a:lnTo>
                <a:cubicBezTo>
                  <a:pt x="4790" y="645"/>
                  <a:pt x="4789" y="656"/>
                  <a:pt x="4787" y="666"/>
                </a:cubicBezTo>
                <a:cubicBezTo>
                  <a:pt x="4785" y="676"/>
                  <a:pt x="4782" y="686"/>
                  <a:pt x="4778" y="696"/>
                </a:cubicBezTo>
                <a:cubicBezTo>
                  <a:pt x="4774" y="705"/>
                  <a:pt x="4769" y="714"/>
                  <a:pt x="4764" y="723"/>
                </a:cubicBezTo>
                <a:cubicBezTo>
                  <a:pt x="4758" y="732"/>
                  <a:pt x="4751" y="740"/>
                  <a:pt x="4744" y="747"/>
                </a:cubicBezTo>
                <a:cubicBezTo>
                  <a:pt x="4737" y="754"/>
                  <a:pt x="4729" y="761"/>
                  <a:pt x="4720" y="767"/>
                </a:cubicBezTo>
                <a:cubicBezTo>
                  <a:pt x="4711" y="773"/>
                  <a:pt x="4702" y="778"/>
                  <a:pt x="4692" y="782"/>
                </a:cubicBezTo>
                <a:cubicBezTo>
                  <a:pt x="4683" y="787"/>
                  <a:pt x="4673" y="790"/>
                  <a:pt x="4663" y="792"/>
                </a:cubicBezTo>
                <a:cubicBezTo>
                  <a:pt x="4652" y="794"/>
                  <a:pt x="4642" y="795"/>
                  <a:pt x="4632" y="795"/>
                </a:cubicBezTo>
                <a:lnTo>
                  <a:pt x="159" y="795"/>
                </a:lnTo>
                <a:cubicBezTo>
                  <a:pt x="149" y="795"/>
                  <a:pt x="139" y="794"/>
                  <a:pt x="128" y="792"/>
                </a:cubicBezTo>
                <a:cubicBezTo>
                  <a:pt x="118" y="790"/>
                  <a:pt x="108" y="787"/>
                  <a:pt x="98" y="782"/>
                </a:cubicBezTo>
                <a:cubicBezTo>
                  <a:pt x="89" y="778"/>
                  <a:pt x="80" y="773"/>
                  <a:pt x="71" y="767"/>
                </a:cubicBezTo>
                <a:cubicBezTo>
                  <a:pt x="62" y="761"/>
                  <a:pt x="54" y="754"/>
                  <a:pt x="47" y="747"/>
                </a:cubicBezTo>
                <a:cubicBezTo>
                  <a:pt x="40" y="740"/>
                  <a:pt x="33" y="732"/>
                  <a:pt x="27" y="723"/>
                </a:cubicBezTo>
                <a:cubicBezTo>
                  <a:pt x="21" y="714"/>
                  <a:pt x="17" y="705"/>
                  <a:pt x="13" y="696"/>
                </a:cubicBezTo>
                <a:cubicBezTo>
                  <a:pt x="9" y="686"/>
                  <a:pt x="6" y="676"/>
                  <a:pt x="4" y="666"/>
                </a:cubicBezTo>
                <a:cubicBezTo>
                  <a:pt x="2" y="656"/>
                  <a:pt x="0" y="645"/>
                  <a:pt x="0" y="635"/>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571" name=""/>
          <p:cNvSpPr txBox="1"/>
          <p:nvPr/>
        </p:nvSpPr>
        <p:spPr>
          <a:xfrm>
            <a:off x="4304880" y="2954520"/>
            <a:ext cx="2628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 </a:t>
            </a:r>
            <a:endParaRPr b="0" lang="en-US" sz="1740" spc="-1" strike="noStrike">
              <a:solidFill>
                <a:srgbClr val="000000"/>
              </a:solidFill>
              <a:latin typeface="Times New Roman"/>
            </a:endParaRPr>
          </a:p>
        </p:txBody>
      </p:sp>
      <p:sp>
        <p:nvSpPr>
          <p:cNvPr id="572" name=""/>
          <p:cNvSpPr txBox="1"/>
          <p:nvPr/>
        </p:nvSpPr>
        <p:spPr>
          <a:xfrm>
            <a:off x="4643280" y="3033720"/>
            <a:ext cx="1575000" cy="212400"/>
          </a:xfrm>
          <a:prstGeom prst="rect">
            <a:avLst/>
          </a:prstGeom>
          <a:noFill/>
          <a:ln w="0">
            <a:noFill/>
          </a:ln>
        </p:spPr>
        <p:txBody>
          <a:bodyPr wrap="none" lIns="0" rIns="0" tIns="0" bIns="0" anchor="t">
            <a:noAutofit/>
          </a:bodyPr>
          <a:p>
            <a:r>
              <a:rPr b="0" lang="en-US" sz="1480" spc="-1" strike="noStrike">
                <a:solidFill>
                  <a:srgbClr val="1f2328"/>
                </a:solidFill>
                <a:latin typeface="Courier New"/>
                <a:ea typeface="Courier New"/>
              </a:rPr>
              <a:t>FoundationPose</a:t>
            </a:r>
            <a:endParaRPr b="0" lang="en-US" sz="1480" spc="-1" strike="noStrike">
              <a:solidFill>
                <a:srgbClr val="000000"/>
              </a:solidFill>
              <a:latin typeface="Times New Roman"/>
            </a:endParaRPr>
          </a:p>
        </p:txBody>
      </p:sp>
      <p:sp>
        <p:nvSpPr>
          <p:cNvPr id="573" name=""/>
          <p:cNvSpPr txBox="1"/>
          <p:nvPr/>
        </p:nvSpPr>
        <p:spPr>
          <a:xfrm>
            <a:off x="6296040" y="2954520"/>
            <a:ext cx="6591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(6DoF</a:t>
            </a:r>
            <a:endParaRPr b="0" lang="en-US" sz="1740" spc="-1" strike="noStrike">
              <a:solidFill>
                <a:srgbClr val="000000"/>
              </a:solidFill>
              <a:latin typeface="Times New Roman"/>
            </a:endParaRPr>
          </a:p>
        </p:txBody>
      </p:sp>
      <p:sp>
        <p:nvSpPr>
          <p:cNvPr id="574" name=""/>
          <p:cNvSpPr txBox="1"/>
          <p:nvPr/>
        </p:nvSpPr>
        <p:spPr>
          <a:xfrm>
            <a:off x="6955560" y="296028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姿勢推定</a:t>
            </a:r>
            <a:endParaRPr b="0" lang="en-US" sz="1740" spc="-1" strike="noStrike">
              <a:solidFill>
                <a:srgbClr val="000000"/>
              </a:solidFill>
              <a:latin typeface="Times New Roman"/>
            </a:endParaRPr>
          </a:p>
        </p:txBody>
      </p:sp>
      <p:sp>
        <p:nvSpPr>
          <p:cNvPr id="575" name=""/>
          <p:cNvSpPr/>
          <p:nvPr/>
        </p:nvSpPr>
        <p:spPr>
          <a:xfrm>
            <a:off x="1085760" y="3476520"/>
            <a:ext cx="76320" cy="76320"/>
          </a:xfrm>
          <a:custGeom>
            <a:avLst/>
            <a:gdLst/>
            <a:ahLst/>
            <a:rect l="0" t="0" r="r" b="b"/>
            <a:pathLst>
              <a:path w="212" h="212">
                <a:moveTo>
                  <a:pt x="212" y="106"/>
                </a:moveTo>
                <a:cubicBezTo>
                  <a:pt x="212" y="120"/>
                  <a:pt x="210" y="133"/>
                  <a:pt x="204" y="146"/>
                </a:cubicBezTo>
                <a:cubicBezTo>
                  <a:pt x="199" y="160"/>
                  <a:pt x="191" y="172"/>
                  <a:pt x="181" y="181"/>
                </a:cubicBezTo>
                <a:cubicBezTo>
                  <a:pt x="171" y="191"/>
                  <a:pt x="160" y="199"/>
                  <a:pt x="147" y="204"/>
                </a:cubicBezTo>
                <a:cubicBezTo>
                  <a:pt x="134" y="210"/>
                  <a:pt x="121" y="212"/>
                  <a:pt x="107" y="212"/>
                </a:cubicBezTo>
                <a:cubicBezTo>
                  <a:pt x="93" y="212"/>
                  <a:pt x="79" y="210"/>
                  <a:pt x="66" y="204"/>
                </a:cubicBezTo>
                <a:cubicBezTo>
                  <a:pt x="53" y="199"/>
                  <a:pt x="41" y="191"/>
                  <a:pt x="31" y="181"/>
                </a:cubicBezTo>
                <a:cubicBezTo>
                  <a:pt x="21" y="172"/>
                  <a:pt x="13" y="160"/>
                  <a:pt x="8" y="146"/>
                </a:cubicBezTo>
                <a:cubicBezTo>
                  <a:pt x="2" y="133"/>
                  <a:pt x="0" y="120"/>
                  <a:pt x="0" y="106"/>
                </a:cubicBezTo>
                <a:cubicBezTo>
                  <a:pt x="0" y="92"/>
                  <a:pt x="2" y="78"/>
                  <a:pt x="8" y="65"/>
                </a:cubicBezTo>
                <a:cubicBezTo>
                  <a:pt x="13" y="52"/>
                  <a:pt x="21" y="41"/>
                  <a:pt x="31" y="31"/>
                </a:cubicBezTo>
                <a:cubicBezTo>
                  <a:pt x="41" y="21"/>
                  <a:pt x="53" y="13"/>
                  <a:pt x="66" y="8"/>
                </a:cubicBezTo>
                <a:cubicBezTo>
                  <a:pt x="79" y="2"/>
                  <a:pt x="93" y="0"/>
                  <a:pt x="107" y="0"/>
                </a:cubicBezTo>
                <a:cubicBezTo>
                  <a:pt x="121" y="0"/>
                  <a:pt x="134" y="2"/>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76" name=""/>
          <p:cNvSpPr txBox="1"/>
          <p:nvPr/>
        </p:nvSpPr>
        <p:spPr>
          <a:xfrm>
            <a:off x="7839000" y="29545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t>
            </a:r>
            <a:endParaRPr b="0" lang="en-US" sz="1740" spc="-1" strike="noStrike">
              <a:solidFill>
                <a:srgbClr val="000000"/>
              </a:solidFill>
              <a:latin typeface="Times New Roman"/>
            </a:endParaRPr>
          </a:p>
        </p:txBody>
      </p:sp>
      <p:sp>
        <p:nvSpPr>
          <p:cNvPr id="577" name=""/>
          <p:cNvSpPr txBox="1"/>
          <p:nvPr/>
        </p:nvSpPr>
        <p:spPr>
          <a:xfrm>
            <a:off x="1300320" y="3354840"/>
            <a:ext cx="27788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STEP 2: Motion Planning (</a:t>
            </a:r>
            <a:endParaRPr b="0" lang="en-US" sz="1740" spc="-1" strike="noStrike">
              <a:solidFill>
                <a:srgbClr val="000000"/>
              </a:solidFill>
              <a:latin typeface="Times New Roman"/>
            </a:endParaRPr>
          </a:p>
        </p:txBody>
      </p:sp>
      <p:sp>
        <p:nvSpPr>
          <p:cNvPr id="578" name=""/>
          <p:cNvSpPr txBox="1"/>
          <p:nvPr/>
        </p:nvSpPr>
        <p:spPr>
          <a:xfrm>
            <a:off x="4024800" y="336060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動作計画</a:t>
            </a:r>
            <a:endParaRPr b="0" lang="en-US" sz="1740" spc="-1" strike="noStrike">
              <a:solidFill>
                <a:srgbClr val="000000"/>
              </a:solidFill>
              <a:latin typeface="Times New Roman"/>
            </a:endParaRPr>
          </a:p>
        </p:txBody>
      </p:sp>
      <p:sp>
        <p:nvSpPr>
          <p:cNvPr id="579" name=""/>
          <p:cNvSpPr/>
          <p:nvPr/>
        </p:nvSpPr>
        <p:spPr>
          <a:xfrm>
            <a:off x="1523880" y="3809880"/>
            <a:ext cx="76320" cy="76320"/>
          </a:xfrm>
          <a:custGeom>
            <a:avLst/>
            <a:gdLst/>
            <a:ahLst/>
            <a:rect l="0" t="0" r="r" b="b"/>
            <a:pathLst>
              <a:path w="212" h="212">
                <a:moveTo>
                  <a:pt x="212" y="107"/>
                </a:moveTo>
                <a:cubicBezTo>
                  <a:pt x="212" y="121"/>
                  <a:pt x="210" y="134"/>
                  <a:pt x="204" y="147"/>
                </a:cubicBezTo>
                <a:cubicBezTo>
                  <a:pt x="199" y="160"/>
                  <a:pt x="191" y="172"/>
                  <a:pt x="182" y="182"/>
                </a:cubicBezTo>
                <a:cubicBezTo>
                  <a:pt x="172" y="191"/>
                  <a:pt x="160" y="199"/>
                  <a:pt x="147" y="204"/>
                </a:cubicBezTo>
                <a:cubicBezTo>
                  <a:pt x="134" y="210"/>
                  <a:pt x="121" y="212"/>
                  <a:pt x="107"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5"/>
                </a:cubicBezTo>
                <a:cubicBezTo>
                  <a:pt x="13" y="52"/>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2"/>
                  <a:pt x="204" y="65"/>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580" name=""/>
          <p:cNvSpPr txBox="1"/>
          <p:nvPr/>
        </p:nvSpPr>
        <p:spPr>
          <a:xfrm>
            <a:off x="4908240" y="3354840"/>
            <a:ext cx="26388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by Isaac ROS cuMotion</a:t>
            </a:r>
            <a:endParaRPr b="0" lang="en-US" sz="1740" spc="-1" strike="noStrike">
              <a:solidFill>
                <a:srgbClr val="000000"/>
              </a:solidFill>
              <a:latin typeface="Times New Roman"/>
            </a:endParaRPr>
          </a:p>
        </p:txBody>
      </p:sp>
      <p:sp>
        <p:nvSpPr>
          <p:cNvPr id="581" name=""/>
          <p:cNvSpPr txBox="1"/>
          <p:nvPr/>
        </p:nvSpPr>
        <p:spPr>
          <a:xfrm>
            <a:off x="1742040" y="3688200"/>
            <a:ext cx="23126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Motion Gen: </a:t>
            </a:r>
            <a:r>
              <a:rPr b="0" lang="en-US" sz="1740" spc="-1" strike="noStrike">
                <a:solidFill>
                  <a:srgbClr val="1f2328"/>
                </a:solidFill>
                <a:latin typeface="NotoSans"/>
                <a:ea typeface="NotoSans"/>
              </a:rPr>
              <a:t>MoveIt 2</a:t>
            </a:r>
            <a:endParaRPr b="0" lang="en-US" sz="1740" spc="-1" strike="noStrike">
              <a:solidFill>
                <a:srgbClr val="000000"/>
              </a:solidFill>
              <a:latin typeface="Times New Roman"/>
            </a:endParaRPr>
          </a:p>
        </p:txBody>
      </p:sp>
      <p:sp>
        <p:nvSpPr>
          <p:cNvPr id="582" name=""/>
          <p:cNvSpPr/>
          <p:nvPr/>
        </p:nvSpPr>
        <p:spPr>
          <a:xfrm>
            <a:off x="1523880" y="4190760"/>
            <a:ext cx="76320" cy="76680"/>
          </a:xfrm>
          <a:custGeom>
            <a:avLst/>
            <a:gdLst/>
            <a:ahLst/>
            <a:rect l="0" t="0" r="r" b="b"/>
            <a:pathLst>
              <a:path w="212" h="213">
                <a:moveTo>
                  <a:pt x="212" y="107"/>
                </a:moveTo>
                <a:cubicBezTo>
                  <a:pt x="212" y="121"/>
                  <a:pt x="210" y="135"/>
                  <a:pt x="204" y="147"/>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7"/>
                </a:cubicBezTo>
                <a:cubicBezTo>
                  <a:pt x="3" y="135"/>
                  <a:pt x="0" y="121"/>
                  <a:pt x="0" y="107"/>
                </a:cubicBezTo>
                <a:cubicBezTo>
                  <a:pt x="0" y="93"/>
                  <a:pt x="3" y="79"/>
                  <a:pt x="8" y="65"/>
                </a:cubicBezTo>
                <a:cubicBezTo>
                  <a:pt x="13" y="53"/>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3"/>
                  <a:pt x="204" y="65"/>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583" name=""/>
          <p:cNvSpPr txBox="1"/>
          <p:nvPr/>
        </p:nvSpPr>
        <p:spPr>
          <a:xfrm>
            <a:off x="4024800" y="3693960"/>
            <a:ext cx="5525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と統合し、障害物回避軌道をミリ秒単位で超高速計算。</a:t>
            </a:r>
            <a:endParaRPr b="0" lang="en-US" sz="1740" spc="-1" strike="noStrike">
              <a:solidFill>
                <a:srgbClr val="000000"/>
              </a:solidFill>
              <a:latin typeface="Times New Roman"/>
            </a:endParaRPr>
          </a:p>
        </p:txBody>
      </p:sp>
      <p:sp>
        <p:nvSpPr>
          <p:cNvPr id="584" name=""/>
          <p:cNvSpPr txBox="1"/>
          <p:nvPr/>
        </p:nvSpPr>
        <p:spPr>
          <a:xfrm>
            <a:off x="1742040" y="4069080"/>
            <a:ext cx="15325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Self-Filtering: </a:t>
            </a:r>
            <a:endParaRPr b="0" lang="en-US" sz="1740" spc="-1" strike="noStrike">
              <a:solidFill>
                <a:srgbClr val="000000"/>
              </a:solidFill>
              <a:latin typeface="Times New Roman"/>
            </a:endParaRPr>
          </a:p>
        </p:txBody>
      </p:sp>
      <p:sp>
        <p:nvSpPr>
          <p:cNvPr id="585" name=""/>
          <p:cNvSpPr txBox="1"/>
          <p:nvPr/>
        </p:nvSpPr>
        <p:spPr>
          <a:xfrm>
            <a:off x="3231360" y="4074840"/>
            <a:ext cx="79560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カメラ映像から「ロボット自身の写り込み」を除去し、クリーンな環境地図を構</a:t>
            </a:r>
            <a:endParaRPr b="0" lang="en-US" sz="1740" spc="-1" strike="noStrike">
              <a:solidFill>
                <a:srgbClr val="000000"/>
              </a:solidFill>
              <a:latin typeface="Times New Roman"/>
            </a:endParaRPr>
          </a:p>
        </p:txBody>
      </p:sp>
      <p:sp>
        <p:nvSpPr>
          <p:cNvPr id="586" name=""/>
          <p:cNvSpPr/>
          <p:nvPr/>
        </p:nvSpPr>
        <p:spPr>
          <a:xfrm>
            <a:off x="1085760" y="4914720"/>
            <a:ext cx="76320" cy="76680"/>
          </a:xfrm>
          <a:custGeom>
            <a:avLst/>
            <a:gdLst/>
            <a:ahLst/>
            <a:rect l="0" t="0" r="r" b="b"/>
            <a:pathLst>
              <a:path w="212" h="213">
                <a:moveTo>
                  <a:pt x="212" y="106"/>
                </a:moveTo>
                <a:cubicBezTo>
                  <a:pt x="212" y="120"/>
                  <a:pt x="210" y="133"/>
                  <a:pt x="204" y="146"/>
                </a:cubicBezTo>
                <a:cubicBezTo>
                  <a:pt x="199" y="159"/>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59"/>
                  <a:pt x="8" y="146"/>
                </a:cubicBezTo>
                <a:cubicBezTo>
                  <a:pt x="2" y="133"/>
                  <a:pt x="0" y="120"/>
                  <a:pt x="0" y="106"/>
                </a:cubicBezTo>
                <a:cubicBezTo>
                  <a:pt x="0" y="92"/>
                  <a:pt x="2" y="78"/>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87" name=""/>
          <p:cNvSpPr txBox="1"/>
          <p:nvPr/>
        </p:nvSpPr>
        <p:spPr>
          <a:xfrm>
            <a:off x="1742040" y="440820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築。</a:t>
            </a:r>
            <a:endParaRPr b="0" lang="en-US" sz="1740" spc="-1" strike="noStrike">
              <a:solidFill>
                <a:srgbClr val="000000"/>
              </a:solidFill>
              <a:latin typeface="Times New Roman"/>
            </a:endParaRPr>
          </a:p>
        </p:txBody>
      </p:sp>
      <p:sp>
        <p:nvSpPr>
          <p:cNvPr id="588" name=""/>
          <p:cNvSpPr txBox="1"/>
          <p:nvPr/>
        </p:nvSpPr>
        <p:spPr>
          <a:xfrm>
            <a:off x="1300320" y="4793040"/>
            <a:ext cx="17715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STEP 3: Control (</a:t>
            </a:r>
            <a:endParaRPr b="0" lang="en-US" sz="1740" spc="-1" strike="noStrike">
              <a:solidFill>
                <a:srgbClr val="000000"/>
              </a:solidFill>
              <a:latin typeface="Times New Roman"/>
            </a:endParaRPr>
          </a:p>
        </p:txBody>
      </p:sp>
      <p:sp>
        <p:nvSpPr>
          <p:cNvPr id="589" name=""/>
          <p:cNvSpPr txBox="1"/>
          <p:nvPr/>
        </p:nvSpPr>
        <p:spPr>
          <a:xfrm>
            <a:off x="3038040" y="479880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実行</a:t>
            </a:r>
            <a:endParaRPr b="0" lang="en-US" sz="1740" spc="-1" strike="noStrike">
              <a:solidFill>
                <a:srgbClr val="000000"/>
              </a:solidFill>
              <a:latin typeface="Times New Roman"/>
            </a:endParaRPr>
          </a:p>
        </p:txBody>
      </p:sp>
      <p:sp>
        <p:nvSpPr>
          <p:cNvPr id="590" name=""/>
          <p:cNvSpPr/>
          <p:nvPr/>
        </p:nvSpPr>
        <p:spPr>
          <a:xfrm>
            <a:off x="1523880" y="5248080"/>
            <a:ext cx="76320" cy="76680"/>
          </a:xfrm>
          <a:custGeom>
            <a:avLst/>
            <a:gdLst/>
            <a:ahLst/>
            <a:rect l="0" t="0" r="r" b="b"/>
            <a:pathLst>
              <a:path w="212" h="213">
                <a:moveTo>
                  <a:pt x="212" y="107"/>
                </a:moveTo>
                <a:cubicBezTo>
                  <a:pt x="212" y="121"/>
                  <a:pt x="210" y="134"/>
                  <a:pt x="204" y="147"/>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2"/>
                  <a:pt x="204" y="65"/>
                </a:cubicBezTo>
                <a:cubicBezTo>
                  <a:pt x="210" y="78"/>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591" name=""/>
          <p:cNvSpPr txBox="1"/>
          <p:nvPr/>
        </p:nvSpPr>
        <p:spPr>
          <a:xfrm>
            <a:off x="3479760" y="479304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a:t>
            </a:r>
            <a:endParaRPr b="0" lang="en-US" sz="1740" spc="-1" strike="noStrike">
              <a:solidFill>
                <a:srgbClr val="000000"/>
              </a:solidFill>
              <a:latin typeface="Times New Roman"/>
            </a:endParaRPr>
          </a:p>
        </p:txBody>
      </p:sp>
      <p:sp>
        <p:nvSpPr>
          <p:cNvPr id="592" name=""/>
          <p:cNvSpPr txBox="1"/>
          <p:nvPr/>
        </p:nvSpPr>
        <p:spPr>
          <a:xfrm>
            <a:off x="1742040" y="513216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生成軌道を</a:t>
            </a:r>
            <a:endParaRPr b="0" lang="en-US" sz="1740" spc="-1" strike="noStrike">
              <a:solidFill>
                <a:srgbClr val="000000"/>
              </a:solidFill>
              <a:latin typeface="Times New Roman"/>
            </a:endParaRPr>
          </a:p>
        </p:txBody>
      </p:sp>
      <p:sp>
        <p:nvSpPr>
          <p:cNvPr id="593" name=""/>
          <p:cNvSpPr txBox="1"/>
          <p:nvPr/>
        </p:nvSpPr>
        <p:spPr>
          <a:xfrm>
            <a:off x="2846160" y="5126400"/>
            <a:ext cx="6148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 2</a:t>
            </a:r>
            <a:endParaRPr b="0" lang="en-US" sz="1740" spc="-1" strike="noStrike">
              <a:solidFill>
                <a:srgbClr val="000000"/>
              </a:solidFill>
              <a:latin typeface="Times New Roman"/>
            </a:endParaRPr>
          </a:p>
        </p:txBody>
      </p:sp>
      <p:sp>
        <p:nvSpPr>
          <p:cNvPr id="594" name=""/>
          <p:cNvSpPr txBox="1"/>
          <p:nvPr/>
        </p:nvSpPr>
        <p:spPr>
          <a:xfrm>
            <a:off x="3461040" y="5132160"/>
            <a:ext cx="4199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ドライバ経由で実機コントローラへ送信。</a:t>
            </a:r>
            <a:endParaRPr b="0" lang="en-US" sz="1740" spc="-1" strike="noStrike">
              <a:solidFill>
                <a:srgbClr val="000000"/>
              </a:solidFill>
              <a:latin typeface="Times New Roman"/>
            </a:endParaRPr>
          </a:p>
        </p:txBody>
      </p:sp>
      <p:sp>
        <p:nvSpPr>
          <p:cNvPr id="595"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596"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597"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20</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9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0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01" name=""/>
          <p:cNvSpPr txBox="1"/>
          <p:nvPr/>
        </p:nvSpPr>
        <p:spPr>
          <a:xfrm>
            <a:off x="747720" y="1054800"/>
            <a:ext cx="121392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【補足】</a:t>
            </a:r>
            <a:endParaRPr b="0" lang="en-US" sz="2390" spc="-1" strike="noStrike">
              <a:solidFill>
                <a:srgbClr val="000000"/>
              </a:solidFill>
              <a:latin typeface="Times New Roman"/>
            </a:endParaRPr>
          </a:p>
        </p:txBody>
      </p:sp>
      <p:sp>
        <p:nvSpPr>
          <p:cNvPr id="602" name=""/>
          <p:cNvSpPr txBox="1"/>
          <p:nvPr/>
        </p:nvSpPr>
        <p:spPr>
          <a:xfrm>
            <a:off x="1962720" y="1046880"/>
            <a:ext cx="297252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isaac ROS cuMotion</a:t>
            </a:r>
            <a:endParaRPr b="0" lang="en-US" sz="2390" spc="-1" strike="noStrike">
              <a:solidFill>
                <a:srgbClr val="000000"/>
              </a:solidFill>
              <a:latin typeface="Times New Roman"/>
            </a:endParaRPr>
          </a:p>
        </p:txBody>
      </p:sp>
      <p:sp>
        <p:nvSpPr>
          <p:cNvPr id="603" name=""/>
          <p:cNvSpPr txBox="1"/>
          <p:nvPr/>
        </p:nvSpPr>
        <p:spPr>
          <a:xfrm>
            <a:off x="747720" y="1611720"/>
            <a:ext cx="2064240" cy="300600"/>
          </a:xfrm>
          <a:prstGeom prst="rect">
            <a:avLst/>
          </a:prstGeom>
          <a:noFill/>
          <a:ln w="0">
            <a:noFill/>
          </a:ln>
        </p:spPr>
        <p:txBody>
          <a:bodyPr wrap="none" lIns="0" rIns="0" tIns="0" bIns="0" anchor="t">
            <a:noAutofit/>
          </a:bodyPr>
          <a:p>
            <a:r>
              <a:rPr b="0" lang="en-US" sz="1740" spc="-1" strike="noStrike">
                <a:solidFill>
                  <a:srgbClr val="0041c6"/>
                </a:solidFill>
                <a:latin typeface="NotoSans"/>
                <a:ea typeface="NotoSans"/>
              </a:rPr>
              <a:t>Isaac ROS cuMotion</a:t>
            </a:r>
            <a:endParaRPr b="0" lang="en-US" sz="1740" spc="-1" strike="noStrike">
              <a:solidFill>
                <a:srgbClr val="000000"/>
              </a:solidFill>
              <a:latin typeface="Times New Roman"/>
            </a:endParaRPr>
          </a:p>
        </p:txBody>
      </p:sp>
      <p:sp>
        <p:nvSpPr>
          <p:cNvPr id="604" name=""/>
          <p:cNvSpPr txBox="1"/>
          <p:nvPr/>
        </p:nvSpPr>
        <p:spPr>
          <a:xfrm>
            <a:off x="2811600" y="161748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は、</a:t>
            </a:r>
            <a:endParaRPr b="0" lang="en-US" sz="1740" spc="-1" strike="noStrike">
              <a:solidFill>
                <a:srgbClr val="000000"/>
              </a:solidFill>
              <a:latin typeface="Times New Roman"/>
            </a:endParaRPr>
          </a:p>
        </p:txBody>
      </p:sp>
      <p:sp>
        <p:nvSpPr>
          <p:cNvPr id="605" name=""/>
          <p:cNvSpPr txBox="1"/>
          <p:nvPr/>
        </p:nvSpPr>
        <p:spPr>
          <a:xfrm>
            <a:off x="3253320" y="1611720"/>
            <a:ext cx="6148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 2</a:t>
            </a:r>
            <a:endParaRPr b="0" lang="en-US" sz="1740" spc="-1" strike="noStrike">
              <a:solidFill>
                <a:srgbClr val="000000"/>
              </a:solidFill>
              <a:latin typeface="Times New Roman"/>
            </a:endParaRPr>
          </a:p>
        </p:txBody>
      </p:sp>
      <p:sp>
        <p:nvSpPr>
          <p:cNvPr id="606" name=""/>
          <p:cNvSpPr txBox="1"/>
          <p:nvPr/>
        </p:nvSpPr>
        <p:spPr>
          <a:xfrm>
            <a:off x="3868200" y="161748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向けに</a:t>
            </a:r>
            <a:endParaRPr b="0" lang="en-US" sz="1740" spc="-1" strike="noStrike">
              <a:solidFill>
                <a:srgbClr val="000000"/>
              </a:solidFill>
              <a:latin typeface="Times New Roman"/>
            </a:endParaRPr>
          </a:p>
        </p:txBody>
      </p:sp>
      <p:sp>
        <p:nvSpPr>
          <p:cNvPr id="607" name=""/>
          <p:cNvSpPr txBox="1"/>
          <p:nvPr/>
        </p:nvSpPr>
        <p:spPr>
          <a:xfrm>
            <a:off x="747720" y="1945080"/>
            <a:ext cx="11923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GPU(CUDA)</a:t>
            </a:r>
            <a:endParaRPr b="0" lang="en-US" sz="1740" spc="-1" strike="noStrike">
              <a:solidFill>
                <a:srgbClr val="000000"/>
              </a:solidFill>
              <a:latin typeface="Times New Roman"/>
            </a:endParaRPr>
          </a:p>
        </p:txBody>
      </p:sp>
      <p:sp>
        <p:nvSpPr>
          <p:cNvPr id="608" name=""/>
          <p:cNvSpPr txBox="1"/>
          <p:nvPr/>
        </p:nvSpPr>
        <p:spPr>
          <a:xfrm>
            <a:off x="1935000" y="195084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で最適化された</a:t>
            </a:r>
            <a:endParaRPr b="0" lang="en-US" sz="1740" spc="-1" strike="noStrike">
              <a:solidFill>
                <a:srgbClr val="000000"/>
              </a:solidFill>
              <a:latin typeface="Times New Roman"/>
            </a:endParaRPr>
          </a:p>
        </p:txBody>
      </p:sp>
      <p:sp>
        <p:nvSpPr>
          <p:cNvPr id="609" name=""/>
          <p:cNvSpPr txBox="1"/>
          <p:nvPr/>
        </p:nvSpPr>
        <p:spPr>
          <a:xfrm>
            <a:off x="3481200" y="194508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2</a:t>
            </a:r>
            <a:endParaRPr b="0" lang="en-US" sz="1740" spc="-1" strike="noStrike">
              <a:solidFill>
                <a:srgbClr val="000000"/>
              </a:solidFill>
              <a:latin typeface="Times New Roman"/>
            </a:endParaRPr>
          </a:p>
        </p:txBody>
      </p:sp>
      <p:sp>
        <p:nvSpPr>
          <p:cNvPr id="610" name=""/>
          <p:cNvSpPr txBox="1"/>
          <p:nvPr/>
        </p:nvSpPr>
        <p:spPr>
          <a:xfrm>
            <a:off x="3607560" y="195084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つの主要機能を</a:t>
            </a:r>
            <a:endParaRPr b="0" lang="en-US" sz="1740" spc="-1" strike="noStrike">
              <a:solidFill>
                <a:srgbClr val="000000"/>
              </a:solidFill>
              <a:latin typeface="Times New Roman"/>
            </a:endParaRPr>
          </a:p>
        </p:txBody>
      </p:sp>
      <p:sp>
        <p:nvSpPr>
          <p:cNvPr id="611" name=""/>
          <p:cNvSpPr/>
          <p:nvPr/>
        </p:nvSpPr>
        <p:spPr>
          <a:xfrm>
            <a:off x="1085760" y="2885760"/>
            <a:ext cx="76320" cy="76680"/>
          </a:xfrm>
          <a:custGeom>
            <a:avLst/>
            <a:gdLst/>
            <a:ahLst/>
            <a:rect l="0" t="0" r="r" b="b"/>
            <a:pathLst>
              <a:path w="212" h="213">
                <a:moveTo>
                  <a:pt x="212" y="106"/>
                </a:moveTo>
                <a:cubicBezTo>
                  <a:pt x="212" y="121"/>
                  <a:pt x="210" y="135"/>
                  <a:pt x="204" y="148"/>
                </a:cubicBezTo>
                <a:cubicBezTo>
                  <a:pt x="199" y="161"/>
                  <a:pt x="191" y="172"/>
                  <a:pt x="181" y="182"/>
                </a:cubicBezTo>
                <a:cubicBezTo>
                  <a:pt x="171" y="192"/>
                  <a:pt x="160" y="200"/>
                  <a:pt x="147" y="205"/>
                </a:cubicBezTo>
                <a:cubicBezTo>
                  <a:pt x="134" y="210"/>
                  <a:pt x="121" y="213"/>
                  <a:pt x="107" y="213"/>
                </a:cubicBezTo>
                <a:cubicBezTo>
                  <a:pt x="93" y="213"/>
                  <a:pt x="79" y="210"/>
                  <a:pt x="66" y="205"/>
                </a:cubicBezTo>
                <a:cubicBezTo>
                  <a:pt x="53" y="200"/>
                  <a:pt x="41" y="192"/>
                  <a:pt x="31" y="182"/>
                </a:cubicBezTo>
                <a:cubicBezTo>
                  <a:pt x="21" y="172"/>
                  <a:pt x="13" y="161"/>
                  <a:pt x="8" y="148"/>
                </a:cubicBezTo>
                <a:cubicBezTo>
                  <a:pt x="2" y="135"/>
                  <a:pt x="0" y="121"/>
                  <a:pt x="0" y="106"/>
                </a:cubicBezTo>
                <a:cubicBezTo>
                  <a:pt x="0" y="92"/>
                  <a:pt x="2" y="79"/>
                  <a:pt x="8" y="66"/>
                </a:cubicBezTo>
                <a:cubicBezTo>
                  <a:pt x="13" y="53"/>
                  <a:pt x="21" y="41"/>
                  <a:pt x="31" y="31"/>
                </a:cubicBezTo>
                <a:cubicBezTo>
                  <a:pt x="41" y="21"/>
                  <a:pt x="53" y="14"/>
                  <a:pt x="66" y="8"/>
                </a:cubicBezTo>
                <a:cubicBezTo>
                  <a:pt x="79" y="3"/>
                  <a:pt x="93" y="0"/>
                  <a:pt x="107" y="0"/>
                </a:cubicBezTo>
                <a:cubicBezTo>
                  <a:pt x="121" y="0"/>
                  <a:pt x="134" y="3"/>
                  <a:pt x="147" y="8"/>
                </a:cubicBezTo>
                <a:cubicBezTo>
                  <a:pt x="160" y="14"/>
                  <a:pt x="171" y="21"/>
                  <a:pt x="181" y="31"/>
                </a:cubicBezTo>
                <a:cubicBezTo>
                  <a:pt x="191" y="41"/>
                  <a:pt x="199" y="53"/>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612" name=""/>
          <p:cNvSpPr txBox="1"/>
          <p:nvPr/>
        </p:nvSpPr>
        <p:spPr>
          <a:xfrm>
            <a:off x="747720" y="228420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提供します。</a:t>
            </a:r>
            <a:endParaRPr b="0" lang="en-US" sz="1740" spc="-1" strike="noStrike">
              <a:solidFill>
                <a:srgbClr val="000000"/>
              </a:solidFill>
              <a:latin typeface="Times New Roman"/>
            </a:endParaRPr>
          </a:p>
        </p:txBody>
      </p:sp>
      <p:sp>
        <p:nvSpPr>
          <p:cNvPr id="613" name=""/>
          <p:cNvSpPr txBox="1"/>
          <p:nvPr/>
        </p:nvSpPr>
        <p:spPr>
          <a:xfrm>
            <a:off x="1300320" y="276984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高速な動作計画</a:t>
            </a:r>
            <a:endParaRPr b="0" lang="en-US" sz="1740" spc="-1" strike="noStrike">
              <a:solidFill>
                <a:srgbClr val="000000"/>
              </a:solidFill>
              <a:latin typeface="Times New Roman"/>
            </a:endParaRPr>
          </a:p>
        </p:txBody>
      </p:sp>
      <p:sp>
        <p:nvSpPr>
          <p:cNvPr id="614" name=""/>
          <p:cNvSpPr/>
          <p:nvPr/>
        </p:nvSpPr>
        <p:spPr>
          <a:xfrm>
            <a:off x="1523880" y="3209760"/>
            <a:ext cx="76320" cy="76680"/>
          </a:xfrm>
          <a:custGeom>
            <a:avLst/>
            <a:gdLst/>
            <a:ahLst/>
            <a:rect l="0" t="0" r="r" b="b"/>
            <a:pathLst>
              <a:path w="212" h="213">
                <a:moveTo>
                  <a:pt x="212" y="107"/>
                </a:moveTo>
                <a:cubicBezTo>
                  <a:pt x="212" y="121"/>
                  <a:pt x="210" y="134"/>
                  <a:pt x="204" y="147"/>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3"/>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3"/>
                  <a:pt x="204" y="66"/>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615" name=""/>
          <p:cNvSpPr txBox="1"/>
          <p:nvPr/>
        </p:nvSpPr>
        <p:spPr>
          <a:xfrm>
            <a:off x="2846160" y="2764080"/>
            <a:ext cx="22150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(Motion Generation):</a:t>
            </a:r>
            <a:endParaRPr b="0" lang="en-US" sz="1740" spc="-1" strike="noStrike">
              <a:solidFill>
                <a:srgbClr val="000000"/>
              </a:solidFill>
              <a:latin typeface="Times New Roman"/>
            </a:endParaRPr>
          </a:p>
        </p:txBody>
      </p:sp>
      <p:sp>
        <p:nvSpPr>
          <p:cNvPr id="616" name=""/>
          <p:cNvSpPr txBox="1"/>
          <p:nvPr/>
        </p:nvSpPr>
        <p:spPr>
          <a:xfrm>
            <a:off x="1742040" y="3088080"/>
            <a:ext cx="909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MoveIt 2</a:t>
            </a:r>
            <a:endParaRPr b="0" lang="en-US" sz="1740" spc="-1" strike="noStrike">
              <a:solidFill>
                <a:srgbClr val="000000"/>
              </a:solidFill>
              <a:latin typeface="Times New Roman"/>
            </a:endParaRPr>
          </a:p>
        </p:txBody>
      </p:sp>
      <p:sp>
        <p:nvSpPr>
          <p:cNvPr id="617" name=""/>
          <p:cNvSpPr txBox="1"/>
          <p:nvPr/>
        </p:nvSpPr>
        <p:spPr>
          <a:xfrm>
            <a:off x="2646720" y="309384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と統合し、障害物回避を含</a:t>
            </a:r>
            <a:endParaRPr b="0" lang="en-US" sz="1740" spc="-1" strike="noStrike">
              <a:solidFill>
                <a:srgbClr val="000000"/>
              </a:solidFill>
              <a:latin typeface="Times New Roman"/>
            </a:endParaRPr>
          </a:p>
        </p:txBody>
      </p:sp>
      <p:sp>
        <p:nvSpPr>
          <p:cNvPr id="618" name=""/>
          <p:cNvSpPr txBox="1"/>
          <p:nvPr/>
        </p:nvSpPr>
        <p:spPr>
          <a:xfrm>
            <a:off x="1742040" y="342720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めたアームの軌道をミリ秒単位で超</a:t>
            </a:r>
            <a:endParaRPr b="0" lang="en-US" sz="1740" spc="-1" strike="noStrike">
              <a:solidFill>
                <a:srgbClr val="000000"/>
              </a:solidFill>
              <a:latin typeface="Times New Roman"/>
            </a:endParaRPr>
          </a:p>
        </p:txBody>
      </p:sp>
      <p:sp>
        <p:nvSpPr>
          <p:cNvPr id="619" name=""/>
          <p:cNvSpPr/>
          <p:nvPr/>
        </p:nvSpPr>
        <p:spPr>
          <a:xfrm>
            <a:off x="1085760" y="4267080"/>
            <a:ext cx="76320" cy="76320"/>
          </a:xfrm>
          <a:custGeom>
            <a:avLst/>
            <a:gdLst/>
            <a:ahLst/>
            <a:rect l="0" t="0" r="r" b="b"/>
            <a:pathLst>
              <a:path w="212" h="212">
                <a:moveTo>
                  <a:pt x="212" y="107"/>
                </a:moveTo>
                <a:cubicBezTo>
                  <a:pt x="212" y="121"/>
                  <a:pt x="210" y="134"/>
                  <a:pt x="204" y="147"/>
                </a:cubicBezTo>
                <a:cubicBezTo>
                  <a:pt x="199" y="160"/>
                  <a:pt x="191" y="172"/>
                  <a:pt x="181" y="182"/>
                </a:cubicBezTo>
                <a:cubicBezTo>
                  <a:pt x="171" y="191"/>
                  <a:pt x="160" y="199"/>
                  <a:pt x="147" y="204"/>
                </a:cubicBezTo>
                <a:cubicBezTo>
                  <a:pt x="134" y="210"/>
                  <a:pt x="121" y="212"/>
                  <a:pt x="107" y="212"/>
                </a:cubicBezTo>
                <a:cubicBezTo>
                  <a:pt x="93" y="212"/>
                  <a:pt x="79" y="210"/>
                  <a:pt x="66" y="204"/>
                </a:cubicBezTo>
                <a:cubicBezTo>
                  <a:pt x="53" y="199"/>
                  <a:pt x="41" y="191"/>
                  <a:pt x="31" y="182"/>
                </a:cubicBezTo>
                <a:cubicBezTo>
                  <a:pt x="21" y="172"/>
                  <a:pt x="13" y="160"/>
                  <a:pt x="8" y="147"/>
                </a:cubicBezTo>
                <a:cubicBezTo>
                  <a:pt x="2" y="134"/>
                  <a:pt x="0" y="121"/>
                  <a:pt x="0" y="107"/>
                </a:cubicBezTo>
                <a:cubicBezTo>
                  <a:pt x="0" y="93"/>
                  <a:pt x="2" y="79"/>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9"/>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620" name=""/>
          <p:cNvSpPr txBox="1"/>
          <p:nvPr/>
        </p:nvSpPr>
        <p:spPr>
          <a:xfrm>
            <a:off x="1742040" y="376056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高速に計算します。</a:t>
            </a:r>
            <a:endParaRPr b="0" lang="en-US" sz="1740" spc="-1" strike="noStrike">
              <a:solidFill>
                <a:srgbClr val="000000"/>
              </a:solidFill>
              <a:latin typeface="Times New Roman"/>
            </a:endParaRPr>
          </a:p>
        </p:txBody>
      </p:sp>
      <p:sp>
        <p:nvSpPr>
          <p:cNvPr id="621" name=""/>
          <p:cNvSpPr txBox="1"/>
          <p:nvPr/>
        </p:nvSpPr>
        <p:spPr>
          <a:xfrm>
            <a:off x="1300320" y="415116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自己遮蔽の除去</a:t>
            </a:r>
            <a:endParaRPr b="0" lang="en-US" sz="1740" spc="-1" strike="noStrike">
              <a:solidFill>
                <a:srgbClr val="000000"/>
              </a:solidFill>
              <a:latin typeface="Times New Roman"/>
            </a:endParaRPr>
          </a:p>
        </p:txBody>
      </p:sp>
      <p:sp>
        <p:nvSpPr>
          <p:cNvPr id="622" name=""/>
          <p:cNvSpPr/>
          <p:nvPr/>
        </p:nvSpPr>
        <p:spPr>
          <a:xfrm>
            <a:off x="1523880" y="4590720"/>
            <a:ext cx="76320" cy="76680"/>
          </a:xfrm>
          <a:custGeom>
            <a:avLst/>
            <a:gdLst/>
            <a:ahLst/>
            <a:rect l="0" t="0" r="r" b="b"/>
            <a:pathLst>
              <a:path w="212" h="213">
                <a:moveTo>
                  <a:pt x="212" y="107"/>
                </a:moveTo>
                <a:cubicBezTo>
                  <a:pt x="212" y="121"/>
                  <a:pt x="210" y="135"/>
                  <a:pt x="204" y="148"/>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5"/>
                  <a:pt x="65" y="8"/>
                </a:cubicBezTo>
                <a:cubicBezTo>
                  <a:pt x="78" y="3"/>
                  <a:pt x="92" y="0"/>
                  <a:pt x="107" y="0"/>
                </a:cubicBezTo>
                <a:cubicBezTo>
                  <a:pt x="121" y="0"/>
                  <a:pt x="134" y="3"/>
                  <a:pt x="147" y="8"/>
                </a:cubicBezTo>
                <a:cubicBezTo>
                  <a:pt x="160" y="15"/>
                  <a:pt x="172" y="22"/>
                  <a:pt x="182" y="32"/>
                </a:cubicBezTo>
                <a:cubicBezTo>
                  <a:pt x="191" y="42"/>
                  <a:pt x="199" y="54"/>
                  <a:pt x="204" y="67"/>
                </a:cubicBezTo>
                <a:cubicBezTo>
                  <a:pt x="210" y="80"/>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623" name=""/>
          <p:cNvSpPr txBox="1"/>
          <p:nvPr/>
        </p:nvSpPr>
        <p:spPr>
          <a:xfrm>
            <a:off x="2846160" y="4145400"/>
            <a:ext cx="15523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(Self-Filtering):</a:t>
            </a:r>
            <a:endParaRPr b="0" lang="en-US" sz="1740" spc="-1" strike="noStrike">
              <a:solidFill>
                <a:srgbClr val="000000"/>
              </a:solidFill>
              <a:latin typeface="Times New Roman"/>
            </a:endParaRPr>
          </a:p>
        </p:txBody>
      </p:sp>
      <p:sp>
        <p:nvSpPr>
          <p:cNvPr id="624" name=""/>
          <p:cNvSpPr txBox="1"/>
          <p:nvPr/>
        </p:nvSpPr>
        <p:spPr>
          <a:xfrm>
            <a:off x="1742040" y="447480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カメラの深度映像から「ロボット自</a:t>
            </a:r>
            <a:endParaRPr b="0" lang="en-US" sz="1740" spc="-1" strike="noStrike">
              <a:solidFill>
                <a:srgbClr val="000000"/>
              </a:solidFill>
              <a:latin typeface="Times New Roman"/>
            </a:endParaRPr>
          </a:p>
        </p:txBody>
      </p:sp>
      <p:sp>
        <p:nvSpPr>
          <p:cNvPr id="625" name=""/>
          <p:cNvSpPr txBox="1"/>
          <p:nvPr/>
        </p:nvSpPr>
        <p:spPr>
          <a:xfrm>
            <a:off x="1742040" y="480816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身の写り込み」を正確に識別・除去</a:t>
            </a:r>
            <a:endParaRPr b="0" lang="en-US" sz="1740" spc="-1" strike="noStrike">
              <a:solidFill>
                <a:srgbClr val="000000"/>
              </a:solidFill>
              <a:latin typeface="Times New Roman"/>
            </a:endParaRPr>
          </a:p>
        </p:txBody>
      </p:sp>
      <p:sp>
        <p:nvSpPr>
          <p:cNvPr id="626" name=""/>
          <p:cNvSpPr txBox="1"/>
          <p:nvPr/>
        </p:nvSpPr>
        <p:spPr>
          <a:xfrm>
            <a:off x="1742040" y="514152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し、ノイズのないクリーンな障害物</a:t>
            </a:r>
            <a:endParaRPr b="0" lang="en-US" sz="1740" spc="-1" strike="noStrike">
              <a:solidFill>
                <a:srgbClr val="000000"/>
              </a:solidFill>
              <a:latin typeface="Times New Roman"/>
            </a:endParaRPr>
          </a:p>
        </p:txBody>
      </p:sp>
      <p:sp>
        <p:nvSpPr>
          <p:cNvPr id="627" name=""/>
          <p:cNvSpPr txBox="1"/>
          <p:nvPr/>
        </p:nvSpPr>
        <p:spPr>
          <a:xfrm>
            <a:off x="1742040" y="547488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環境だけを再構築します。</a:t>
            </a:r>
            <a:endParaRPr b="0" lang="en-US" sz="1740" spc="-1" strike="noStrike">
              <a:solidFill>
                <a:srgbClr val="000000"/>
              </a:solidFill>
              <a:latin typeface="Times New Roman"/>
            </a:endParaRPr>
          </a:p>
        </p:txBody>
      </p:sp>
      <p:sp>
        <p:nvSpPr>
          <p:cNvPr id="628" name=""/>
          <p:cNvSpPr txBox="1"/>
          <p:nvPr/>
        </p:nvSpPr>
        <p:spPr>
          <a:xfrm>
            <a:off x="285840" y="207360"/>
            <a:ext cx="54180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a:t>
            </a:r>
            <a:endParaRPr b="0" lang="en-US" sz="1350" spc="-1" strike="noStrike">
              <a:solidFill>
                <a:srgbClr val="000000"/>
              </a:solidFill>
              <a:latin typeface="Times New Roman"/>
            </a:endParaRPr>
          </a:p>
        </p:txBody>
      </p:sp>
      <p:sp>
        <p:nvSpPr>
          <p:cNvPr id="629" name=""/>
          <p:cNvSpPr txBox="1"/>
          <p:nvPr/>
        </p:nvSpPr>
        <p:spPr>
          <a:xfrm>
            <a:off x="285840" y="464400"/>
            <a:ext cx="587592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src="https://cdn.jsdelivr.net/npm/mermaid@latest/dist/mermaid.min.js"&gt;</a:t>
            </a:r>
            <a:endParaRPr b="0" lang="en-US" sz="1350" spc="-1" strike="noStrike">
              <a:solidFill>
                <a:srgbClr val="000000"/>
              </a:solidFill>
              <a:latin typeface="Times New Roman"/>
            </a:endParaRPr>
          </a:p>
        </p:txBody>
      </p:sp>
      <p:sp>
        <p:nvSpPr>
          <p:cNvPr id="630" name=""/>
          <p:cNvSpPr txBox="1"/>
          <p:nvPr/>
        </p:nvSpPr>
        <p:spPr>
          <a:xfrm>
            <a:off x="285840" y="721440"/>
            <a:ext cx="70344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&lt;/script&gt;</a:t>
            </a:r>
            <a:endParaRPr b="0" lang="en-US" sz="1350" spc="-1" strike="noStrike">
              <a:solidFill>
                <a:srgbClr val="000000"/>
              </a:solidFill>
              <a:latin typeface="Times New Roman"/>
            </a:endParaRPr>
          </a:p>
        </p:txBody>
      </p:sp>
      <p:sp>
        <p:nvSpPr>
          <p:cNvPr id="631"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632"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21</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3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36" name=""/>
          <p:cNvSpPr txBox="1"/>
          <p:nvPr/>
        </p:nvSpPr>
        <p:spPr>
          <a:xfrm>
            <a:off x="747720" y="2578680"/>
            <a:ext cx="91044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【図解</a:t>
            </a:r>
            <a:endParaRPr b="0" lang="en-US" sz="2390" spc="-1" strike="noStrike">
              <a:solidFill>
                <a:srgbClr val="000000"/>
              </a:solidFill>
              <a:latin typeface="Times New Roman"/>
            </a:endParaRPr>
          </a:p>
        </p:txBody>
      </p:sp>
      <p:sp>
        <p:nvSpPr>
          <p:cNvPr id="637" name=""/>
          <p:cNvSpPr txBox="1"/>
          <p:nvPr/>
        </p:nvSpPr>
        <p:spPr>
          <a:xfrm>
            <a:off x="1658880" y="2570760"/>
            <a:ext cx="30348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1</a:t>
            </a:r>
            <a:endParaRPr b="0" lang="en-US" sz="2390" spc="-1" strike="noStrike">
              <a:solidFill>
                <a:srgbClr val="000000"/>
              </a:solidFill>
              <a:latin typeface="Times New Roman"/>
            </a:endParaRPr>
          </a:p>
        </p:txBody>
      </p:sp>
      <p:sp>
        <p:nvSpPr>
          <p:cNvPr id="638" name=""/>
          <p:cNvSpPr txBox="1"/>
          <p:nvPr/>
        </p:nvSpPr>
        <p:spPr>
          <a:xfrm>
            <a:off x="1832760" y="2578680"/>
            <a:ext cx="30384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a:t>
            </a:r>
            <a:endParaRPr b="0" lang="en-US" sz="2390" spc="-1" strike="noStrike">
              <a:solidFill>
                <a:srgbClr val="000000"/>
              </a:solidFill>
              <a:latin typeface="Times New Roman"/>
            </a:endParaRPr>
          </a:p>
        </p:txBody>
      </p:sp>
      <p:sp>
        <p:nvSpPr>
          <p:cNvPr id="639" name=""/>
          <p:cNvSpPr txBox="1"/>
          <p:nvPr/>
        </p:nvSpPr>
        <p:spPr>
          <a:xfrm>
            <a:off x="2136600" y="2570760"/>
            <a:ext cx="155664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Isaac ROS </a:t>
            </a:r>
            <a:endParaRPr b="0" lang="en-US" sz="2390" spc="-1" strike="noStrike">
              <a:solidFill>
                <a:srgbClr val="000000"/>
              </a:solidFill>
              <a:latin typeface="Times New Roman"/>
            </a:endParaRPr>
          </a:p>
        </p:txBody>
      </p:sp>
      <p:sp>
        <p:nvSpPr>
          <p:cNvPr id="640" name=""/>
          <p:cNvSpPr txBox="1"/>
          <p:nvPr/>
        </p:nvSpPr>
        <p:spPr>
          <a:xfrm>
            <a:off x="3668400" y="2578680"/>
            <a:ext cx="485316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を用いたシステム構成と動作フロー</a:t>
            </a:r>
            <a:endParaRPr b="0" lang="en-US" sz="2390" spc="-1" strike="noStrike">
              <a:solidFill>
                <a:srgbClr val="000000"/>
              </a:solidFill>
              <a:latin typeface="Times New Roman"/>
            </a:endParaRPr>
          </a:p>
        </p:txBody>
      </p:sp>
      <p:sp>
        <p:nvSpPr>
          <p:cNvPr id="641" name=""/>
          <p:cNvSpPr txBox="1"/>
          <p:nvPr/>
        </p:nvSpPr>
        <p:spPr>
          <a:xfrm>
            <a:off x="747720" y="3141360"/>
            <a:ext cx="68511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実機ロボットにおいて、カメラ映像から経路計画に至るまで、どこに</a:t>
            </a:r>
            <a:endParaRPr b="0" lang="en-US" sz="1740" spc="-1" strike="noStrike">
              <a:solidFill>
                <a:srgbClr val="000000"/>
              </a:solidFill>
              <a:latin typeface="Times New Roman"/>
            </a:endParaRPr>
          </a:p>
        </p:txBody>
      </p:sp>
      <p:sp>
        <p:nvSpPr>
          <p:cNvPr id="642" name=""/>
          <p:cNvSpPr txBox="1"/>
          <p:nvPr/>
        </p:nvSpPr>
        <p:spPr>
          <a:xfrm>
            <a:off x="7594560" y="3135600"/>
            <a:ext cx="10263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NVIDIA AI</a:t>
            </a:r>
            <a:endParaRPr b="0" lang="en-US" sz="1740" spc="-1" strike="noStrike">
              <a:solidFill>
                <a:srgbClr val="000000"/>
              </a:solidFill>
              <a:latin typeface="Times New Roman"/>
            </a:endParaRPr>
          </a:p>
        </p:txBody>
      </p:sp>
      <p:sp>
        <p:nvSpPr>
          <p:cNvPr id="643" name=""/>
          <p:cNvSpPr txBox="1"/>
          <p:nvPr/>
        </p:nvSpPr>
        <p:spPr>
          <a:xfrm>
            <a:off x="8620200" y="314136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a:t>
            </a:r>
            <a:endParaRPr b="0" lang="en-US" sz="1740" spc="-1" strike="noStrike">
              <a:solidFill>
                <a:srgbClr val="000000"/>
              </a:solidFill>
              <a:latin typeface="Times New Roman"/>
            </a:endParaRPr>
          </a:p>
        </p:txBody>
      </p:sp>
      <p:sp>
        <p:nvSpPr>
          <p:cNvPr id="644" name=""/>
          <p:cNvSpPr txBox="1"/>
          <p:nvPr/>
        </p:nvSpPr>
        <p:spPr>
          <a:xfrm>
            <a:off x="8841240" y="3135600"/>
            <a:ext cx="1023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Isaac ROS</a:t>
            </a:r>
            <a:endParaRPr b="0" lang="en-US" sz="1740" spc="-1" strike="noStrike">
              <a:solidFill>
                <a:srgbClr val="000000"/>
              </a:solidFill>
              <a:latin typeface="Times New Roman"/>
            </a:endParaRPr>
          </a:p>
        </p:txBody>
      </p:sp>
      <p:sp>
        <p:nvSpPr>
          <p:cNvPr id="645" name=""/>
          <p:cNvSpPr txBox="1"/>
          <p:nvPr/>
        </p:nvSpPr>
        <p:spPr>
          <a:xfrm>
            <a:off x="9864360" y="314136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）が介在してい</a:t>
            </a:r>
            <a:endParaRPr b="0" lang="en-US" sz="1740" spc="-1" strike="noStrike">
              <a:solidFill>
                <a:srgbClr val="000000"/>
              </a:solidFill>
              <a:latin typeface="Times New Roman"/>
            </a:endParaRPr>
          </a:p>
        </p:txBody>
      </p:sp>
      <p:pic>
        <p:nvPicPr>
          <p:cNvPr id="646" name="" descr=""/>
          <p:cNvPicPr/>
          <p:nvPr/>
        </p:nvPicPr>
        <p:blipFill>
          <a:blip r:embed="rId1"/>
          <a:stretch/>
        </p:blipFill>
        <p:spPr>
          <a:xfrm>
            <a:off x="752400" y="3933720"/>
            <a:ext cx="151920" cy="151920"/>
          </a:xfrm>
          <a:prstGeom prst="rect">
            <a:avLst/>
          </a:prstGeom>
          <a:ln w="0">
            <a:noFill/>
          </a:ln>
        </p:spPr>
      </p:pic>
      <p:sp>
        <p:nvSpPr>
          <p:cNvPr id="647" name=""/>
          <p:cNvSpPr txBox="1"/>
          <p:nvPr/>
        </p:nvSpPr>
        <p:spPr>
          <a:xfrm>
            <a:off x="747720" y="3474720"/>
            <a:ext cx="35362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るかを示すアーキテクチャ図です。</a:t>
            </a:r>
            <a:endParaRPr b="0" lang="en-US" sz="1740" spc="-1" strike="noStrike">
              <a:solidFill>
                <a:srgbClr val="000000"/>
              </a:solidFill>
              <a:latin typeface="Times New Roman"/>
            </a:endParaRPr>
          </a:p>
        </p:txBody>
      </p:sp>
      <p:sp>
        <p:nvSpPr>
          <p:cNvPr id="648" name=""/>
          <p:cNvSpPr txBox="1"/>
          <p:nvPr/>
        </p:nvSpPr>
        <p:spPr>
          <a:xfrm>
            <a:off x="900000" y="3945240"/>
            <a:ext cx="4579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ros2</a:t>
            </a:r>
            <a:endParaRPr b="0" lang="en-US" sz="1740" spc="-1" strike="noStrike">
              <a:solidFill>
                <a:srgbClr val="000000"/>
              </a:solidFill>
              <a:latin typeface="Times New Roman"/>
            </a:endParaRPr>
          </a:p>
        </p:txBody>
      </p:sp>
      <p:sp>
        <p:nvSpPr>
          <p:cNvPr id="649"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650"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651"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22</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5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5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55" name=""/>
          <p:cNvSpPr txBox="1"/>
          <p:nvPr/>
        </p:nvSpPr>
        <p:spPr>
          <a:xfrm>
            <a:off x="747720" y="2988360"/>
            <a:ext cx="91044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【図解</a:t>
            </a:r>
            <a:endParaRPr b="0" lang="en-US" sz="2390" spc="-1" strike="noStrike">
              <a:solidFill>
                <a:srgbClr val="000000"/>
              </a:solidFill>
              <a:latin typeface="Times New Roman"/>
            </a:endParaRPr>
          </a:p>
        </p:txBody>
      </p:sp>
      <p:sp>
        <p:nvSpPr>
          <p:cNvPr id="656" name=""/>
          <p:cNvSpPr txBox="1"/>
          <p:nvPr/>
        </p:nvSpPr>
        <p:spPr>
          <a:xfrm>
            <a:off x="1658880" y="2980440"/>
            <a:ext cx="30348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2</a:t>
            </a:r>
            <a:endParaRPr b="0" lang="en-US" sz="2390" spc="-1" strike="noStrike">
              <a:solidFill>
                <a:srgbClr val="000000"/>
              </a:solidFill>
              <a:latin typeface="Times New Roman"/>
            </a:endParaRPr>
          </a:p>
        </p:txBody>
      </p:sp>
      <p:sp>
        <p:nvSpPr>
          <p:cNvPr id="657" name=""/>
          <p:cNvSpPr txBox="1"/>
          <p:nvPr/>
        </p:nvSpPr>
        <p:spPr>
          <a:xfrm>
            <a:off x="1832760" y="2988360"/>
            <a:ext cx="30384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a:t>
            </a:r>
            <a:endParaRPr b="0" lang="en-US" sz="2390" spc="-1" strike="noStrike">
              <a:solidFill>
                <a:srgbClr val="000000"/>
              </a:solidFill>
              <a:latin typeface="Times New Roman"/>
            </a:endParaRPr>
          </a:p>
        </p:txBody>
      </p:sp>
      <p:sp>
        <p:nvSpPr>
          <p:cNvPr id="658" name=""/>
          <p:cNvSpPr txBox="1"/>
          <p:nvPr/>
        </p:nvSpPr>
        <p:spPr>
          <a:xfrm>
            <a:off x="2136600" y="2980440"/>
            <a:ext cx="57816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VLA</a:t>
            </a:r>
            <a:endParaRPr b="0" lang="en-US" sz="2390" spc="-1" strike="noStrike">
              <a:solidFill>
                <a:srgbClr val="000000"/>
              </a:solidFill>
              <a:latin typeface="Times New Roman"/>
            </a:endParaRPr>
          </a:p>
        </p:txBody>
      </p:sp>
      <p:pic>
        <p:nvPicPr>
          <p:cNvPr id="659" name="" descr=""/>
          <p:cNvPicPr/>
          <p:nvPr/>
        </p:nvPicPr>
        <p:blipFill>
          <a:blip r:embed="rId1"/>
          <a:stretch/>
        </p:blipFill>
        <p:spPr>
          <a:xfrm>
            <a:off x="752400" y="3533760"/>
            <a:ext cx="151920" cy="151920"/>
          </a:xfrm>
          <a:prstGeom prst="rect">
            <a:avLst/>
          </a:prstGeom>
          <a:ln w="0">
            <a:noFill/>
          </a:ln>
        </p:spPr>
      </p:pic>
      <p:sp>
        <p:nvSpPr>
          <p:cNvPr id="660" name=""/>
          <p:cNvSpPr txBox="1"/>
          <p:nvPr/>
        </p:nvSpPr>
        <p:spPr>
          <a:xfrm>
            <a:off x="2698920" y="2988360"/>
            <a:ext cx="515628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モデルの学習を用いたシステム構成図</a:t>
            </a:r>
            <a:endParaRPr b="0" lang="en-US" sz="2390" spc="-1" strike="noStrike">
              <a:solidFill>
                <a:srgbClr val="000000"/>
              </a:solidFill>
              <a:latin typeface="Times New Roman"/>
            </a:endParaRPr>
          </a:p>
        </p:txBody>
      </p:sp>
      <p:sp>
        <p:nvSpPr>
          <p:cNvPr id="661" name=""/>
          <p:cNvSpPr txBox="1"/>
          <p:nvPr/>
        </p:nvSpPr>
        <p:spPr>
          <a:xfrm>
            <a:off x="900000" y="3545280"/>
            <a:ext cx="8632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learning</a:t>
            </a:r>
            <a:endParaRPr b="0" lang="en-US" sz="1740" spc="-1" strike="noStrike">
              <a:solidFill>
                <a:srgbClr val="000000"/>
              </a:solidFill>
              <a:latin typeface="Times New Roman"/>
            </a:endParaRPr>
          </a:p>
        </p:txBody>
      </p:sp>
      <p:sp>
        <p:nvSpPr>
          <p:cNvPr id="662"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663"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664"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23</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6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6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68" name=""/>
          <p:cNvSpPr txBox="1"/>
          <p:nvPr/>
        </p:nvSpPr>
        <p:spPr>
          <a:xfrm>
            <a:off x="747720" y="2988360"/>
            <a:ext cx="91044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【図解</a:t>
            </a:r>
            <a:endParaRPr b="0" lang="en-US" sz="2390" spc="-1" strike="noStrike">
              <a:solidFill>
                <a:srgbClr val="000000"/>
              </a:solidFill>
              <a:latin typeface="Times New Roman"/>
            </a:endParaRPr>
          </a:p>
        </p:txBody>
      </p:sp>
      <p:sp>
        <p:nvSpPr>
          <p:cNvPr id="669" name=""/>
          <p:cNvSpPr txBox="1"/>
          <p:nvPr/>
        </p:nvSpPr>
        <p:spPr>
          <a:xfrm>
            <a:off x="1658880" y="2980440"/>
            <a:ext cx="30348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3</a:t>
            </a:r>
            <a:endParaRPr b="0" lang="en-US" sz="2390" spc="-1" strike="noStrike">
              <a:solidFill>
                <a:srgbClr val="000000"/>
              </a:solidFill>
              <a:latin typeface="Times New Roman"/>
            </a:endParaRPr>
          </a:p>
        </p:txBody>
      </p:sp>
      <p:sp>
        <p:nvSpPr>
          <p:cNvPr id="670" name=""/>
          <p:cNvSpPr txBox="1"/>
          <p:nvPr/>
        </p:nvSpPr>
        <p:spPr>
          <a:xfrm>
            <a:off x="1832760" y="2988360"/>
            <a:ext cx="30384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a:t>
            </a:r>
            <a:endParaRPr b="0" lang="en-US" sz="2390" spc="-1" strike="noStrike">
              <a:solidFill>
                <a:srgbClr val="000000"/>
              </a:solidFill>
              <a:latin typeface="Times New Roman"/>
            </a:endParaRPr>
          </a:p>
        </p:txBody>
      </p:sp>
      <p:sp>
        <p:nvSpPr>
          <p:cNvPr id="671" name=""/>
          <p:cNvSpPr txBox="1"/>
          <p:nvPr/>
        </p:nvSpPr>
        <p:spPr>
          <a:xfrm>
            <a:off x="2136600" y="2980440"/>
            <a:ext cx="168948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Sim to Real</a:t>
            </a:r>
            <a:endParaRPr b="0" lang="en-US" sz="2390" spc="-1" strike="noStrike">
              <a:solidFill>
                <a:srgbClr val="000000"/>
              </a:solidFill>
              <a:latin typeface="Times New Roman"/>
            </a:endParaRPr>
          </a:p>
        </p:txBody>
      </p:sp>
      <p:pic>
        <p:nvPicPr>
          <p:cNvPr id="672" name="" descr=""/>
          <p:cNvPicPr/>
          <p:nvPr/>
        </p:nvPicPr>
        <p:blipFill>
          <a:blip r:embed="rId1"/>
          <a:stretch/>
        </p:blipFill>
        <p:spPr>
          <a:xfrm>
            <a:off x="752400" y="3533760"/>
            <a:ext cx="151920" cy="151920"/>
          </a:xfrm>
          <a:prstGeom prst="rect">
            <a:avLst/>
          </a:prstGeom>
          <a:ln w="0">
            <a:noFill/>
          </a:ln>
        </p:spPr>
      </p:pic>
      <p:sp>
        <p:nvSpPr>
          <p:cNvPr id="673" name=""/>
          <p:cNvSpPr txBox="1"/>
          <p:nvPr/>
        </p:nvSpPr>
        <p:spPr>
          <a:xfrm>
            <a:off x="3789720" y="2988360"/>
            <a:ext cx="455004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でのファインチューニング構成図</a:t>
            </a:r>
            <a:endParaRPr b="0" lang="en-US" sz="2390" spc="-1" strike="noStrike">
              <a:solidFill>
                <a:srgbClr val="000000"/>
              </a:solidFill>
              <a:latin typeface="Times New Roman"/>
            </a:endParaRPr>
          </a:p>
        </p:txBody>
      </p:sp>
      <p:sp>
        <p:nvSpPr>
          <p:cNvPr id="674" name=""/>
          <p:cNvSpPr txBox="1"/>
          <p:nvPr/>
        </p:nvSpPr>
        <p:spPr>
          <a:xfrm>
            <a:off x="900000" y="3545280"/>
            <a:ext cx="546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tunig</a:t>
            </a:r>
            <a:endParaRPr b="0" lang="en-US" sz="1740" spc="-1" strike="noStrike">
              <a:solidFill>
                <a:srgbClr val="000000"/>
              </a:solidFill>
              <a:latin typeface="Times New Roman"/>
            </a:endParaRPr>
          </a:p>
        </p:txBody>
      </p:sp>
      <p:sp>
        <p:nvSpPr>
          <p:cNvPr id="675"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676"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677"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24</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79"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81" name=""/>
          <p:cNvSpPr txBox="1"/>
          <p:nvPr/>
        </p:nvSpPr>
        <p:spPr>
          <a:xfrm>
            <a:off x="747720" y="3130920"/>
            <a:ext cx="72324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4-4. </a:t>
            </a:r>
            <a:endParaRPr b="0" lang="en-US" sz="2830" spc="-1" strike="noStrike">
              <a:solidFill>
                <a:srgbClr val="000000"/>
              </a:solidFill>
              <a:latin typeface="Times New Roman"/>
            </a:endParaRPr>
          </a:p>
        </p:txBody>
      </p:sp>
      <p:sp>
        <p:nvSpPr>
          <p:cNvPr id="682" name=""/>
          <p:cNvSpPr txBox="1"/>
          <p:nvPr/>
        </p:nvSpPr>
        <p:spPr>
          <a:xfrm>
            <a:off x="1467360" y="3140280"/>
            <a:ext cx="539568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産業用ロボットメーカーにおける</a:t>
            </a:r>
            <a:endParaRPr b="0" lang="en-US" sz="2830" spc="-1" strike="noStrike">
              <a:solidFill>
                <a:srgbClr val="000000"/>
              </a:solidFill>
              <a:latin typeface="Times New Roman"/>
            </a:endParaRPr>
          </a:p>
        </p:txBody>
      </p:sp>
      <p:sp>
        <p:nvSpPr>
          <p:cNvPr id="683" name=""/>
          <p:cNvSpPr txBox="1"/>
          <p:nvPr/>
        </p:nvSpPr>
        <p:spPr>
          <a:xfrm>
            <a:off x="6851880" y="3130920"/>
            <a:ext cx="198792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r>
              <a:rPr b="1" lang="en-US" sz="2830" spc="-1" strike="noStrike">
                <a:solidFill>
                  <a:srgbClr val="1f2328"/>
                </a:solidFill>
                <a:latin typeface="NotoSans-Semi"/>
                <a:ea typeface="NotoSans-Semi"/>
              </a:rPr>
              <a:t>NVIDIA AI </a:t>
            </a:r>
            <a:endParaRPr b="0" lang="en-US" sz="2830" spc="-1" strike="noStrike">
              <a:solidFill>
                <a:srgbClr val="000000"/>
              </a:solidFill>
              <a:latin typeface="Times New Roman"/>
            </a:endParaRPr>
          </a:p>
        </p:txBody>
      </p:sp>
      <p:sp>
        <p:nvSpPr>
          <p:cNvPr id="684" name=""/>
          <p:cNvSpPr txBox="1"/>
          <p:nvPr/>
        </p:nvSpPr>
        <p:spPr>
          <a:xfrm>
            <a:off x="8787600" y="3140280"/>
            <a:ext cx="179892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の活用事例</a:t>
            </a:r>
            <a:endParaRPr b="0" lang="en-US" sz="2830" spc="-1" strike="noStrike">
              <a:solidFill>
                <a:srgbClr val="000000"/>
              </a:solidFill>
              <a:latin typeface="Times New Roman"/>
            </a:endParaRPr>
          </a:p>
        </p:txBody>
      </p:sp>
      <p:sp>
        <p:nvSpPr>
          <p:cNvPr id="685"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686"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687"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25</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89"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9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91" name=""/>
          <p:cNvSpPr txBox="1"/>
          <p:nvPr/>
        </p:nvSpPr>
        <p:spPr>
          <a:xfrm>
            <a:off x="747720" y="1456200"/>
            <a:ext cx="33912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1. </a:t>
            </a:r>
            <a:endParaRPr b="0" lang="en-US" sz="2390" spc="-1" strike="noStrike">
              <a:solidFill>
                <a:srgbClr val="000000"/>
              </a:solidFill>
              <a:latin typeface="Times New Roman"/>
            </a:endParaRPr>
          </a:p>
        </p:txBody>
      </p:sp>
      <p:sp>
        <p:nvSpPr>
          <p:cNvPr id="692" name=""/>
          <p:cNvSpPr txBox="1"/>
          <p:nvPr/>
        </p:nvSpPr>
        <p:spPr>
          <a:xfrm>
            <a:off x="1085040" y="1464120"/>
            <a:ext cx="121392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安川電機</a:t>
            </a:r>
            <a:endParaRPr b="0" lang="en-US" sz="2390" spc="-1" strike="noStrike">
              <a:solidFill>
                <a:srgbClr val="000000"/>
              </a:solidFill>
              <a:latin typeface="Times New Roman"/>
            </a:endParaRPr>
          </a:p>
        </p:txBody>
      </p:sp>
      <p:sp>
        <p:nvSpPr>
          <p:cNvPr id="693" name=""/>
          <p:cNvSpPr/>
          <p:nvPr/>
        </p:nvSpPr>
        <p:spPr>
          <a:xfrm>
            <a:off x="1085760" y="2143080"/>
            <a:ext cx="76320" cy="76320"/>
          </a:xfrm>
          <a:custGeom>
            <a:avLst/>
            <a:gdLst/>
            <a:ahLst/>
            <a:rect l="0" t="0" r="r" b="b"/>
            <a:pathLst>
              <a:path w="212" h="212">
                <a:moveTo>
                  <a:pt x="212" y="106"/>
                </a:moveTo>
                <a:cubicBezTo>
                  <a:pt x="212" y="120"/>
                  <a:pt x="210" y="134"/>
                  <a:pt x="204" y="147"/>
                </a:cubicBezTo>
                <a:cubicBezTo>
                  <a:pt x="199" y="160"/>
                  <a:pt x="191" y="171"/>
                  <a:pt x="181" y="181"/>
                </a:cubicBezTo>
                <a:cubicBezTo>
                  <a:pt x="171" y="191"/>
                  <a:pt x="160" y="199"/>
                  <a:pt x="147" y="204"/>
                </a:cubicBezTo>
                <a:cubicBezTo>
                  <a:pt x="134" y="210"/>
                  <a:pt x="121" y="212"/>
                  <a:pt x="107" y="212"/>
                </a:cubicBezTo>
                <a:cubicBezTo>
                  <a:pt x="93" y="212"/>
                  <a:pt x="79" y="210"/>
                  <a:pt x="66" y="204"/>
                </a:cubicBezTo>
                <a:cubicBezTo>
                  <a:pt x="53" y="199"/>
                  <a:pt x="41" y="191"/>
                  <a:pt x="31" y="181"/>
                </a:cubicBezTo>
                <a:cubicBezTo>
                  <a:pt x="21" y="171"/>
                  <a:pt x="13" y="160"/>
                  <a:pt x="8" y="147"/>
                </a:cubicBezTo>
                <a:cubicBezTo>
                  <a:pt x="2" y="134"/>
                  <a:pt x="0" y="120"/>
                  <a:pt x="0" y="106"/>
                </a:cubicBezTo>
                <a:cubicBezTo>
                  <a:pt x="0" y="92"/>
                  <a:pt x="2" y="79"/>
                  <a:pt x="8" y="66"/>
                </a:cubicBezTo>
                <a:cubicBezTo>
                  <a:pt x="13" y="52"/>
                  <a:pt x="21" y="41"/>
                  <a:pt x="31" y="31"/>
                </a:cubicBezTo>
                <a:cubicBezTo>
                  <a:pt x="41" y="21"/>
                  <a:pt x="53" y="13"/>
                  <a:pt x="66" y="8"/>
                </a:cubicBezTo>
                <a:cubicBezTo>
                  <a:pt x="79" y="2"/>
                  <a:pt x="93" y="0"/>
                  <a:pt x="107" y="0"/>
                </a:cubicBezTo>
                <a:cubicBezTo>
                  <a:pt x="121" y="0"/>
                  <a:pt x="134" y="2"/>
                  <a:pt x="147" y="8"/>
                </a:cubicBezTo>
                <a:cubicBezTo>
                  <a:pt x="160" y="13"/>
                  <a:pt x="171" y="21"/>
                  <a:pt x="181" y="31"/>
                </a:cubicBezTo>
                <a:cubicBezTo>
                  <a:pt x="191" y="41"/>
                  <a:pt x="199" y="52"/>
                  <a:pt x="204" y="66"/>
                </a:cubicBezTo>
                <a:cubicBezTo>
                  <a:pt x="210" y="79"/>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694" name=""/>
          <p:cNvSpPr txBox="1"/>
          <p:nvPr/>
        </p:nvSpPr>
        <p:spPr>
          <a:xfrm>
            <a:off x="2300400" y="1456200"/>
            <a:ext cx="176256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 </a:t>
            </a:r>
            <a:r>
              <a:rPr b="1" lang="en-US" sz="2390" spc="-1" strike="noStrike">
                <a:solidFill>
                  <a:srgbClr val="1f2328"/>
                </a:solidFill>
                <a:latin typeface="NotoSans-Semi"/>
                <a:ea typeface="NotoSans-Semi"/>
              </a:rPr>
              <a:t>(YASKAWA)</a:t>
            </a:r>
            <a:endParaRPr b="0" lang="en-US" sz="2390" spc="-1" strike="noStrike">
              <a:solidFill>
                <a:srgbClr val="000000"/>
              </a:solidFill>
              <a:latin typeface="Times New Roman"/>
            </a:endParaRPr>
          </a:p>
        </p:txBody>
      </p:sp>
      <p:sp>
        <p:nvSpPr>
          <p:cNvPr id="695" name=""/>
          <p:cNvSpPr txBox="1"/>
          <p:nvPr/>
        </p:nvSpPr>
        <p:spPr>
          <a:xfrm>
            <a:off x="1300320" y="2021040"/>
            <a:ext cx="19224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MOTOMAN NEXT </a:t>
            </a:r>
            <a:endParaRPr b="0" lang="en-US" sz="1740" spc="-1" strike="noStrike">
              <a:solidFill>
                <a:srgbClr val="000000"/>
              </a:solidFill>
              <a:latin typeface="Times New Roman"/>
            </a:endParaRPr>
          </a:p>
        </p:txBody>
      </p:sp>
      <p:sp>
        <p:nvSpPr>
          <p:cNvPr id="696" name=""/>
          <p:cNvSpPr txBox="1"/>
          <p:nvPr/>
        </p:nvSpPr>
        <p:spPr>
          <a:xfrm>
            <a:off x="3177360" y="202680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の展開</a:t>
            </a:r>
            <a:endParaRPr b="0" lang="en-US" sz="1740" spc="-1" strike="noStrike">
              <a:solidFill>
                <a:srgbClr val="000000"/>
              </a:solidFill>
              <a:latin typeface="Times New Roman"/>
            </a:endParaRPr>
          </a:p>
        </p:txBody>
      </p:sp>
      <p:sp>
        <p:nvSpPr>
          <p:cNvPr id="697" name=""/>
          <p:cNvSpPr txBox="1"/>
          <p:nvPr/>
        </p:nvSpPr>
        <p:spPr>
          <a:xfrm>
            <a:off x="3839760" y="2021040"/>
            <a:ext cx="8737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0" lang="en-US" sz="1740" spc="-1" strike="noStrike">
                <a:solidFill>
                  <a:srgbClr val="1f2328"/>
                </a:solidFill>
                <a:latin typeface="NotoSans"/>
                <a:ea typeface="NotoSans"/>
              </a:rPr>
              <a:t>NVIDIA</a:t>
            </a:r>
            <a:endParaRPr b="0" lang="en-US" sz="1740" spc="-1" strike="noStrike">
              <a:solidFill>
                <a:srgbClr val="000000"/>
              </a:solidFill>
              <a:latin typeface="Times New Roman"/>
            </a:endParaRPr>
          </a:p>
        </p:txBody>
      </p:sp>
      <p:sp>
        <p:nvSpPr>
          <p:cNvPr id="698" name=""/>
          <p:cNvSpPr txBox="1"/>
          <p:nvPr/>
        </p:nvSpPr>
        <p:spPr>
          <a:xfrm>
            <a:off x="1300320" y="2354400"/>
            <a:ext cx="6987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Jetson </a:t>
            </a:r>
            <a:endParaRPr b="0" lang="en-US" sz="1740" spc="-1" strike="noStrike">
              <a:solidFill>
                <a:srgbClr val="000000"/>
              </a:solidFill>
              <a:latin typeface="Times New Roman"/>
            </a:endParaRPr>
          </a:p>
        </p:txBody>
      </p:sp>
      <p:sp>
        <p:nvSpPr>
          <p:cNvPr id="699" name=""/>
          <p:cNvSpPr txBox="1"/>
          <p:nvPr/>
        </p:nvSpPr>
        <p:spPr>
          <a:xfrm>
            <a:off x="1998000" y="236016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プラットフォームと</a:t>
            </a:r>
            <a:endParaRPr b="0" lang="en-US" sz="1740" spc="-1" strike="noStrike">
              <a:solidFill>
                <a:srgbClr val="000000"/>
              </a:solidFill>
              <a:latin typeface="Times New Roman"/>
            </a:endParaRPr>
          </a:p>
        </p:txBody>
      </p:sp>
      <p:sp>
        <p:nvSpPr>
          <p:cNvPr id="700" name=""/>
          <p:cNvSpPr txBox="1"/>
          <p:nvPr/>
        </p:nvSpPr>
        <p:spPr>
          <a:xfrm>
            <a:off x="3985920" y="2354400"/>
            <a:ext cx="5907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Isaac</a:t>
            </a:r>
            <a:endParaRPr b="0" lang="en-US" sz="1740" spc="-1" strike="noStrike">
              <a:solidFill>
                <a:srgbClr val="000000"/>
              </a:solidFill>
              <a:latin typeface="Times New Roman"/>
            </a:endParaRPr>
          </a:p>
        </p:txBody>
      </p:sp>
      <p:sp>
        <p:nvSpPr>
          <p:cNvPr id="701" name=""/>
          <p:cNvSpPr txBox="1"/>
          <p:nvPr/>
        </p:nvSpPr>
        <p:spPr>
          <a:xfrm>
            <a:off x="1300320" y="2688120"/>
            <a:ext cx="3087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Manipulator (FoundationPose</a:t>
            </a:r>
            <a:endParaRPr b="0" lang="en-US" sz="1740" spc="-1" strike="noStrike">
              <a:solidFill>
                <a:srgbClr val="000000"/>
              </a:solidFill>
              <a:latin typeface="Times New Roman"/>
            </a:endParaRPr>
          </a:p>
        </p:txBody>
      </p:sp>
      <p:sp>
        <p:nvSpPr>
          <p:cNvPr id="702" name=""/>
          <p:cNvSpPr txBox="1"/>
          <p:nvPr/>
        </p:nvSpPr>
        <p:spPr>
          <a:xfrm>
            <a:off x="4384800" y="269352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a:t>
            </a:r>
            <a:endParaRPr b="0" lang="en-US" sz="1740" spc="-1" strike="noStrike">
              <a:solidFill>
                <a:srgbClr val="000000"/>
              </a:solidFill>
              <a:latin typeface="Times New Roman"/>
            </a:endParaRPr>
          </a:p>
        </p:txBody>
      </p:sp>
      <p:sp>
        <p:nvSpPr>
          <p:cNvPr id="703" name=""/>
          <p:cNvSpPr txBox="1"/>
          <p:nvPr/>
        </p:nvSpPr>
        <p:spPr>
          <a:xfrm>
            <a:off x="4605480" y="268812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endParaRPr b="0" lang="en-US" sz="1740" spc="-1" strike="noStrike">
              <a:solidFill>
                <a:srgbClr val="000000"/>
              </a:solidFill>
              <a:latin typeface="Times New Roman"/>
            </a:endParaRPr>
          </a:p>
        </p:txBody>
      </p:sp>
      <p:sp>
        <p:nvSpPr>
          <p:cNvPr id="704" name=""/>
          <p:cNvSpPr txBox="1"/>
          <p:nvPr/>
        </p:nvSpPr>
        <p:spPr>
          <a:xfrm>
            <a:off x="4729320" y="269352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を統</a:t>
            </a:r>
            <a:endParaRPr b="0" lang="en-US" sz="1740" spc="-1" strike="noStrike">
              <a:solidFill>
                <a:srgbClr val="000000"/>
              </a:solidFill>
              <a:latin typeface="Times New Roman"/>
            </a:endParaRPr>
          </a:p>
        </p:txBody>
      </p:sp>
      <p:sp>
        <p:nvSpPr>
          <p:cNvPr id="705" name=""/>
          <p:cNvSpPr/>
          <p:nvPr/>
        </p:nvSpPr>
        <p:spPr>
          <a:xfrm>
            <a:off x="1085760" y="3524040"/>
            <a:ext cx="76320" cy="76680"/>
          </a:xfrm>
          <a:custGeom>
            <a:avLst/>
            <a:gdLst/>
            <a:ahLst/>
            <a:rect l="0" t="0" r="r" b="b"/>
            <a:pathLst>
              <a:path w="212" h="213">
                <a:moveTo>
                  <a:pt x="212" y="107"/>
                </a:moveTo>
                <a:cubicBezTo>
                  <a:pt x="212" y="121"/>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1"/>
                  <a:pt x="0" y="107"/>
                </a:cubicBezTo>
                <a:cubicBezTo>
                  <a:pt x="0" y="93"/>
                  <a:pt x="2" y="79"/>
                  <a:pt x="8" y="66"/>
                </a:cubicBezTo>
                <a:cubicBezTo>
                  <a:pt x="13" y="53"/>
                  <a:pt x="21" y="42"/>
                  <a:pt x="31" y="32"/>
                </a:cubicBezTo>
                <a:cubicBezTo>
                  <a:pt x="41" y="21"/>
                  <a:pt x="53" y="14"/>
                  <a:pt x="66" y="8"/>
                </a:cubicBezTo>
                <a:cubicBezTo>
                  <a:pt x="79" y="3"/>
                  <a:pt x="93" y="0"/>
                  <a:pt x="107" y="0"/>
                </a:cubicBezTo>
                <a:cubicBezTo>
                  <a:pt x="121" y="0"/>
                  <a:pt x="134" y="3"/>
                  <a:pt x="147" y="8"/>
                </a:cubicBezTo>
                <a:cubicBezTo>
                  <a:pt x="160" y="14"/>
                  <a:pt x="171" y="21"/>
                  <a:pt x="181" y="32"/>
                </a:cubicBezTo>
                <a:cubicBezTo>
                  <a:pt x="191" y="42"/>
                  <a:pt x="199" y="53"/>
                  <a:pt x="204" y="66"/>
                </a:cubicBezTo>
                <a:cubicBezTo>
                  <a:pt x="210" y="79"/>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06" name=""/>
          <p:cNvSpPr txBox="1"/>
          <p:nvPr/>
        </p:nvSpPr>
        <p:spPr>
          <a:xfrm>
            <a:off x="1300320" y="3017520"/>
            <a:ext cx="3315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合した自律型ロボットを商用化。</a:t>
            </a:r>
            <a:endParaRPr b="0" lang="en-US" sz="1740" spc="-1" strike="noStrike">
              <a:solidFill>
                <a:srgbClr val="000000"/>
              </a:solidFill>
              <a:latin typeface="Times New Roman"/>
            </a:endParaRPr>
          </a:p>
        </p:txBody>
      </p:sp>
      <p:sp>
        <p:nvSpPr>
          <p:cNvPr id="707" name=""/>
          <p:cNvSpPr txBox="1"/>
          <p:nvPr/>
        </p:nvSpPr>
        <p:spPr>
          <a:xfrm>
            <a:off x="1300320" y="340812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未知環境への適応</a:t>
            </a:r>
            <a:endParaRPr b="0" lang="en-US" sz="1740" spc="-1" strike="noStrike">
              <a:solidFill>
                <a:srgbClr val="000000"/>
              </a:solidFill>
              <a:latin typeface="Times New Roman"/>
            </a:endParaRPr>
          </a:p>
        </p:txBody>
      </p:sp>
      <p:sp>
        <p:nvSpPr>
          <p:cNvPr id="708" name=""/>
          <p:cNvSpPr txBox="1"/>
          <p:nvPr/>
        </p:nvSpPr>
        <p:spPr>
          <a:xfrm>
            <a:off x="3067200" y="340236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709" name=""/>
          <p:cNvSpPr txBox="1"/>
          <p:nvPr/>
        </p:nvSpPr>
        <p:spPr>
          <a:xfrm>
            <a:off x="3186360" y="340812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これまで人間レベル</a:t>
            </a:r>
            <a:endParaRPr b="0" lang="en-US" sz="1740" spc="-1" strike="noStrike">
              <a:solidFill>
                <a:srgbClr val="000000"/>
              </a:solidFill>
              <a:latin typeface="Times New Roman"/>
            </a:endParaRPr>
          </a:p>
        </p:txBody>
      </p:sp>
      <p:sp>
        <p:nvSpPr>
          <p:cNvPr id="710" name=""/>
          <p:cNvSpPr txBox="1"/>
          <p:nvPr/>
        </p:nvSpPr>
        <p:spPr>
          <a:xfrm>
            <a:off x="1300320" y="3741480"/>
            <a:ext cx="39783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の認識・判断が必要だった食品、物流、</a:t>
            </a:r>
            <a:endParaRPr b="0" lang="en-US" sz="1740" spc="-1" strike="noStrike">
              <a:solidFill>
                <a:srgbClr val="000000"/>
              </a:solidFill>
              <a:latin typeface="Times New Roman"/>
            </a:endParaRPr>
          </a:p>
        </p:txBody>
      </p:sp>
      <p:sp>
        <p:nvSpPr>
          <p:cNvPr id="711" name=""/>
          <p:cNvSpPr txBox="1"/>
          <p:nvPr/>
        </p:nvSpPr>
        <p:spPr>
          <a:xfrm>
            <a:off x="1300320" y="4074840"/>
            <a:ext cx="39783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農業などの非定型タスク（例：スマート</a:t>
            </a:r>
            <a:endParaRPr b="0" lang="en-US" sz="1740" spc="-1" strike="noStrike">
              <a:solidFill>
                <a:srgbClr val="000000"/>
              </a:solidFill>
              <a:latin typeface="Times New Roman"/>
            </a:endParaRPr>
          </a:p>
        </p:txBody>
      </p:sp>
      <p:sp>
        <p:nvSpPr>
          <p:cNvPr id="712" name=""/>
          <p:cNvSpPr txBox="1"/>
          <p:nvPr/>
        </p:nvSpPr>
        <p:spPr>
          <a:xfrm>
            <a:off x="1300320" y="439884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な食材のパッキング）を、</a:t>
            </a:r>
            <a:endParaRPr b="0" lang="en-US" sz="1740" spc="-1" strike="noStrike">
              <a:solidFill>
                <a:srgbClr val="000000"/>
              </a:solidFill>
              <a:latin typeface="Times New Roman"/>
            </a:endParaRPr>
          </a:p>
        </p:txBody>
      </p:sp>
      <p:sp>
        <p:nvSpPr>
          <p:cNvPr id="713" name=""/>
          <p:cNvSpPr txBox="1"/>
          <p:nvPr/>
        </p:nvSpPr>
        <p:spPr>
          <a:xfrm>
            <a:off x="3950640" y="4393080"/>
            <a:ext cx="753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NVIDIA</a:t>
            </a:r>
            <a:endParaRPr b="0" lang="en-US" sz="1740" spc="-1" strike="noStrike">
              <a:solidFill>
                <a:srgbClr val="000000"/>
              </a:solidFill>
              <a:latin typeface="Times New Roman"/>
            </a:endParaRPr>
          </a:p>
        </p:txBody>
      </p:sp>
      <p:sp>
        <p:nvSpPr>
          <p:cNvPr id="714" name=""/>
          <p:cNvSpPr txBox="1"/>
          <p:nvPr/>
        </p:nvSpPr>
        <p:spPr>
          <a:xfrm>
            <a:off x="4703040" y="439884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a:t>
            </a:r>
            <a:endParaRPr b="0" lang="en-US" sz="1740" spc="-1" strike="noStrike">
              <a:solidFill>
                <a:srgbClr val="000000"/>
              </a:solidFill>
              <a:latin typeface="Times New Roman"/>
            </a:endParaRPr>
          </a:p>
        </p:txBody>
      </p:sp>
      <p:sp>
        <p:nvSpPr>
          <p:cNvPr id="715" name=""/>
          <p:cNvSpPr txBox="1"/>
          <p:nvPr/>
        </p:nvSpPr>
        <p:spPr>
          <a:xfrm>
            <a:off x="4923720" y="4393080"/>
            <a:ext cx="2206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AI</a:t>
            </a:r>
            <a:endParaRPr b="0" lang="en-US" sz="1740" spc="-1" strike="noStrike">
              <a:solidFill>
                <a:srgbClr val="000000"/>
              </a:solidFill>
              <a:latin typeface="Times New Roman"/>
            </a:endParaRPr>
          </a:p>
        </p:txBody>
      </p:sp>
      <p:sp>
        <p:nvSpPr>
          <p:cNvPr id="716" name=""/>
          <p:cNvSpPr txBox="1"/>
          <p:nvPr/>
        </p:nvSpPr>
        <p:spPr>
          <a:xfrm>
            <a:off x="1300320" y="473220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によって実現。</a:t>
            </a:r>
            <a:endParaRPr b="0" lang="en-US" sz="1740" spc="-1" strike="noStrike">
              <a:solidFill>
                <a:srgbClr val="000000"/>
              </a:solidFill>
              <a:latin typeface="Times New Roman"/>
            </a:endParaRPr>
          </a:p>
        </p:txBody>
      </p:sp>
      <p:sp>
        <p:nvSpPr>
          <p:cNvPr id="717" name=""/>
          <p:cNvSpPr txBox="1"/>
          <p:nvPr/>
        </p:nvSpPr>
        <p:spPr>
          <a:xfrm>
            <a:off x="1300320" y="5065560"/>
            <a:ext cx="663840" cy="289800"/>
          </a:xfrm>
          <a:prstGeom prst="rect">
            <a:avLst/>
          </a:prstGeom>
          <a:noFill/>
          <a:ln w="0">
            <a:noFill/>
          </a:ln>
        </p:spPr>
        <p:txBody>
          <a:bodyPr wrap="none" lIns="0" rIns="0" tIns="0" bIns="0" anchor="t">
            <a:noAutofit/>
          </a:bodyPr>
          <a:p>
            <a:r>
              <a:rPr b="0" lang="zh-CN" sz="1740" spc="-1" strike="noStrike">
                <a:solidFill>
                  <a:srgbClr val="0041c6"/>
                </a:solidFill>
                <a:latin typeface="DroidSansFallback"/>
                <a:ea typeface="DroidSansFallback"/>
              </a:rPr>
              <a:t>ソース</a:t>
            </a:r>
            <a:endParaRPr b="0" lang="en-US" sz="1740" spc="-1" strike="noStrike">
              <a:solidFill>
                <a:srgbClr val="000000"/>
              </a:solidFill>
              <a:latin typeface="Times New Roman"/>
            </a:endParaRPr>
          </a:p>
        </p:txBody>
      </p:sp>
      <p:sp>
        <p:nvSpPr>
          <p:cNvPr id="718" name=""/>
          <p:cNvSpPr txBox="1"/>
          <p:nvPr/>
        </p:nvSpPr>
        <p:spPr>
          <a:xfrm>
            <a:off x="285840" y="207360"/>
            <a:ext cx="54180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a:t>
            </a:r>
            <a:endParaRPr b="0" lang="en-US" sz="1350" spc="-1" strike="noStrike">
              <a:solidFill>
                <a:srgbClr val="000000"/>
              </a:solidFill>
              <a:latin typeface="Times New Roman"/>
            </a:endParaRPr>
          </a:p>
        </p:txBody>
      </p:sp>
      <p:sp>
        <p:nvSpPr>
          <p:cNvPr id="719" name=""/>
          <p:cNvSpPr txBox="1"/>
          <p:nvPr/>
        </p:nvSpPr>
        <p:spPr>
          <a:xfrm>
            <a:off x="285840" y="464400"/>
            <a:ext cx="587592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src="https://cdn.jsdelivr.net/npm/mermaid@latest/dist/mermaid.min.js"&gt;</a:t>
            </a:r>
            <a:endParaRPr b="0" lang="en-US" sz="1350" spc="-1" strike="noStrike">
              <a:solidFill>
                <a:srgbClr val="000000"/>
              </a:solidFill>
              <a:latin typeface="Times New Roman"/>
            </a:endParaRPr>
          </a:p>
        </p:txBody>
      </p:sp>
      <p:sp>
        <p:nvSpPr>
          <p:cNvPr id="720" name=""/>
          <p:cNvSpPr txBox="1"/>
          <p:nvPr/>
        </p:nvSpPr>
        <p:spPr>
          <a:xfrm>
            <a:off x="285840" y="721440"/>
            <a:ext cx="70344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&lt;/script&gt;</a:t>
            </a:r>
            <a:endParaRPr b="0" lang="en-US" sz="1350" spc="-1" strike="noStrike">
              <a:solidFill>
                <a:srgbClr val="000000"/>
              </a:solidFill>
              <a:latin typeface="Times New Roman"/>
            </a:endParaRPr>
          </a:p>
        </p:txBody>
      </p:sp>
      <p:sp>
        <p:nvSpPr>
          <p:cNvPr id="721"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722"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26</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24"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2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26" name=""/>
          <p:cNvSpPr txBox="1"/>
          <p:nvPr/>
        </p:nvSpPr>
        <p:spPr>
          <a:xfrm>
            <a:off x="747720" y="1294560"/>
            <a:ext cx="33912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2. </a:t>
            </a:r>
            <a:endParaRPr b="0" lang="en-US" sz="2390" spc="-1" strike="noStrike">
              <a:solidFill>
                <a:srgbClr val="000000"/>
              </a:solidFill>
              <a:latin typeface="Times New Roman"/>
            </a:endParaRPr>
          </a:p>
        </p:txBody>
      </p:sp>
      <p:sp>
        <p:nvSpPr>
          <p:cNvPr id="727" name=""/>
          <p:cNvSpPr txBox="1"/>
          <p:nvPr/>
        </p:nvSpPr>
        <p:spPr>
          <a:xfrm>
            <a:off x="1085040" y="1302480"/>
            <a:ext cx="1517040" cy="398160"/>
          </a:xfrm>
          <a:prstGeom prst="rect">
            <a:avLst/>
          </a:prstGeom>
          <a:noFill/>
          <a:ln w="0">
            <a:noFill/>
          </a:ln>
        </p:spPr>
        <p:txBody>
          <a:bodyPr wrap="none" lIns="0" rIns="0" tIns="0" bIns="0" anchor="t">
            <a:noAutofit/>
          </a:bodyPr>
          <a:p>
            <a:r>
              <a:rPr b="0" lang="zh-CN" sz="2390" spc="-1" strike="noStrike">
                <a:solidFill>
                  <a:srgbClr val="1f2328"/>
                </a:solidFill>
                <a:latin typeface="DroidSansFallback"/>
                <a:ea typeface="DroidSansFallback"/>
              </a:rPr>
              <a:t>ファナック</a:t>
            </a:r>
            <a:endParaRPr b="0" lang="en-US" sz="2390" spc="-1" strike="noStrike">
              <a:solidFill>
                <a:srgbClr val="000000"/>
              </a:solidFill>
              <a:latin typeface="Times New Roman"/>
            </a:endParaRPr>
          </a:p>
        </p:txBody>
      </p:sp>
      <p:sp>
        <p:nvSpPr>
          <p:cNvPr id="728" name=""/>
          <p:cNvSpPr/>
          <p:nvPr/>
        </p:nvSpPr>
        <p:spPr>
          <a:xfrm>
            <a:off x="1085760" y="1981080"/>
            <a:ext cx="76320" cy="76320"/>
          </a:xfrm>
          <a:custGeom>
            <a:avLst/>
            <a:gdLst/>
            <a:ahLst/>
            <a:rect l="0" t="0" r="r" b="b"/>
            <a:pathLst>
              <a:path w="212" h="212">
                <a:moveTo>
                  <a:pt x="212" y="107"/>
                </a:moveTo>
                <a:cubicBezTo>
                  <a:pt x="212" y="121"/>
                  <a:pt x="210" y="134"/>
                  <a:pt x="204" y="147"/>
                </a:cubicBezTo>
                <a:cubicBezTo>
                  <a:pt x="199" y="160"/>
                  <a:pt x="191" y="172"/>
                  <a:pt x="181" y="182"/>
                </a:cubicBezTo>
                <a:cubicBezTo>
                  <a:pt x="171" y="191"/>
                  <a:pt x="160" y="199"/>
                  <a:pt x="147" y="204"/>
                </a:cubicBezTo>
                <a:cubicBezTo>
                  <a:pt x="134" y="210"/>
                  <a:pt x="121" y="212"/>
                  <a:pt x="107" y="212"/>
                </a:cubicBezTo>
                <a:cubicBezTo>
                  <a:pt x="93" y="212"/>
                  <a:pt x="79" y="210"/>
                  <a:pt x="66" y="204"/>
                </a:cubicBezTo>
                <a:cubicBezTo>
                  <a:pt x="53" y="199"/>
                  <a:pt x="41" y="191"/>
                  <a:pt x="31" y="182"/>
                </a:cubicBezTo>
                <a:cubicBezTo>
                  <a:pt x="21" y="172"/>
                  <a:pt x="13" y="160"/>
                  <a:pt x="8" y="147"/>
                </a:cubicBezTo>
                <a:cubicBezTo>
                  <a:pt x="2" y="134"/>
                  <a:pt x="0" y="121"/>
                  <a:pt x="0" y="107"/>
                </a:cubicBezTo>
                <a:cubicBezTo>
                  <a:pt x="0" y="93"/>
                  <a:pt x="2" y="78"/>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8"/>
                  <a:pt x="212" y="93"/>
                  <a:pt x="212" y="107"/>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29" name=""/>
          <p:cNvSpPr txBox="1"/>
          <p:nvPr/>
        </p:nvSpPr>
        <p:spPr>
          <a:xfrm>
            <a:off x="2603880" y="1294560"/>
            <a:ext cx="1328040" cy="413640"/>
          </a:xfrm>
          <a:prstGeom prst="rect">
            <a:avLst/>
          </a:prstGeom>
          <a:noFill/>
          <a:ln w="0">
            <a:noFill/>
          </a:ln>
        </p:spPr>
        <p:txBody>
          <a:bodyPr wrap="none" lIns="0" rIns="0" tIns="0" bIns="0" anchor="t">
            <a:noAutofit/>
          </a:bodyPr>
          <a:p>
            <a:r>
              <a:rPr b="1" lang="en-US" sz="2390" spc="-1" strike="noStrike">
                <a:solidFill>
                  <a:srgbClr val="1f2328"/>
                </a:solidFill>
                <a:latin typeface="NotoSans-Semi"/>
                <a:ea typeface="NotoSans-Semi"/>
              </a:rPr>
              <a:t> </a:t>
            </a:r>
            <a:r>
              <a:rPr b="1" lang="en-US" sz="2390" spc="-1" strike="noStrike">
                <a:solidFill>
                  <a:srgbClr val="1f2328"/>
                </a:solidFill>
                <a:latin typeface="NotoSans-Semi"/>
                <a:ea typeface="NotoSans-Semi"/>
              </a:rPr>
              <a:t>(FANUC)</a:t>
            </a:r>
            <a:endParaRPr b="0" lang="en-US" sz="2390" spc="-1" strike="noStrike">
              <a:solidFill>
                <a:srgbClr val="000000"/>
              </a:solidFill>
              <a:latin typeface="Times New Roman"/>
            </a:endParaRPr>
          </a:p>
        </p:txBody>
      </p:sp>
      <p:sp>
        <p:nvSpPr>
          <p:cNvPr id="730" name=""/>
          <p:cNvSpPr txBox="1"/>
          <p:nvPr/>
        </p:nvSpPr>
        <p:spPr>
          <a:xfrm>
            <a:off x="1300320" y="1859400"/>
            <a:ext cx="140436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ROBOGUIDE </a:t>
            </a:r>
            <a:endParaRPr b="0" lang="en-US" sz="1740" spc="-1" strike="noStrike">
              <a:solidFill>
                <a:srgbClr val="000000"/>
              </a:solidFill>
              <a:latin typeface="Times New Roman"/>
            </a:endParaRPr>
          </a:p>
        </p:txBody>
      </p:sp>
      <p:sp>
        <p:nvSpPr>
          <p:cNvPr id="731" name=""/>
          <p:cNvSpPr txBox="1"/>
          <p:nvPr/>
        </p:nvSpPr>
        <p:spPr>
          <a:xfrm>
            <a:off x="2688840" y="186516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と</a:t>
            </a:r>
            <a:endParaRPr b="0" lang="en-US" sz="1740" spc="-1" strike="noStrike">
              <a:solidFill>
                <a:srgbClr val="000000"/>
              </a:solidFill>
              <a:latin typeface="Times New Roman"/>
            </a:endParaRPr>
          </a:p>
        </p:txBody>
      </p:sp>
      <p:sp>
        <p:nvSpPr>
          <p:cNvPr id="732" name=""/>
          <p:cNvSpPr txBox="1"/>
          <p:nvPr/>
        </p:nvSpPr>
        <p:spPr>
          <a:xfrm>
            <a:off x="2909520" y="1859400"/>
            <a:ext cx="115452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1" lang="en-US" sz="1740" spc="-1" strike="noStrike">
                <a:solidFill>
                  <a:srgbClr val="1f2328"/>
                </a:solidFill>
                <a:latin typeface="NotoSans-Semi"/>
                <a:ea typeface="NotoSans-Semi"/>
              </a:rPr>
              <a:t>Isaac Sim </a:t>
            </a:r>
            <a:endParaRPr b="0" lang="en-US" sz="1740" spc="-1" strike="noStrike">
              <a:solidFill>
                <a:srgbClr val="000000"/>
              </a:solidFill>
              <a:latin typeface="Times New Roman"/>
            </a:endParaRPr>
          </a:p>
        </p:txBody>
      </p:sp>
      <p:sp>
        <p:nvSpPr>
          <p:cNvPr id="733" name=""/>
          <p:cNvSpPr txBox="1"/>
          <p:nvPr/>
        </p:nvSpPr>
        <p:spPr>
          <a:xfrm>
            <a:off x="4039920" y="186516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の統合</a:t>
            </a:r>
            <a:endParaRPr b="0" lang="en-US" sz="1740" spc="-1" strike="noStrike">
              <a:solidFill>
                <a:srgbClr val="000000"/>
              </a:solidFill>
              <a:latin typeface="Times New Roman"/>
            </a:endParaRPr>
          </a:p>
        </p:txBody>
      </p:sp>
      <p:sp>
        <p:nvSpPr>
          <p:cNvPr id="734" name=""/>
          <p:cNvSpPr txBox="1"/>
          <p:nvPr/>
        </p:nvSpPr>
        <p:spPr>
          <a:xfrm>
            <a:off x="4702680" y="185940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735" name=""/>
          <p:cNvSpPr txBox="1"/>
          <p:nvPr/>
        </p:nvSpPr>
        <p:spPr>
          <a:xfrm>
            <a:off x="4821480" y="186516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高精</a:t>
            </a:r>
            <a:endParaRPr b="0" lang="en-US" sz="1740" spc="-1" strike="noStrike">
              <a:solidFill>
                <a:srgbClr val="000000"/>
              </a:solidFill>
              <a:latin typeface="Times New Roman"/>
            </a:endParaRPr>
          </a:p>
        </p:txBody>
      </p:sp>
      <p:sp>
        <p:nvSpPr>
          <p:cNvPr id="736" name=""/>
          <p:cNvSpPr txBox="1"/>
          <p:nvPr/>
        </p:nvSpPr>
        <p:spPr>
          <a:xfrm>
            <a:off x="1300320" y="218880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度シミュレータ「</a:t>
            </a:r>
            <a:endParaRPr b="0" lang="en-US" sz="1740" spc="-1" strike="noStrike">
              <a:solidFill>
                <a:srgbClr val="000000"/>
              </a:solidFill>
              <a:latin typeface="Times New Roman"/>
            </a:endParaRPr>
          </a:p>
        </p:txBody>
      </p:sp>
      <p:sp>
        <p:nvSpPr>
          <p:cNvPr id="737" name=""/>
          <p:cNvSpPr txBox="1"/>
          <p:nvPr/>
        </p:nvSpPr>
        <p:spPr>
          <a:xfrm>
            <a:off x="3067200" y="2183040"/>
            <a:ext cx="13082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ROBOGUIDE</a:t>
            </a:r>
            <a:endParaRPr b="0" lang="en-US" sz="1740" spc="-1" strike="noStrike">
              <a:solidFill>
                <a:srgbClr val="000000"/>
              </a:solidFill>
              <a:latin typeface="Times New Roman"/>
            </a:endParaRPr>
          </a:p>
        </p:txBody>
      </p:sp>
      <p:sp>
        <p:nvSpPr>
          <p:cNvPr id="738" name=""/>
          <p:cNvSpPr txBox="1"/>
          <p:nvPr/>
        </p:nvSpPr>
        <p:spPr>
          <a:xfrm>
            <a:off x="4374000" y="218880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」を</a:t>
            </a:r>
            <a:endParaRPr b="0" lang="en-US" sz="1740" spc="-1" strike="noStrike">
              <a:solidFill>
                <a:srgbClr val="000000"/>
              </a:solidFill>
              <a:latin typeface="Times New Roman"/>
            </a:endParaRPr>
          </a:p>
        </p:txBody>
      </p:sp>
      <p:sp>
        <p:nvSpPr>
          <p:cNvPr id="739" name=""/>
          <p:cNvSpPr txBox="1"/>
          <p:nvPr/>
        </p:nvSpPr>
        <p:spPr>
          <a:xfrm>
            <a:off x="1300320" y="2516400"/>
            <a:ext cx="10339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Isaac Sim </a:t>
            </a:r>
            <a:endParaRPr b="0" lang="en-US" sz="1740" spc="-1" strike="noStrike">
              <a:solidFill>
                <a:srgbClr val="000000"/>
              </a:solidFill>
              <a:latin typeface="Times New Roman"/>
            </a:endParaRPr>
          </a:p>
        </p:txBody>
      </p:sp>
      <p:sp>
        <p:nvSpPr>
          <p:cNvPr id="740" name=""/>
          <p:cNvSpPr txBox="1"/>
          <p:nvPr/>
        </p:nvSpPr>
        <p:spPr>
          <a:xfrm>
            <a:off x="2334240" y="2522160"/>
            <a:ext cx="2873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と連携させ、写真のレベルで</a:t>
            </a:r>
            <a:endParaRPr b="0" lang="en-US" sz="1740" spc="-1" strike="noStrike">
              <a:solidFill>
                <a:srgbClr val="000000"/>
              </a:solidFill>
              <a:latin typeface="Times New Roman"/>
            </a:endParaRPr>
          </a:p>
        </p:txBody>
      </p:sp>
      <p:sp>
        <p:nvSpPr>
          <p:cNvPr id="741" name=""/>
          <p:cNvSpPr txBox="1"/>
          <p:nvPr/>
        </p:nvSpPr>
        <p:spPr>
          <a:xfrm>
            <a:off x="1300320" y="285552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リアルな仮想工場を構築（</a:t>
            </a:r>
            <a:endParaRPr b="0" lang="en-US" sz="1740" spc="-1" strike="noStrike">
              <a:solidFill>
                <a:srgbClr val="000000"/>
              </a:solidFill>
              <a:latin typeface="Times New Roman"/>
            </a:endParaRPr>
          </a:p>
        </p:txBody>
      </p:sp>
      <p:sp>
        <p:nvSpPr>
          <p:cNvPr id="742" name=""/>
          <p:cNvSpPr txBox="1"/>
          <p:nvPr/>
        </p:nvSpPr>
        <p:spPr>
          <a:xfrm>
            <a:off x="3950640" y="2849760"/>
            <a:ext cx="101412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OpenUSD</a:t>
            </a:r>
            <a:endParaRPr b="0" lang="en-US" sz="1740" spc="-1" strike="noStrike">
              <a:solidFill>
                <a:srgbClr val="000000"/>
              </a:solidFill>
              <a:latin typeface="Times New Roman"/>
            </a:endParaRPr>
          </a:p>
        </p:txBody>
      </p:sp>
      <p:sp>
        <p:nvSpPr>
          <p:cNvPr id="743" name=""/>
          <p:cNvSpPr txBox="1"/>
          <p:nvPr/>
        </p:nvSpPr>
        <p:spPr>
          <a:xfrm>
            <a:off x="4963680" y="285552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形</a:t>
            </a:r>
            <a:endParaRPr b="0" lang="en-US" sz="1740" spc="-1" strike="noStrike">
              <a:solidFill>
                <a:srgbClr val="000000"/>
              </a:solidFill>
              <a:latin typeface="Times New Roman"/>
            </a:endParaRPr>
          </a:p>
        </p:txBody>
      </p:sp>
      <p:sp>
        <p:nvSpPr>
          <p:cNvPr id="744" name=""/>
          <p:cNvSpPr txBox="1"/>
          <p:nvPr/>
        </p:nvSpPr>
        <p:spPr>
          <a:xfrm>
            <a:off x="1300320" y="3188880"/>
            <a:ext cx="6638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式の「</a:t>
            </a:r>
            <a:endParaRPr b="0" lang="en-US" sz="1740" spc="-1" strike="noStrike">
              <a:solidFill>
                <a:srgbClr val="000000"/>
              </a:solidFill>
              <a:latin typeface="Times New Roman"/>
            </a:endParaRPr>
          </a:p>
        </p:txBody>
      </p:sp>
      <p:sp>
        <p:nvSpPr>
          <p:cNvPr id="745" name=""/>
          <p:cNvSpPr txBox="1"/>
          <p:nvPr/>
        </p:nvSpPr>
        <p:spPr>
          <a:xfrm>
            <a:off x="1962720" y="3183120"/>
            <a:ext cx="16178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SimReady asset</a:t>
            </a:r>
            <a:endParaRPr b="0" lang="en-US" sz="1740" spc="-1" strike="noStrike">
              <a:solidFill>
                <a:srgbClr val="000000"/>
              </a:solidFill>
              <a:latin typeface="Times New Roman"/>
            </a:endParaRPr>
          </a:p>
        </p:txBody>
      </p:sp>
      <p:sp>
        <p:nvSpPr>
          <p:cNvPr id="746" name=""/>
          <p:cNvSpPr txBox="1"/>
          <p:nvPr/>
        </p:nvSpPr>
        <p:spPr>
          <a:xfrm>
            <a:off x="3579120" y="318888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」として</a:t>
            </a:r>
            <a:endParaRPr b="0" lang="en-US" sz="1740" spc="-1" strike="noStrike">
              <a:solidFill>
                <a:srgbClr val="000000"/>
              </a:solidFill>
              <a:latin typeface="Times New Roman"/>
            </a:endParaRPr>
          </a:p>
        </p:txBody>
      </p:sp>
      <p:sp>
        <p:nvSpPr>
          <p:cNvPr id="747" name=""/>
          <p:cNvSpPr txBox="1"/>
          <p:nvPr/>
        </p:nvSpPr>
        <p:spPr>
          <a:xfrm>
            <a:off x="4462560" y="3183120"/>
            <a:ext cx="4060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CRX</a:t>
            </a:r>
            <a:endParaRPr b="0" lang="en-US" sz="1740" spc="-1" strike="noStrike">
              <a:solidFill>
                <a:srgbClr val="000000"/>
              </a:solidFill>
              <a:latin typeface="Times New Roman"/>
            </a:endParaRPr>
          </a:p>
        </p:txBody>
      </p:sp>
      <p:sp>
        <p:nvSpPr>
          <p:cNvPr id="748" name=""/>
          <p:cNvSpPr txBox="1"/>
          <p:nvPr/>
        </p:nvSpPr>
        <p:spPr>
          <a:xfrm>
            <a:off x="4869000" y="318888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シリ</a:t>
            </a:r>
            <a:endParaRPr b="0" lang="en-US" sz="1740" spc="-1" strike="noStrike">
              <a:solidFill>
                <a:srgbClr val="000000"/>
              </a:solidFill>
              <a:latin typeface="Times New Roman"/>
            </a:endParaRPr>
          </a:p>
        </p:txBody>
      </p:sp>
      <p:sp>
        <p:nvSpPr>
          <p:cNvPr id="749" name=""/>
          <p:cNvSpPr/>
          <p:nvPr/>
        </p:nvSpPr>
        <p:spPr>
          <a:xfrm>
            <a:off x="1085760" y="4019400"/>
            <a:ext cx="76320" cy="76680"/>
          </a:xfrm>
          <a:custGeom>
            <a:avLst/>
            <a:gdLst/>
            <a:ahLst/>
            <a:rect l="0" t="0" r="r" b="b"/>
            <a:pathLst>
              <a:path w="212" h="213">
                <a:moveTo>
                  <a:pt x="212" y="106"/>
                </a:moveTo>
                <a:cubicBezTo>
                  <a:pt x="212" y="120"/>
                  <a:pt x="210" y="134"/>
                  <a:pt x="204" y="147"/>
                </a:cubicBezTo>
                <a:cubicBezTo>
                  <a:pt x="199" y="160"/>
                  <a:pt x="191" y="172"/>
                  <a:pt x="181" y="182"/>
                </a:cubicBezTo>
                <a:cubicBezTo>
                  <a:pt x="171" y="192"/>
                  <a:pt x="160" y="199"/>
                  <a:pt x="147" y="205"/>
                </a:cubicBezTo>
                <a:cubicBezTo>
                  <a:pt x="134" y="210"/>
                  <a:pt x="121" y="213"/>
                  <a:pt x="107" y="213"/>
                </a:cubicBezTo>
                <a:cubicBezTo>
                  <a:pt x="93" y="213"/>
                  <a:pt x="79" y="210"/>
                  <a:pt x="66" y="205"/>
                </a:cubicBezTo>
                <a:cubicBezTo>
                  <a:pt x="53" y="199"/>
                  <a:pt x="41" y="192"/>
                  <a:pt x="31" y="182"/>
                </a:cubicBezTo>
                <a:cubicBezTo>
                  <a:pt x="21" y="172"/>
                  <a:pt x="13" y="160"/>
                  <a:pt x="8" y="147"/>
                </a:cubicBezTo>
                <a:cubicBezTo>
                  <a:pt x="2" y="134"/>
                  <a:pt x="0" y="120"/>
                  <a:pt x="0" y="106"/>
                </a:cubicBezTo>
                <a:cubicBezTo>
                  <a:pt x="0" y="92"/>
                  <a:pt x="2" y="78"/>
                  <a:pt x="8" y="65"/>
                </a:cubicBezTo>
                <a:cubicBezTo>
                  <a:pt x="13" y="52"/>
                  <a:pt x="21" y="41"/>
                  <a:pt x="31" y="31"/>
                </a:cubicBezTo>
                <a:cubicBezTo>
                  <a:pt x="41" y="21"/>
                  <a:pt x="53" y="13"/>
                  <a:pt x="66" y="8"/>
                </a:cubicBezTo>
                <a:cubicBezTo>
                  <a:pt x="79" y="3"/>
                  <a:pt x="93" y="0"/>
                  <a:pt x="107" y="0"/>
                </a:cubicBezTo>
                <a:cubicBezTo>
                  <a:pt x="121" y="0"/>
                  <a:pt x="134" y="3"/>
                  <a:pt x="147" y="8"/>
                </a:cubicBezTo>
                <a:cubicBezTo>
                  <a:pt x="160" y="13"/>
                  <a:pt x="171" y="21"/>
                  <a:pt x="181" y="31"/>
                </a:cubicBezTo>
                <a:cubicBezTo>
                  <a:pt x="191" y="41"/>
                  <a:pt x="199" y="52"/>
                  <a:pt x="204" y="65"/>
                </a:cubicBezTo>
                <a:cubicBezTo>
                  <a:pt x="210" y="78"/>
                  <a:pt x="212" y="92"/>
                  <a:pt x="212" y="106"/>
                </a:cubicBezTo>
                <a:close/>
              </a:path>
            </a:pathLst>
          </a:custGeom>
          <a:solidFill>
            <a:srgbClr val="1f232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50" name=""/>
          <p:cNvSpPr txBox="1"/>
          <p:nvPr/>
        </p:nvSpPr>
        <p:spPr>
          <a:xfrm>
            <a:off x="1300320" y="3522240"/>
            <a:ext cx="2431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ーズ等を提供）。</a:t>
            </a:r>
            <a:r>
              <a:rPr b="0" lang="zh-CN" sz="1740" spc="-1" strike="noStrike">
                <a:solidFill>
                  <a:srgbClr val="0041c6"/>
                </a:solidFill>
                <a:latin typeface="DroidSansFallback"/>
                <a:ea typeface="DroidSansFallback"/>
              </a:rPr>
              <a:t>ソース</a:t>
            </a:r>
            <a:endParaRPr b="0" lang="en-US" sz="1740" spc="-1" strike="noStrike">
              <a:solidFill>
                <a:srgbClr val="000000"/>
              </a:solidFill>
              <a:latin typeface="Times New Roman"/>
            </a:endParaRPr>
          </a:p>
        </p:txBody>
      </p:sp>
      <p:sp>
        <p:nvSpPr>
          <p:cNvPr id="751" name=""/>
          <p:cNvSpPr txBox="1"/>
          <p:nvPr/>
        </p:nvSpPr>
        <p:spPr>
          <a:xfrm>
            <a:off x="1300320" y="3897720"/>
            <a:ext cx="6850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ROS 2 </a:t>
            </a:r>
            <a:endParaRPr b="0" lang="en-US" sz="1740" spc="-1" strike="noStrike">
              <a:solidFill>
                <a:srgbClr val="000000"/>
              </a:solidFill>
              <a:latin typeface="Times New Roman"/>
            </a:endParaRPr>
          </a:p>
        </p:txBody>
      </p:sp>
      <p:sp>
        <p:nvSpPr>
          <p:cNvPr id="752" name=""/>
          <p:cNvSpPr txBox="1"/>
          <p:nvPr/>
        </p:nvSpPr>
        <p:spPr>
          <a:xfrm>
            <a:off x="1980000" y="390348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によるオープン化</a:t>
            </a:r>
            <a:endParaRPr b="0" lang="en-US" sz="1740" spc="-1" strike="noStrike">
              <a:solidFill>
                <a:srgbClr val="000000"/>
              </a:solidFill>
              <a:latin typeface="Times New Roman"/>
            </a:endParaRPr>
          </a:p>
        </p:txBody>
      </p:sp>
      <p:sp>
        <p:nvSpPr>
          <p:cNvPr id="753" name=""/>
          <p:cNvSpPr txBox="1"/>
          <p:nvPr/>
        </p:nvSpPr>
        <p:spPr>
          <a:xfrm>
            <a:off x="3746880" y="3897720"/>
            <a:ext cx="2206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endParaRPr b="0" lang="en-US" sz="1740" spc="-1" strike="noStrike">
              <a:solidFill>
                <a:srgbClr val="000000"/>
              </a:solidFill>
              <a:latin typeface="Times New Roman"/>
            </a:endParaRPr>
          </a:p>
        </p:txBody>
      </p:sp>
      <p:sp>
        <p:nvSpPr>
          <p:cNvPr id="754" name=""/>
          <p:cNvSpPr txBox="1"/>
          <p:nvPr/>
        </p:nvSpPr>
        <p:spPr>
          <a:xfrm>
            <a:off x="3866040" y="390348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協働ロボット</a:t>
            </a:r>
            <a:endParaRPr b="0" lang="en-US" sz="1740" spc="-1" strike="noStrike">
              <a:solidFill>
                <a:srgbClr val="000000"/>
              </a:solidFill>
              <a:latin typeface="Times New Roman"/>
            </a:endParaRPr>
          </a:p>
        </p:txBody>
      </p:sp>
      <p:sp>
        <p:nvSpPr>
          <p:cNvPr id="755" name=""/>
          <p:cNvSpPr txBox="1"/>
          <p:nvPr/>
        </p:nvSpPr>
        <p:spPr>
          <a:xfrm>
            <a:off x="1300320" y="4236840"/>
            <a:ext cx="2217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a:t>
            </a:r>
            <a:endParaRPr b="0" lang="en-US" sz="1740" spc="-1" strike="noStrike">
              <a:solidFill>
                <a:srgbClr val="000000"/>
              </a:solidFill>
              <a:latin typeface="Times New Roman"/>
            </a:endParaRPr>
          </a:p>
        </p:txBody>
      </p:sp>
      <p:sp>
        <p:nvSpPr>
          <p:cNvPr id="756" name=""/>
          <p:cNvSpPr txBox="1"/>
          <p:nvPr/>
        </p:nvSpPr>
        <p:spPr>
          <a:xfrm>
            <a:off x="1521000" y="4231080"/>
            <a:ext cx="4060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CRX</a:t>
            </a:r>
            <a:endParaRPr b="0" lang="en-US" sz="1740" spc="-1" strike="noStrike">
              <a:solidFill>
                <a:srgbClr val="000000"/>
              </a:solidFill>
              <a:latin typeface="Times New Roman"/>
            </a:endParaRPr>
          </a:p>
        </p:txBody>
      </p:sp>
      <p:sp>
        <p:nvSpPr>
          <p:cNvPr id="757" name=""/>
          <p:cNvSpPr txBox="1"/>
          <p:nvPr/>
        </p:nvSpPr>
        <p:spPr>
          <a:xfrm>
            <a:off x="1927440" y="423684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等）向けの</a:t>
            </a:r>
            <a:endParaRPr b="0" lang="en-US" sz="1740" spc="-1" strike="noStrike">
              <a:solidFill>
                <a:srgbClr val="000000"/>
              </a:solidFill>
              <a:latin typeface="Times New Roman"/>
            </a:endParaRPr>
          </a:p>
        </p:txBody>
      </p:sp>
      <p:sp>
        <p:nvSpPr>
          <p:cNvPr id="758" name=""/>
          <p:cNvSpPr txBox="1"/>
          <p:nvPr/>
        </p:nvSpPr>
        <p:spPr>
          <a:xfrm>
            <a:off x="3031560" y="4231080"/>
            <a:ext cx="7293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ROS 2 </a:t>
            </a:r>
            <a:endParaRPr b="0" lang="en-US" sz="1740" spc="-1" strike="noStrike">
              <a:solidFill>
                <a:srgbClr val="000000"/>
              </a:solidFill>
              <a:latin typeface="Times New Roman"/>
            </a:endParaRPr>
          </a:p>
        </p:txBody>
      </p:sp>
      <p:sp>
        <p:nvSpPr>
          <p:cNvPr id="759" name=""/>
          <p:cNvSpPr txBox="1"/>
          <p:nvPr/>
        </p:nvSpPr>
        <p:spPr>
          <a:xfrm>
            <a:off x="3761280" y="423684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ドライバを公開</a:t>
            </a:r>
            <a:endParaRPr b="0" lang="en-US" sz="1740" spc="-1" strike="noStrike">
              <a:solidFill>
                <a:srgbClr val="000000"/>
              </a:solidFill>
              <a:latin typeface="Times New Roman"/>
            </a:endParaRPr>
          </a:p>
        </p:txBody>
      </p:sp>
      <p:sp>
        <p:nvSpPr>
          <p:cNvPr id="760" name=""/>
          <p:cNvSpPr txBox="1"/>
          <p:nvPr/>
        </p:nvSpPr>
        <p:spPr>
          <a:xfrm>
            <a:off x="1300320" y="457020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し、開発者が</a:t>
            </a:r>
            <a:endParaRPr b="0" lang="en-US" sz="1740" spc="-1" strike="noStrike">
              <a:solidFill>
                <a:srgbClr val="000000"/>
              </a:solidFill>
              <a:latin typeface="Times New Roman"/>
            </a:endParaRPr>
          </a:p>
        </p:txBody>
      </p:sp>
      <p:sp>
        <p:nvSpPr>
          <p:cNvPr id="761" name=""/>
          <p:cNvSpPr txBox="1"/>
          <p:nvPr/>
        </p:nvSpPr>
        <p:spPr>
          <a:xfrm>
            <a:off x="2625480" y="4564440"/>
            <a:ext cx="14594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NVIDIA Isaac </a:t>
            </a:r>
            <a:endParaRPr b="0" lang="en-US" sz="1740" spc="-1" strike="noStrike">
              <a:solidFill>
                <a:srgbClr val="000000"/>
              </a:solidFill>
              <a:latin typeface="Times New Roman"/>
            </a:endParaRPr>
          </a:p>
        </p:txBody>
      </p:sp>
      <p:sp>
        <p:nvSpPr>
          <p:cNvPr id="762" name=""/>
          <p:cNvSpPr txBox="1"/>
          <p:nvPr/>
        </p:nvSpPr>
        <p:spPr>
          <a:xfrm>
            <a:off x="4084560" y="4570200"/>
            <a:ext cx="11055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の最先端ラ</a:t>
            </a:r>
            <a:endParaRPr b="0" lang="en-US" sz="1740" spc="-1" strike="noStrike">
              <a:solidFill>
                <a:srgbClr val="000000"/>
              </a:solidFill>
              <a:latin typeface="Times New Roman"/>
            </a:endParaRPr>
          </a:p>
        </p:txBody>
      </p:sp>
      <p:sp>
        <p:nvSpPr>
          <p:cNvPr id="763" name=""/>
          <p:cNvSpPr txBox="1"/>
          <p:nvPr/>
        </p:nvSpPr>
        <p:spPr>
          <a:xfrm>
            <a:off x="1300320" y="4903560"/>
            <a:ext cx="37573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イブラリを直接活用しやすい環境を整</a:t>
            </a:r>
            <a:endParaRPr b="0" lang="en-US" sz="1740" spc="-1" strike="noStrike">
              <a:solidFill>
                <a:srgbClr val="000000"/>
              </a:solidFill>
              <a:latin typeface="Times New Roman"/>
            </a:endParaRPr>
          </a:p>
        </p:txBody>
      </p:sp>
      <p:sp>
        <p:nvSpPr>
          <p:cNvPr id="764" name=""/>
          <p:cNvSpPr txBox="1"/>
          <p:nvPr/>
        </p:nvSpPr>
        <p:spPr>
          <a:xfrm>
            <a:off x="1300320" y="522720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備。</a:t>
            </a:r>
            <a:endParaRPr b="0" lang="en-US" sz="1740" spc="-1" strike="noStrike">
              <a:solidFill>
                <a:srgbClr val="000000"/>
              </a:solidFill>
              <a:latin typeface="Times New Roman"/>
            </a:endParaRPr>
          </a:p>
        </p:txBody>
      </p:sp>
      <p:sp>
        <p:nvSpPr>
          <p:cNvPr id="765" name=""/>
          <p:cNvSpPr txBox="1"/>
          <p:nvPr/>
        </p:nvSpPr>
        <p:spPr>
          <a:xfrm>
            <a:off x="285840" y="207360"/>
            <a:ext cx="54180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a:t>
            </a:r>
            <a:endParaRPr b="0" lang="en-US" sz="1350" spc="-1" strike="noStrike">
              <a:solidFill>
                <a:srgbClr val="000000"/>
              </a:solidFill>
              <a:latin typeface="Times New Roman"/>
            </a:endParaRPr>
          </a:p>
        </p:txBody>
      </p:sp>
      <p:sp>
        <p:nvSpPr>
          <p:cNvPr id="766" name=""/>
          <p:cNvSpPr txBox="1"/>
          <p:nvPr/>
        </p:nvSpPr>
        <p:spPr>
          <a:xfrm>
            <a:off x="285840" y="464400"/>
            <a:ext cx="587592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src="https://cdn.jsdelivr.net/npm/mermaid@latest/dist/mermaid.min.js"&gt;</a:t>
            </a:r>
            <a:endParaRPr b="0" lang="en-US" sz="1350" spc="-1" strike="noStrike">
              <a:solidFill>
                <a:srgbClr val="000000"/>
              </a:solidFill>
              <a:latin typeface="Times New Roman"/>
            </a:endParaRPr>
          </a:p>
        </p:txBody>
      </p:sp>
      <p:sp>
        <p:nvSpPr>
          <p:cNvPr id="767" name=""/>
          <p:cNvSpPr txBox="1"/>
          <p:nvPr/>
        </p:nvSpPr>
        <p:spPr>
          <a:xfrm>
            <a:off x="285840" y="721440"/>
            <a:ext cx="70344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&lt;/script&gt;</a:t>
            </a:r>
            <a:endParaRPr b="0" lang="en-US" sz="1350" spc="-1" strike="noStrike">
              <a:solidFill>
                <a:srgbClr val="000000"/>
              </a:solidFill>
              <a:latin typeface="Times New Roman"/>
            </a:endParaRPr>
          </a:p>
        </p:txBody>
      </p:sp>
      <p:sp>
        <p:nvSpPr>
          <p:cNvPr id="768"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769"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27</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71"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7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73" name=""/>
          <p:cNvSpPr txBox="1"/>
          <p:nvPr/>
        </p:nvSpPr>
        <p:spPr>
          <a:xfrm>
            <a:off x="747720" y="1606680"/>
            <a:ext cx="107964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まとめ</a:t>
            </a:r>
            <a:endParaRPr b="0" lang="en-US" sz="2830" spc="-1" strike="noStrike">
              <a:solidFill>
                <a:srgbClr val="000000"/>
              </a:solidFill>
              <a:latin typeface="Times New Roman"/>
            </a:endParaRPr>
          </a:p>
        </p:txBody>
      </p:sp>
      <p:sp>
        <p:nvSpPr>
          <p:cNvPr id="774" name=""/>
          <p:cNvSpPr txBox="1"/>
          <p:nvPr/>
        </p:nvSpPr>
        <p:spPr>
          <a:xfrm>
            <a:off x="1824480" y="1597320"/>
            <a:ext cx="35856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endParaRPr b="0" lang="en-US" sz="2830" spc="-1" strike="noStrike">
              <a:solidFill>
                <a:srgbClr val="000000"/>
              </a:solidFill>
              <a:latin typeface="Times New Roman"/>
            </a:endParaRPr>
          </a:p>
        </p:txBody>
      </p:sp>
      <p:sp>
        <p:nvSpPr>
          <p:cNvPr id="775" name=""/>
          <p:cNvSpPr txBox="1"/>
          <p:nvPr/>
        </p:nvSpPr>
        <p:spPr>
          <a:xfrm>
            <a:off x="2018160" y="1606680"/>
            <a:ext cx="287820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実機制御における</a:t>
            </a:r>
            <a:endParaRPr b="0" lang="en-US" sz="2830" spc="-1" strike="noStrike">
              <a:solidFill>
                <a:srgbClr val="000000"/>
              </a:solidFill>
              <a:latin typeface="Times New Roman"/>
            </a:endParaRPr>
          </a:p>
        </p:txBody>
      </p:sp>
      <p:sp>
        <p:nvSpPr>
          <p:cNvPr id="776" name=""/>
          <p:cNvSpPr txBox="1"/>
          <p:nvPr/>
        </p:nvSpPr>
        <p:spPr>
          <a:xfrm>
            <a:off x="4889880" y="1597320"/>
            <a:ext cx="150624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r>
              <a:rPr b="1" lang="en-US" sz="2830" spc="-1" strike="noStrike">
                <a:solidFill>
                  <a:srgbClr val="1f2328"/>
                </a:solidFill>
                <a:latin typeface="NotoSans-Semi"/>
                <a:ea typeface="NotoSans-Semi"/>
              </a:rPr>
              <a:t>NVIDIA </a:t>
            </a:r>
            <a:endParaRPr b="0" lang="en-US" sz="2830" spc="-1" strike="noStrike">
              <a:solidFill>
                <a:srgbClr val="000000"/>
              </a:solidFill>
              <a:latin typeface="Times New Roman"/>
            </a:endParaRPr>
          </a:p>
        </p:txBody>
      </p:sp>
      <p:sp>
        <p:nvSpPr>
          <p:cNvPr id="777" name=""/>
          <p:cNvSpPr txBox="1"/>
          <p:nvPr/>
        </p:nvSpPr>
        <p:spPr>
          <a:xfrm>
            <a:off x="6358320" y="1606680"/>
            <a:ext cx="107964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の役割</a:t>
            </a:r>
            <a:endParaRPr b="0" lang="en-US" sz="2830" spc="-1" strike="noStrike">
              <a:solidFill>
                <a:srgbClr val="000000"/>
              </a:solidFill>
              <a:latin typeface="Times New Roman"/>
            </a:endParaRPr>
          </a:p>
        </p:txBody>
      </p:sp>
      <p:sp>
        <p:nvSpPr>
          <p:cNvPr id="778" name=""/>
          <p:cNvSpPr txBox="1"/>
          <p:nvPr/>
        </p:nvSpPr>
        <p:spPr>
          <a:xfrm>
            <a:off x="747720" y="234144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従来</a:t>
            </a:r>
            <a:endParaRPr b="0" lang="en-US" sz="1740" spc="-1" strike="noStrike">
              <a:solidFill>
                <a:srgbClr val="000000"/>
              </a:solidFill>
              <a:latin typeface="Times New Roman"/>
            </a:endParaRPr>
          </a:p>
        </p:txBody>
      </p:sp>
      <p:sp>
        <p:nvSpPr>
          <p:cNvPr id="779" name=""/>
          <p:cNvSpPr txBox="1"/>
          <p:nvPr/>
        </p:nvSpPr>
        <p:spPr>
          <a:xfrm>
            <a:off x="1189440" y="2335680"/>
            <a:ext cx="5493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CPU </a:t>
            </a:r>
            <a:endParaRPr b="0" lang="en-US" sz="1740" spc="-1" strike="noStrike">
              <a:solidFill>
                <a:srgbClr val="000000"/>
              </a:solidFill>
              <a:latin typeface="Times New Roman"/>
            </a:endParaRPr>
          </a:p>
        </p:txBody>
      </p:sp>
      <p:sp>
        <p:nvSpPr>
          <p:cNvPr id="780" name=""/>
          <p:cNvSpPr txBox="1"/>
          <p:nvPr/>
        </p:nvSpPr>
        <p:spPr>
          <a:xfrm>
            <a:off x="1738800" y="2341440"/>
            <a:ext cx="37573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では処理しきれなかった高度な計算を</a:t>
            </a:r>
            <a:endParaRPr b="0" lang="en-US" sz="1740" spc="-1" strike="noStrike">
              <a:solidFill>
                <a:srgbClr val="000000"/>
              </a:solidFill>
              <a:latin typeface="Times New Roman"/>
            </a:endParaRPr>
          </a:p>
        </p:txBody>
      </p:sp>
      <p:sp>
        <p:nvSpPr>
          <p:cNvPr id="781" name=""/>
          <p:cNvSpPr txBox="1"/>
          <p:nvPr/>
        </p:nvSpPr>
        <p:spPr>
          <a:xfrm>
            <a:off x="5493600" y="2335680"/>
            <a:ext cx="5691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GPU </a:t>
            </a:r>
            <a:endParaRPr b="0" lang="en-US" sz="1740" spc="-1" strike="noStrike">
              <a:solidFill>
                <a:srgbClr val="000000"/>
              </a:solidFill>
              <a:latin typeface="Times New Roman"/>
            </a:endParaRPr>
          </a:p>
        </p:txBody>
      </p:sp>
      <p:sp>
        <p:nvSpPr>
          <p:cNvPr id="782" name=""/>
          <p:cNvSpPr txBox="1"/>
          <p:nvPr/>
        </p:nvSpPr>
        <p:spPr>
          <a:xfrm>
            <a:off x="6064200" y="234144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でリアルタイム化</a:t>
            </a:r>
            <a:endParaRPr b="0" lang="en-US" sz="1740" spc="-1" strike="noStrike">
              <a:solidFill>
                <a:srgbClr val="000000"/>
              </a:solidFill>
              <a:latin typeface="Times New Roman"/>
            </a:endParaRPr>
          </a:p>
        </p:txBody>
      </p:sp>
      <p:sp>
        <p:nvSpPr>
          <p:cNvPr id="783" name=""/>
          <p:cNvSpPr txBox="1"/>
          <p:nvPr/>
        </p:nvSpPr>
        <p:spPr>
          <a:xfrm>
            <a:off x="1056960" y="2821320"/>
            <a:ext cx="243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1. </a:t>
            </a:r>
            <a:endParaRPr b="0" lang="en-US" sz="1740" spc="-1" strike="noStrike">
              <a:solidFill>
                <a:srgbClr val="000000"/>
              </a:solidFill>
              <a:latin typeface="Times New Roman"/>
            </a:endParaRPr>
          </a:p>
        </p:txBody>
      </p:sp>
      <p:sp>
        <p:nvSpPr>
          <p:cNvPr id="784" name=""/>
          <p:cNvSpPr txBox="1"/>
          <p:nvPr/>
        </p:nvSpPr>
        <p:spPr>
          <a:xfrm>
            <a:off x="1300320" y="282708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認識・判断の高速化</a:t>
            </a:r>
            <a:endParaRPr b="0" lang="en-US" sz="1740" spc="-1" strike="noStrike">
              <a:solidFill>
                <a:srgbClr val="000000"/>
              </a:solidFill>
              <a:latin typeface="Times New Roman"/>
            </a:endParaRPr>
          </a:p>
        </p:txBody>
      </p:sp>
      <p:sp>
        <p:nvSpPr>
          <p:cNvPr id="785" name=""/>
          <p:cNvSpPr/>
          <p:nvPr/>
        </p:nvSpPr>
        <p:spPr>
          <a:xfrm>
            <a:off x="1523880" y="3276360"/>
            <a:ext cx="76320" cy="76680"/>
          </a:xfrm>
          <a:custGeom>
            <a:avLst/>
            <a:gdLst/>
            <a:ahLst/>
            <a:rect l="0" t="0" r="r" b="b"/>
            <a:pathLst>
              <a:path w="212" h="213">
                <a:moveTo>
                  <a:pt x="212" y="107"/>
                </a:moveTo>
                <a:cubicBezTo>
                  <a:pt x="212" y="121"/>
                  <a:pt x="210" y="135"/>
                  <a:pt x="204" y="148"/>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8"/>
                </a:cubicBezTo>
                <a:cubicBezTo>
                  <a:pt x="3" y="135"/>
                  <a:pt x="0" y="121"/>
                  <a:pt x="0" y="107"/>
                </a:cubicBezTo>
                <a:cubicBezTo>
                  <a:pt x="0" y="93"/>
                  <a:pt x="3" y="79"/>
                  <a:pt x="8" y="65"/>
                </a:cubicBezTo>
                <a:cubicBezTo>
                  <a:pt x="13" y="53"/>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3"/>
                  <a:pt x="204" y="65"/>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786" name=""/>
          <p:cNvSpPr txBox="1"/>
          <p:nvPr/>
        </p:nvSpPr>
        <p:spPr>
          <a:xfrm>
            <a:off x="3287880" y="2821320"/>
            <a:ext cx="22748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1" lang="en-US" sz="1740" spc="-1" strike="noStrike">
                <a:solidFill>
                  <a:srgbClr val="1f2328"/>
                </a:solidFill>
                <a:latin typeface="NotoSans-Semi"/>
                <a:ea typeface="NotoSans-Semi"/>
              </a:rPr>
              <a:t>(CUDA Acceleration)</a:t>
            </a:r>
            <a:endParaRPr b="0" lang="en-US" sz="1740" spc="-1" strike="noStrike">
              <a:solidFill>
                <a:srgbClr val="000000"/>
              </a:solidFill>
              <a:latin typeface="Times New Roman"/>
            </a:endParaRPr>
          </a:p>
        </p:txBody>
      </p:sp>
      <p:sp>
        <p:nvSpPr>
          <p:cNvPr id="787" name=""/>
          <p:cNvSpPr txBox="1"/>
          <p:nvPr/>
        </p:nvSpPr>
        <p:spPr>
          <a:xfrm>
            <a:off x="1742040" y="3154680"/>
            <a:ext cx="2872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3D</a:t>
            </a:r>
            <a:endParaRPr b="0" lang="en-US" sz="1740" spc="-1" strike="noStrike">
              <a:solidFill>
                <a:srgbClr val="000000"/>
              </a:solidFill>
              <a:latin typeface="Times New Roman"/>
            </a:endParaRPr>
          </a:p>
        </p:txBody>
      </p:sp>
      <p:sp>
        <p:nvSpPr>
          <p:cNvPr id="788" name=""/>
          <p:cNvSpPr txBox="1"/>
          <p:nvPr/>
        </p:nvSpPr>
        <p:spPr>
          <a:xfrm>
            <a:off x="2029680" y="316044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再構成や軌道生成を</a:t>
            </a:r>
            <a:endParaRPr b="0" lang="en-US" sz="1740" spc="-1" strike="noStrike">
              <a:solidFill>
                <a:srgbClr val="000000"/>
              </a:solidFill>
              <a:latin typeface="Times New Roman"/>
            </a:endParaRPr>
          </a:p>
        </p:txBody>
      </p:sp>
      <p:sp>
        <p:nvSpPr>
          <p:cNvPr id="789" name=""/>
          <p:cNvSpPr txBox="1"/>
          <p:nvPr/>
        </p:nvSpPr>
        <p:spPr>
          <a:xfrm>
            <a:off x="4017240" y="3154680"/>
            <a:ext cx="5691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GPU </a:t>
            </a:r>
            <a:endParaRPr b="0" lang="en-US" sz="1740" spc="-1" strike="noStrike">
              <a:solidFill>
                <a:srgbClr val="000000"/>
              </a:solidFill>
              <a:latin typeface="Times New Roman"/>
            </a:endParaRPr>
          </a:p>
        </p:txBody>
      </p:sp>
      <p:sp>
        <p:nvSpPr>
          <p:cNvPr id="790" name=""/>
          <p:cNvSpPr txBox="1"/>
          <p:nvPr/>
        </p:nvSpPr>
        <p:spPr>
          <a:xfrm>
            <a:off x="4588200" y="3160440"/>
            <a:ext cx="19897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で並列処理し、数百</a:t>
            </a:r>
            <a:endParaRPr b="0" lang="en-US" sz="1740" spc="-1" strike="noStrike">
              <a:solidFill>
                <a:srgbClr val="000000"/>
              </a:solidFill>
              <a:latin typeface="Times New Roman"/>
            </a:endParaRPr>
          </a:p>
        </p:txBody>
      </p:sp>
      <p:sp>
        <p:nvSpPr>
          <p:cNvPr id="791" name=""/>
          <p:cNvSpPr txBox="1"/>
          <p:nvPr/>
        </p:nvSpPr>
        <p:spPr>
          <a:xfrm>
            <a:off x="6575760" y="3154680"/>
            <a:ext cx="26748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Hz</a:t>
            </a:r>
            <a:endParaRPr b="0" lang="en-US" sz="1740" spc="-1" strike="noStrike">
              <a:solidFill>
                <a:srgbClr val="000000"/>
              </a:solidFill>
              <a:latin typeface="Times New Roman"/>
            </a:endParaRPr>
          </a:p>
        </p:txBody>
      </p:sp>
      <p:sp>
        <p:nvSpPr>
          <p:cNvPr id="792" name=""/>
          <p:cNvSpPr txBox="1"/>
          <p:nvPr/>
        </p:nvSpPr>
        <p:spPr>
          <a:xfrm>
            <a:off x="6843240" y="3160440"/>
            <a:ext cx="22104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の制御ループを実現。</a:t>
            </a:r>
            <a:endParaRPr b="0" lang="en-US" sz="1740" spc="-1" strike="noStrike">
              <a:solidFill>
                <a:srgbClr val="000000"/>
              </a:solidFill>
              <a:latin typeface="Times New Roman"/>
            </a:endParaRPr>
          </a:p>
        </p:txBody>
      </p:sp>
      <p:sp>
        <p:nvSpPr>
          <p:cNvPr id="793" name=""/>
          <p:cNvSpPr txBox="1"/>
          <p:nvPr/>
        </p:nvSpPr>
        <p:spPr>
          <a:xfrm>
            <a:off x="1056960" y="3535560"/>
            <a:ext cx="243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2. </a:t>
            </a:r>
            <a:endParaRPr b="0" lang="en-US" sz="1740" spc="-1" strike="noStrike">
              <a:solidFill>
                <a:srgbClr val="000000"/>
              </a:solidFill>
              <a:latin typeface="Times New Roman"/>
            </a:endParaRPr>
          </a:p>
        </p:txBody>
      </p:sp>
      <p:sp>
        <p:nvSpPr>
          <p:cNvPr id="794" name=""/>
          <p:cNvSpPr txBox="1"/>
          <p:nvPr/>
        </p:nvSpPr>
        <p:spPr>
          <a:xfrm>
            <a:off x="1300320" y="3541320"/>
            <a:ext cx="4428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最新</a:t>
            </a:r>
            <a:endParaRPr b="0" lang="en-US" sz="1740" spc="-1" strike="noStrike">
              <a:solidFill>
                <a:srgbClr val="000000"/>
              </a:solidFill>
              <a:latin typeface="Times New Roman"/>
            </a:endParaRPr>
          </a:p>
        </p:txBody>
      </p:sp>
      <p:sp>
        <p:nvSpPr>
          <p:cNvPr id="795" name=""/>
          <p:cNvSpPr txBox="1"/>
          <p:nvPr/>
        </p:nvSpPr>
        <p:spPr>
          <a:xfrm>
            <a:off x="1742040" y="3535560"/>
            <a:ext cx="35280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1" lang="en-US" sz="1740" spc="-1" strike="noStrike">
                <a:solidFill>
                  <a:srgbClr val="1f2328"/>
                </a:solidFill>
                <a:latin typeface="NotoSans-Semi"/>
                <a:ea typeface="NotoSans-Semi"/>
              </a:rPr>
              <a:t>AI </a:t>
            </a:r>
            <a:endParaRPr b="0" lang="en-US" sz="1740" spc="-1" strike="noStrike">
              <a:solidFill>
                <a:srgbClr val="000000"/>
              </a:solidFill>
              <a:latin typeface="Times New Roman"/>
            </a:endParaRPr>
          </a:p>
        </p:txBody>
      </p:sp>
      <p:sp>
        <p:nvSpPr>
          <p:cNvPr id="796" name=""/>
          <p:cNvSpPr txBox="1"/>
          <p:nvPr/>
        </p:nvSpPr>
        <p:spPr>
          <a:xfrm>
            <a:off x="2086560" y="3541320"/>
            <a:ext cx="132660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モデルの実装</a:t>
            </a:r>
            <a:endParaRPr b="0" lang="en-US" sz="1740" spc="-1" strike="noStrike">
              <a:solidFill>
                <a:srgbClr val="000000"/>
              </a:solidFill>
              <a:latin typeface="Times New Roman"/>
            </a:endParaRPr>
          </a:p>
        </p:txBody>
      </p:sp>
      <p:sp>
        <p:nvSpPr>
          <p:cNvPr id="797" name=""/>
          <p:cNvSpPr/>
          <p:nvPr/>
        </p:nvSpPr>
        <p:spPr>
          <a:xfrm>
            <a:off x="1523880" y="3990960"/>
            <a:ext cx="76320" cy="76320"/>
          </a:xfrm>
          <a:custGeom>
            <a:avLst/>
            <a:gdLst/>
            <a:ahLst/>
            <a:rect l="0" t="0" r="r" b="b"/>
            <a:pathLst>
              <a:path w="212" h="212">
                <a:moveTo>
                  <a:pt x="212" y="105"/>
                </a:moveTo>
                <a:cubicBezTo>
                  <a:pt x="212" y="119"/>
                  <a:pt x="210" y="133"/>
                  <a:pt x="204" y="146"/>
                </a:cubicBezTo>
                <a:cubicBezTo>
                  <a:pt x="199" y="159"/>
                  <a:pt x="191" y="170"/>
                  <a:pt x="182" y="180"/>
                </a:cubicBezTo>
                <a:cubicBezTo>
                  <a:pt x="172" y="190"/>
                  <a:pt x="160" y="198"/>
                  <a:pt x="147" y="204"/>
                </a:cubicBezTo>
                <a:cubicBezTo>
                  <a:pt x="134" y="210"/>
                  <a:pt x="121" y="212"/>
                  <a:pt x="107" y="212"/>
                </a:cubicBezTo>
                <a:cubicBezTo>
                  <a:pt x="92" y="212"/>
                  <a:pt x="78" y="210"/>
                  <a:pt x="65" y="204"/>
                </a:cubicBezTo>
                <a:cubicBezTo>
                  <a:pt x="52" y="198"/>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0"/>
                  <a:pt x="199" y="52"/>
                  <a:pt x="204" y="65"/>
                </a:cubicBezTo>
                <a:cubicBezTo>
                  <a:pt x="210" y="78"/>
                  <a:pt x="212" y="91"/>
                  <a:pt x="212" y="105"/>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798" name=""/>
          <p:cNvSpPr txBox="1"/>
          <p:nvPr/>
        </p:nvSpPr>
        <p:spPr>
          <a:xfrm>
            <a:off x="3411720" y="3535560"/>
            <a:ext cx="232344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1" lang="en-US" sz="1740" spc="-1" strike="noStrike">
                <a:solidFill>
                  <a:srgbClr val="1f2328"/>
                </a:solidFill>
                <a:latin typeface="NotoSans-Semi"/>
                <a:ea typeface="NotoSans-Semi"/>
              </a:rPr>
              <a:t>(Foundation Models)</a:t>
            </a:r>
            <a:endParaRPr b="0" lang="en-US" sz="1740" spc="-1" strike="noStrike">
              <a:solidFill>
                <a:srgbClr val="000000"/>
              </a:solidFill>
              <a:latin typeface="Times New Roman"/>
            </a:endParaRPr>
          </a:p>
        </p:txBody>
      </p:sp>
      <p:sp>
        <p:nvSpPr>
          <p:cNvPr id="799" name=""/>
          <p:cNvSpPr txBox="1"/>
          <p:nvPr/>
        </p:nvSpPr>
        <p:spPr>
          <a:xfrm>
            <a:off x="1742040" y="3874680"/>
            <a:ext cx="37573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論文レベルの最新手法を最適化済みの</a:t>
            </a:r>
            <a:endParaRPr b="0" lang="en-US" sz="1740" spc="-1" strike="noStrike">
              <a:solidFill>
                <a:srgbClr val="000000"/>
              </a:solidFill>
              <a:latin typeface="Times New Roman"/>
            </a:endParaRPr>
          </a:p>
        </p:txBody>
      </p:sp>
      <p:sp>
        <p:nvSpPr>
          <p:cNvPr id="800" name=""/>
          <p:cNvSpPr txBox="1"/>
          <p:nvPr/>
        </p:nvSpPr>
        <p:spPr>
          <a:xfrm>
            <a:off x="5496840" y="3868920"/>
            <a:ext cx="72936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ROS 2 </a:t>
            </a:r>
            <a:endParaRPr b="0" lang="en-US" sz="1740" spc="-1" strike="noStrike">
              <a:solidFill>
                <a:srgbClr val="000000"/>
              </a:solidFill>
              <a:latin typeface="Times New Roman"/>
            </a:endParaRPr>
          </a:p>
        </p:txBody>
      </p:sp>
      <p:sp>
        <p:nvSpPr>
          <p:cNvPr id="801" name=""/>
          <p:cNvSpPr txBox="1"/>
          <p:nvPr/>
        </p:nvSpPr>
        <p:spPr>
          <a:xfrm>
            <a:off x="6226560" y="3874680"/>
            <a:ext cx="26524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ノードとして即座に提供。</a:t>
            </a:r>
            <a:endParaRPr b="0" lang="en-US" sz="1740" spc="-1" strike="noStrike">
              <a:solidFill>
                <a:srgbClr val="000000"/>
              </a:solidFill>
              <a:latin typeface="Times New Roman"/>
            </a:endParaRPr>
          </a:p>
        </p:txBody>
      </p:sp>
      <p:sp>
        <p:nvSpPr>
          <p:cNvPr id="802" name=""/>
          <p:cNvSpPr txBox="1"/>
          <p:nvPr/>
        </p:nvSpPr>
        <p:spPr>
          <a:xfrm>
            <a:off x="1056960" y="4259520"/>
            <a:ext cx="24300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3. </a:t>
            </a:r>
            <a:endParaRPr b="0" lang="en-US" sz="1740" spc="-1" strike="noStrike">
              <a:solidFill>
                <a:srgbClr val="000000"/>
              </a:solidFill>
              <a:latin typeface="Times New Roman"/>
            </a:endParaRPr>
          </a:p>
        </p:txBody>
      </p:sp>
      <p:sp>
        <p:nvSpPr>
          <p:cNvPr id="803" name=""/>
          <p:cNvSpPr txBox="1"/>
          <p:nvPr/>
        </p:nvSpPr>
        <p:spPr>
          <a:xfrm>
            <a:off x="1300320" y="4265280"/>
            <a:ext cx="176868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標準規格への準拠</a:t>
            </a:r>
            <a:endParaRPr b="0" lang="en-US" sz="1740" spc="-1" strike="noStrike">
              <a:solidFill>
                <a:srgbClr val="000000"/>
              </a:solidFill>
              <a:latin typeface="Times New Roman"/>
            </a:endParaRPr>
          </a:p>
        </p:txBody>
      </p:sp>
      <p:sp>
        <p:nvSpPr>
          <p:cNvPr id="804" name=""/>
          <p:cNvSpPr/>
          <p:nvPr/>
        </p:nvSpPr>
        <p:spPr>
          <a:xfrm>
            <a:off x="1523880" y="4714560"/>
            <a:ext cx="76320" cy="76680"/>
          </a:xfrm>
          <a:custGeom>
            <a:avLst/>
            <a:gdLst/>
            <a:ahLst/>
            <a:rect l="0" t="0" r="r" b="b"/>
            <a:pathLst>
              <a:path w="212" h="213">
                <a:moveTo>
                  <a:pt x="212" y="107"/>
                </a:moveTo>
                <a:cubicBezTo>
                  <a:pt x="212" y="121"/>
                  <a:pt x="210" y="135"/>
                  <a:pt x="204" y="148"/>
                </a:cubicBezTo>
                <a:cubicBezTo>
                  <a:pt x="199" y="161"/>
                  <a:pt x="191" y="172"/>
                  <a:pt x="182" y="182"/>
                </a:cubicBezTo>
                <a:cubicBezTo>
                  <a:pt x="172" y="192"/>
                  <a:pt x="160" y="200"/>
                  <a:pt x="147" y="205"/>
                </a:cubicBezTo>
                <a:cubicBezTo>
                  <a:pt x="134" y="210"/>
                  <a:pt x="121" y="213"/>
                  <a:pt x="107"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79"/>
                  <a:pt x="8" y="66"/>
                </a:cubicBezTo>
                <a:cubicBezTo>
                  <a:pt x="13" y="53"/>
                  <a:pt x="21" y="41"/>
                  <a:pt x="31" y="31"/>
                </a:cubicBezTo>
                <a:cubicBezTo>
                  <a:pt x="41" y="21"/>
                  <a:pt x="52" y="14"/>
                  <a:pt x="65" y="8"/>
                </a:cubicBezTo>
                <a:cubicBezTo>
                  <a:pt x="78" y="3"/>
                  <a:pt x="92" y="0"/>
                  <a:pt x="107" y="0"/>
                </a:cubicBezTo>
                <a:cubicBezTo>
                  <a:pt x="121" y="0"/>
                  <a:pt x="134" y="3"/>
                  <a:pt x="147" y="8"/>
                </a:cubicBezTo>
                <a:cubicBezTo>
                  <a:pt x="160" y="14"/>
                  <a:pt x="172" y="21"/>
                  <a:pt x="182" y="31"/>
                </a:cubicBezTo>
                <a:cubicBezTo>
                  <a:pt x="191" y="41"/>
                  <a:pt x="199" y="53"/>
                  <a:pt x="204" y="66"/>
                </a:cubicBezTo>
                <a:cubicBezTo>
                  <a:pt x="210" y="79"/>
                  <a:pt x="212" y="93"/>
                  <a:pt x="212" y="107"/>
                </a:cubicBezTo>
                <a:close/>
              </a:path>
            </a:pathLst>
          </a:custGeom>
          <a:noFill/>
          <a:ln w="9360">
            <a:solidFill>
              <a:srgbClr val="1f2328"/>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805" name=""/>
          <p:cNvSpPr txBox="1"/>
          <p:nvPr/>
        </p:nvSpPr>
        <p:spPr>
          <a:xfrm>
            <a:off x="3067200" y="4259520"/>
            <a:ext cx="2006280" cy="300600"/>
          </a:xfrm>
          <a:prstGeom prst="rect">
            <a:avLst/>
          </a:prstGeom>
          <a:noFill/>
          <a:ln w="0">
            <a:noFill/>
          </a:ln>
        </p:spPr>
        <p:txBody>
          <a:bodyPr wrap="none" lIns="0" rIns="0" tIns="0" bIns="0" anchor="t">
            <a:noAutofit/>
          </a:bodyPr>
          <a:p>
            <a:r>
              <a:rPr b="1" lang="en-US" sz="1740" spc="-1" strike="noStrike">
                <a:solidFill>
                  <a:srgbClr val="1f2328"/>
                </a:solidFill>
                <a:latin typeface="NotoSans-Semi"/>
                <a:ea typeface="NotoSans-Semi"/>
              </a:rPr>
              <a:t> </a:t>
            </a:r>
            <a:r>
              <a:rPr b="1" lang="en-US" sz="1740" spc="-1" strike="noStrike">
                <a:solidFill>
                  <a:srgbClr val="1f2328"/>
                </a:solidFill>
                <a:latin typeface="NotoSans-Semi"/>
                <a:ea typeface="NotoSans-Semi"/>
              </a:rPr>
              <a:t>(ROS 2 / MoveIt 2)</a:t>
            </a:r>
            <a:endParaRPr b="0" lang="en-US" sz="1740" spc="-1" strike="noStrike">
              <a:solidFill>
                <a:srgbClr val="000000"/>
              </a:solidFill>
              <a:latin typeface="Times New Roman"/>
            </a:endParaRPr>
          </a:p>
        </p:txBody>
      </p:sp>
      <p:sp>
        <p:nvSpPr>
          <p:cNvPr id="806" name=""/>
          <p:cNvSpPr txBox="1"/>
          <p:nvPr/>
        </p:nvSpPr>
        <p:spPr>
          <a:xfrm>
            <a:off x="1742040" y="4598640"/>
            <a:ext cx="685116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既存のロボットアーム資産を活かしつつ、「脳」の部分だけを最新の</a:t>
            </a:r>
            <a:endParaRPr b="0" lang="en-US" sz="1740" spc="-1" strike="noStrike">
              <a:solidFill>
                <a:srgbClr val="000000"/>
              </a:solidFill>
              <a:latin typeface="Times New Roman"/>
            </a:endParaRPr>
          </a:p>
        </p:txBody>
      </p:sp>
      <p:sp>
        <p:nvSpPr>
          <p:cNvPr id="807" name=""/>
          <p:cNvSpPr txBox="1"/>
          <p:nvPr/>
        </p:nvSpPr>
        <p:spPr>
          <a:xfrm>
            <a:off x="8588880" y="4592880"/>
            <a:ext cx="1140840" cy="300600"/>
          </a:xfrm>
          <a:prstGeom prst="rect">
            <a:avLst/>
          </a:prstGeom>
          <a:noFill/>
          <a:ln w="0">
            <a:noFill/>
          </a:ln>
        </p:spPr>
        <p:txBody>
          <a:bodyPr wrap="none" lIns="0" rIns="0" tIns="0" bIns="0" anchor="t">
            <a:noAutofit/>
          </a:bodyPr>
          <a:p>
            <a:r>
              <a:rPr b="0" lang="en-US" sz="1740" spc="-1" strike="noStrike">
                <a:solidFill>
                  <a:srgbClr val="1f2328"/>
                </a:solidFill>
                <a:latin typeface="NotoSans"/>
                <a:ea typeface="NotoSans"/>
              </a:rPr>
              <a:t> </a:t>
            </a:r>
            <a:r>
              <a:rPr b="0" lang="en-US" sz="1740" spc="-1" strike="noStrike">
                <a:solidFill>
                  <a:srgbClr val="1f2328"/>
                </a:solidFill>
                <a:latin typeface="NotoSans"/>
                <a:ea typeface="NotoSans"/>
              </a:rPr>
              <a:t>NVIDIA AI </a:t>
            </a:r>
            <a:endParaRPr b="0" lang="en-US" sz="1740" spc="-1" strike="noStrike">
              <a:solidFill>
                <a:srgbClr val="000000"/>
              </a:solidFill>
              <a:latin typeface="Times New Roman"/>
            </a:endParaRPr>
          </a:p>
        </p:txBody>
      </p:sp>
      <p:sp>
        <p:nvSpPr>
          <p:cNvPr id="808" name=""/>
          <p:cNvSpPr txBox="1"/>
          <p:nvPr/>
        </p:nvSpPr>
        <p:spPr>
          <a:xfrm>
            <a:off x="9729360" y="4598640"/>
            <a:ext cx="154764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にアップグレー</a:t>
            </a:r>
            <a:endParaRPr b="0" lang="en-US" sz="1740" spc="-1" strike="noStrike">
              <a:solidFill>
                <a:srgbClr val="000000"/>
              </a:solidFill>
              <a:latin typeface="Times New Roman"/>
            </a:endParaRPr>
          </a:p>
        </p:txBody>
      </p:sp>
      <p:sp>
        <p:nvSpPr>
          <p:cNvPr id="809" name=""/>
          <p:cNvSpPr txBox="1"/>
          <p:nvPr/>
        </p:nvSpPr>
        <p:spPr>
          <a:xfrm>
            <a:off x="1742040" y="4922640"/>
            <a:ext cx="884520" cy="289800"/>
          </a:xfrm>
          <a:prstGeom prst="rect">
            <a:avLst/>
          </a:prstGeom>
          <a:noFill/>
          <a:ln w="0">
            <a:noFill/>
          </a:ln>
        </p:spPr>
        <p:txBody>
          <a:bodyPr wrap="none" lIns="0" rIns="0" tIns="0" bIns="0" anchor="t">
            <a:noAutofit/>
          </a:bodyPr>
          <a:p>
            <a:r>
              <a:rPr b="0" lang="zh-CN" sz="1740" spc="-1" strike="noStrike">
                <a:solidFill>
                  <a:srgbClr val="1f2328"/>
                </a:solidFill>
                <a:latin typeface="DroidSansFallback"/>
                <a:ea typeface="DroidSansFallback"/>
              </a:rPr>
              <a:t>ド可能。</a:t>
            </a:r>
            <a:endParaRPr b="0" lang="en-US" sz="1740" spc="-1" strike="noStrike">
              <a:solidFill>
                <a:srgbClr val="000000"/>
              </a:solidFill>
              <a:latin typeface="Times New Roman"/>
            </a:endParaRPr>
          </a:p>
        </p:txBody>
      </p:sp>
      <p:sp>
        <p:nvSpPr>
          <p:cNvPr id="810"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811"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812"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28</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14"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16" name=""/>
          <p:cNvSpPr txBox="1"/>
          <p:nvPr/>
        </p:nvSpPr>
        <p:spPr>
          <a:xfrm>
            <a:off x="747720" y="3140280"/>
            <a:ext cx="36036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第</a:t>
            </a:r>
            <a:endParaRPr b="0" lang="en-US" sz="2830" spc="-1" strike="noStrike">
              <a:solidFill>
                <a:srgbClr val="000000"/>
              </a:solidFill>
              <a:latin typeface="Times New Roman"/>
            </a:endParaRPr>
          </a:p>
        </p:txBody>
      </p:sp>
      <p:sp>
        <p:nvSpPr>
          <p:cNvPr id="817" name=""/>
          <p:cNvSpPr txBox="1"/>
          <p:nvPr/>
        </p:nvSpPr>
        <p:spPr>
          <a:xfrm>
            <a:off x="1106640" y="3130920"/>
            <a:ext cx="35856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5</a:t>
            </a:r>
            <a:endParaRPr b="0" lang="en-US" sz="2830" spc="-1" strike="noStrike">
              <a:solidFill>
                <a:srgbClr val="000000"/>
              </a:solidFill>
              <a:latin typeface="Times New Roman"/>
            </a:endParaRPr>
          </a:p>
        </p:txBody>
      </p:sp>
      <p:sp>
        <p:nvSpPr>
          <p:cNvPr id="818" name=""/>
          <p:cNvSpPr txBox="1"/>
          <p:nvPr/>
        </p:nvSpPr>
        <p:spPr>
          <a:xfrm>
            <a:off x="1311840" y="3140280"/>
            <a:ext cx="36036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章</a:t>
            </a:r>
            <a:endParaRPr b="0" lang="en-US" sz="2830" spc="-1" strike="noStrike">
              <a:solidFill>
                <a:srgbClr val="000000"/>
              </a:solidFill>
              <a:latin typeface="Times New Roman"/>
            </a:endParaRPr>
          </a:p>
        </p:txBody>
      </p:sp>
      <p:sp>
        <p:nvSpPr>
          <p:cNvPr id="819" name=""/>
          <p:cNvSpPr txBox="1"/>
          <p:nvPr/>
        </p:nvSpPr>
        <p:spPr>
          <a:xfrm>
            <a:off x="1671120" y="3130920"/>
            <a:ext cx="358560" cy="489600"/>
          </a:xfrm>
          <a:prstGeom prst="rect">
            <a:avLst/>
          </a:prstGeom>
          <a:noFill/>
          <a:ln w="0">
            <a:noFill/>
          </a:ln>
        </p:spPr>
        <p:txBody>
          <a:bodyPr wrap="none" lIns="0" rIns="0" tIns="0" bIns="0" anchor="t">
            <a:noAutofit/>
          </a:bodyPr>
          <a:p>
            <a:r>
              <a:rPr b="1" lang="en-US" sz="2830" spc="-1" strike="noStrike">
                <a:solidFill>
                  <a:srgbClr val="1f2328"/>
                </a:solidFill>
                <a:latin typeface="NotoSans-Semi"/>
                <a:ea typeface="NotoSans-Semi"/>
              </a:rPr>
              <a:t>: </a:t>
            </a:r>
            <a:endParaRPr b="0" lang="en-US" sz="2830" spc="-1" strike="noStrike">
              <a:solidFill>
                <a:srgbClr val="000000"/>
              </a:solidFill>
              <a:latin typeface="Times New Roman"/>
            </a:endParaRPr>
          </a:p>
        </p:txBody>
      </p:sp>
      <p:sp>
        <p:nvSpPr>
          <p:cNvPr id="820" name=""/>
          <p:cNvSpPr txBox="1"/>
          <p:nvPr/>
        </p:nvSpPr>
        <p:spPr>
          <a:xfrm>
            <a:off x="1864440" y="3140280"/>
            <a:ext cx="2158560" cy="471240"/>
          </a:xfrm>
          <a:prstGeom prst="rect">
            <a:avLst/>
          </a:prstGeom>
          <a:noFill/>
          <a:ln w="0">
            <a:noFill/>
          </a:ln>
        </p:spPr>
        <p:txBody>
          <a:bodyPr wrap="none" lIns="0" rIns="0" tIns="0" bIns="0" anchor="t">
            <a:noAutofit/>
          </a:bodyPr>
          <a:p>
            <a:r>
              <a:rPr b="0" lang="zh-CN" sz="2830" spc="-1" strike="noStrike">
                <a:solidFill>
                  <a:srgbClr val="1f2328"/>
                </a:solidFill>
                <a:latin typeface="DroidSansFallback"/>
                <a:ea typeface="DroidSansFallback"/>
              </a:rPr>
              <a:t>実装上の問題</a:t>
            </a:r>
            <a:endParaRPr b="0" lang="en-US" sz="2830" spc="-1" strike="noStrike">
              <a:solidFill>
                <a:srgbClr val="000000"/>
              </a:solidFill>
              <a:latin typeface="Times New Roman"/>
            </a:endParaRPr>
          </a:p>
        </p:txBody>
      </p:sp>
      <p:sp>
        <p:nvSpPr>
          <p:cNvPr id="821" name=""/>
          <p:cNvSpPr txBox="1"/>
          <p:nvPr/>
        </p:nvSpPr>
        <p:spPr>
          <a:xfrm>
            <a:off x="285840" y="207360"/>
            <a:ext cx="716508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&lt;script src="https://cdn.jsdelivr.net/npm/mermaid@latest/dist/mermaid.min.js"&gt;&lt;/script&gt;</a:t>
            </a:r>
            <a:endParaRPr b="0" lang="en-US" sz="1350" spc="-1" strike="noStrike">
              <a:solidFill>
                <a:srgbClr val="000000"/>
              </a:solidFill>
              <a:latin typeface="Times New Roman"/>
            </a:endParaRPr>
          </a:p>
        </p:txBody>
      </p:sp>
      <p:sp>
        <p:nvSpPr>
          <p:cNvPr id="822" name=""/>
          <p:cNvSpPr txBox="1"/>
          <p:nvPr/>
        </p:nvSpPr>
        <p:spPr>
          <a:xfrm>
            <a:off x="285840" y="6408000"/>
            <a:ext cx="5191560" cy="233640"/>
          </a:xfrm>
          <a:prstGeom prst="rect">
            <a:avLst/>
          </a:prstGeom>
          <a:noFill/>
          <a:ln w="0">
            <a:noFill/>
          </a:ln>
        </p:spPr>
        <p:txBody>
          <a:bodyPr wrap="none" lIns="0" rIns="0" tIns="0" bIns="0" anchor="t">
            <a:noAutofit/>
          </a:bodyPr>
          <a:p>
            <a:r>
              <a:rPr b="0" lang="en-US" sz="1350" spc="-1" strike="noStrike">
                <a:solidFill>
                  <a:srgbClr val="666666"/>
                </a:solidFill>
                <a:latin typeface="NotoSans"/>
                <a:ea typeface="NotoSans"/>
              </a:rPr>
              <a:t>NACHI-FUJIKOSHI CORP. / Robot Division / AI Development Dept.</a:t>
            </a:r>
            <a:endParaRPr b="0" lang="en-US" sz="1350" spc="-1" strike="noStrike">
              <a:solidFill>
                <a:srgbClr val="000000"/>
              </a:solidFill>
              <a:latin typeface="Times New Roman"/>
            </a:endParaRPr>
          </a:p>
        </p:txBody>
      </p:sp>
      <p:sp>
        <p:nvSpPr>
          <p:cNvPr id="823" name=""/>
          <p:cNvSpPr txBox="1"/>
          <p:nvPr/>
        </p:nvSpPr>
        <p:spPr>
          <a:xfrm>
            <a:off x="11644560" y="6327720"/>
            <a:ext cx="261360" cy="311400"/>
          </a:xfrm>
          <a:prstGeom prst="rect">
            <a:avLst/>
          </a:prstGeom>
          <a:noFill/>
          <a:ln w="0">
            <a:noFill/>
          </a:ln>
        </p:spPr>
        <p:txBody>
          <a:bodyPr wrap="none" lIns="0" rIns="0" tIns="0" bIns="0" anchor="t">
            <a:noAutofit/>
          </a:bodyPr>
          <a:p>
            <a:r>
              <a:rPr b="0" lang="en-US" sz="1800" spc="-1" strike="noStrike">
                <a:solidFill>
                  <a:srgbClr val="777777"/>
                </a:solidFill>
                <a:latin typeface="NotoSans"/>
                <a:ea typeface="NotoSans"/>
              </a:rPr>
              <a:t>29</a:t>
            </a:r>
            <a:endParaRPr b="0" lang="en-US"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